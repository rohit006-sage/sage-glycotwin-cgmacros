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789920" cy="27432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1100" b="1">
                <a:solidFill>
                  <a:srgbClr val="16745B"/>
                </a:solidFill>
                <a:latin typeface="Aptos"/>
              </a:defRPr>
            </a:pPr>
            <a:r>
              <a:t>RESEARCH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15568"/>
            <a:ext cx="10515600" cy="77724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3000" b="1">
                <a:solidFill>
                  <a:srgbClr val="0A3B2C"/>
                </a:solidFill>
                <a:latin typeface="Aptos"/>
              </a:defRPr>
            </a:pPr>
            <a:r>
              <a:t>GlycoTwin | CGMacros</a:t>
            </a:r>
            <a:br/>
            <a:r>
              <a:t>forecast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57984"/>
            <a:ext cx="9966960" cy="475488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1500" b="0">
                <a:solidFill>
                  <a:srgbClr val="61776E"/>
                </a:solidFill>
                <a:latin typeface="Aptos"/>
              </a:defRPr>
            </a:pPr>
            <a:r>
              <a:t>How static clinical context and multimodal wearable streams become a participant-held-out two-hour glucose forecast.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063240"/>
            <a:ext cx="3246120" cy="1965960"/>
          </a:xfrm>
          <a:prstGeom prst="roundRect">
            <a:avLst/>
          </a:prstGeom>
          <a:solidFill>
            <a:srgbClr val="EAF3EE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3063240"/>
            <a:ext cx="54864" cy="196596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163824"/>
            <a:ext cx="2990087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300" b="1">
                <a:solidFill>
                  <a:srgbClr val="0A3B2C"/>
                </a:solidFill>
                <a:latin typeface="Aptos"/>
              </a:defRPr>
            </a:pPr>
            <a:r>
              <a:t>ALIGN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02152"/>
            <a:ext cx="2990087" cy="144475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19" b="0">
                <a:solidFill>
                  <a:srgbClr val="19342B"/>
                </a:solidFill>
                <a:latin typeface="Aptos"/>
              </a:defRPr>
            </a:pPr>
            <a:r>
              <a:t>Join baseline context to each replay timestamp and derive only information available up to 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06324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3063240"/>
            <a:ext cx="54864" cy="196596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3163824"/>
            <a:ext cx="2990087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300" b="1">
                <a:solidFill>
                  <a:srgbClr val="0A3B2C"/>
                </a:solidFill>
                <a:latin typeface="Aptos"/>
              </a:defRPr>
            </a:pPr>
            <a:r>
              <a:t>FUSE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3502152"/>
            <a:ext cx="2990087" cy="144475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19" b="0">
                <a:solidFill>
                  <a:srgbClr val="19342B"/>
                </a:solidFill>
                <a:latin typeface="Aptos"/>
              </a:defRPr>
            </a:pPr>
            <a:r>
              <a:t>Combine 41 dynamic rolling/time-series features with 12 baseline clinical features (53 total).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3063240"/>
            <a:ext cx="3246120" cy="1965960"/>
          </a:xfrm>
          <a:prstGeom prst="roundRect">
            <a:avLst/>
          </a:prstGeom>
          <a:solidFill>
            <a:srgbClr val="FFF5E5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18704" y="3063240"/>
            <a:ext cx="54864" cy="1965960"/>
          </a:xfrm>
          <a:prstGeom prst="rect">
            <a:avLst/>
          </a:prstGeom>
          <a:solidFill>
            <a:srgbClr val="D2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163824"/>
            <a:ext cx="2990087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300" b="1">
                <a:solidFill>
                  <a:srgbClr val="0A3B2C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502152"/>
            <a:ext cx="2990087" cy="144475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19" b="0">
                <a:solidFill>
                  <a:srgbClr val="19342B"/>
                </a:solidFill>
                <a:latin typeface="Aptos"/>
              </a:defRPr>
            </a:pPr>
            <a:r>
              <a:t>Estimate P(Libre glucose at t+120 min ≥ 180 mg/dL), then expose research outputs for review and evaluation.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70448"/>
            <a:ext cx="10515600" cy="256032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900" b="0">
                <a:solidFill>
                  <a:srgbClr val="61776E"/>
                </a:solidFill>
                <a:latin typeface="Aptos"/>
              </a:defRPr>
            </a:pPr>
            <a:r>
              <a:t>Source: docs/architecture.mmd and docs/build_architecture_pdf.py  •  Source cohort: PhysioNet CGMacros v1.0.0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850" b="0">
                <a:solidFill>
                  <a:srgbClr val="61776E"/>
                </a:solidFill>
                <a:latin typeface="Aptos"/>
              </a:defRPr>
            </a:pPr>
            <a:r>
              <a:t>CGMacros retrospective PoC  •  not for clinical use  •  no diagnosis, treatment, triage, or live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1000" b="1">
                <a:solidFill>
                  <a:srgbClr val="16745B"/>
                </a:solidFill>
                <a:latin typeface="Aptos"/>
              </a:defRPr>
            </a:pPr>
            <a:r>
              <a:t>CGMACROS  /  RESEARCH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2600" b="1">
                <a:solidFill>
                  <a:srgbClr val="0A3B2C"/>
                </a:solidFill>
                <a:latin typeface="Aptos"/>
              </a:defRPr>
            </a:pPr>
            <a:r>
              <a:t>Architecture: from multimodal data to a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22860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1050" b="0">
                <a:solidFill>
                  <a:srgbClr val="61776E"/>
                </a:solidFill>
                <a:latin typeface="Aptos"/>
              </a:defRPr>
            </a:pPr>
            <a:r>
              <a:t>Retrospective research PoC  •  45 participants  •  time-indexed two-hour glucose event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1975104" cy="640080"/>
          </a:xfrm>
          <a:prstGeom prst="roundRect">
            <a:avLst/>
          </a:prstGeom>
          <a:solidFill>
            <a:srgbClr val="EAF3EE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864" cy="6400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673352"/>
            <a:ext cx="1719072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50" b="1">
                <a:solidFill>
                  <a:srgbClr val="0A3B2C"/>
                </a:solidFill>
                <a:latin typeface="Aptos"/>
              </a:defRPr>
            </a:pPr>
            <a:r>
              <a:t>Baseline clinical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011680"/>
            <a:ext cx="1719072" cy="11887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30" b="0">
                <a:solidFill>
                  <a:srgbClr val="19342B"/>
                </a:solidFill>
                <a:latin typeface="Aptos"/>
              </a:defRPr>
            </a:pPr>
            <a:r>
              <a:t>bio.csv: age, gender, BMI, HbA1c, fasting labs, lipids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67712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67712"/>
            <a:ext cx="54864" cy="6400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368296"/>
            <a:ext cx="1719072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50" b="1">
                <a:solidFill>
                  <a:srgbClr val="0A3B2C"/>
                </a:solidFill>
                <a:latin typeface="Aptos"/>
              </a:defRPr>
            </a:pPr>
            <a:r>
              <a:t>Libre CGM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06624"/>
            <a:ext cx="1719072" cy="11887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30" b="0">
                <a:solidFill>
                  <a:srgbClr val="19342B"/>
                </a:solidFill>
                <a:latin typeface="Aptos"/>
              </a:defRPr>
            </a:pPr>
            <a:r>
              <a:t>Dynamic glucose readings on a 15-minute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62656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62656"/>
            <a:ext cx="54864" cy="6400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3063240"/>
            <a:ext cx="1719072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50" b="1">
                <a:solidFill>
                  <a:srgbClr val="0A3B2C"/>
                </a:solidFill>
                <a:latin typeface="Aptos"/>
              </a:defRPr>
            </a:pPr>
            <a:r>
              <a:t>Heart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401568"/>
            <a:ext cx="1719072" cy="11887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30" b="0">
                <a:solidFill>
                  <a:srgbClr val="19342B"/>
                </a:solidFill>
                <a:latin typeface="Aptos"/>
              </a:defRPr>
            </a:pPr>
            <a:r>
              <a:t>Timestamped wearable heart-rate 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4864" cy="6400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758184"/>
            <a:ext cx="1719072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50" b="1">
                <a:solidFill>
                  <a:srgbClr val="0A3B2C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4096512"/>
            <a:ext cx="1719072" cy="11887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30" b="0">
                <a:solidFill>
                  <a:srgbClr val="19342B"/>
                </a:solidFill>
                <a:latin typeface="Aptos"/>
              </a:defRPr>
            </a:pPr>
            <a:r>
              <a:t>Activity level and activity calories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52544"/>
            <a:ext cx="1975104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52544"/>
            <a:ext cx="54864" cy="6400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453128"/>
            <a:ext cx="1719072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050" b="1">
                <a:solidFill>
                  <a:srgbClr val="0A3B2C"/>
                </a:solidFill>
                <a:latin typeface="Aptos"/>
              </a:defRPr>
            </a:pPr>
            <a:r>
              <a:t>Meals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4791456"/>
            <a:ext cx="1719072" cy="118872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30" b="0">
                <a:solidFill>
                  <a:srgbClr val="19342B"/>
                </a:solidFill>
                <a:latin typeface="Aptos"/>
              </a:defRPr>
            </a:pPr>
            <a:r>
              <a:t>Meal events, carbs, calories, and macros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2404872"/>
            <a:ext cx="2057400" cy="1554480"/>
          </a:xfrm>
          <a:prstGeom prst="roundRect">
            <a:avLst/>
          </a:prstGeom>
          <a:solidFill>
            <a:srgbClr val="EAF3EE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2404872"/>
            <a:ext cx="54864" cy="15544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0944" y="2505456"/>
            <a:ext cx="180136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200" b="1">
                <a:solidFill>
                  <a:srgbClr val="0A3B2C"/>
                </a:solidFill>
                <a:latin typeface="Aptos"/>
              </a:defRPr>
            </a:pPr>
            <a:r>
              <a:t>Align and build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0944" y="2843784"/>
            <a:ext cx="1801368" cy="1033271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910" b="0">
                <a:solidFill>
                  <a:srgbClr val="19342B"/>
                </a:solidFill>
                <a:latin typeface="Aptos"/>
              </a:defRPr>
            </a:pPr>
            <a:r>
              <a:t>Join by participant and timestamp. Build rolling glucose, heart-rate, activity, meal, lag, and time-of-day features from data available up to 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21808" y="2404872"/>
            <a:ext cx="169164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21808" y="2404872"/>
            <a:ext cx="54864" cy="15544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8112" y="2505456"/>
            <a:ext cx="143560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200" b="1">
                <a:solidFill>
                  <a:srgbClr val="0A3B2C"/>
                </a:solidFill>
                <a:latin typeface="Aptos"/>
              </a:defRPr>
            </a:pPr>
            <a:r>
              <a:t>Fuse predictors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8112" y="2843784"/>
            <a:ext cx="1435608" cy="1033271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910" b="0">
                <a:solidFill>
                  <a:srgbClr val="19342B"/>
                </a:solidFill>
                <a:latin typeface="Aptos"/>
              </a:defRPr>
            </a:pPr>
            <a:r>
              <a:t>41 dynamic + 12 baseline features (53 total). Median imputation with missingness indicators.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24927" y="2404872"/>
            <a:ext cx="1627632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24927" y="2404872"/>
            <a:ext cx="54864" cy="1554480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1231" y="2505456"/>
            <a:ext cx="1371600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200" b="1">
                <a:solidFill>
                  <a:srgbClr val="0A3B2C"/>
                </a:solidFill>
                <a:latin typeface="Aptos"/>
              </a:defRPr>
            </a:pPr>
            <a:r>
              <a:t>Forecast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2843784"/>
            <a:ext cx="1371600" cy="1033271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910" b="0">
                <a:solidFill>
                  <a:srgbClr val="19342B"/>
                </a:solidFill>
                <a:latin typeface="Aptos"/>
              </a:defRPr>
            </a:pPr>
            <a:r>
              <a:t>HistGradientBoostingClassifier. Participant-grouped cross-validation.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404872"/>
            <a:ext cx="2212848" cy="1554480"/>
          </a:xfrm>
          <a:prstGeom prst="roundRect">
            <a:avLst/>
          </a:prstGeom>
          <a:solidFill>
            <a:srgbClr val="FFF5E5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64040" y="2404872"/>
            <a:ext cx="54864" cy="1554480"/>
          </a:xfrm>
          <a:prstGeom prst="rect">
            <a:avLst/>
          </a:prstGeom>
          <a:solidFill>
            <a:srgbClr val="D2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0344" y="2505456"/>
            <a:ext cx="1956815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200" b="1">
                <a:solidFill>
                  <a:srgbClr val="0A3B2C"/>
                </a:solidFill>
                <a:latin typeface="Aptos"/>
              </a:defRPr>
            </a:pPr>
            <a:r>
              <a:t>2-hour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10344" y="2843784"/>
            <a:ext cx="1956815" cy="1033271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910" b="0">
                <a:solidFill>
                  <a:srgbClr val="19342B"/>
                </a:solidFill>
                <a:latin typeface="Aptos"/>
              </a:defRPr>
            </a:pPr>
            <a:r>
              <a:t>Estimated probability that Libre glucose at t+120 min is ≥180 mg/dL.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78024" y="1892807"/>
            <a:ext cx="356616" cy="1289305"/>
          </a:xfrm>
          <a:prstGeom prst="line">
            <a:avLst/>
          </a:prstGeom>
          <a:ln w="1397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78024" y="2587752"/>
            <a:ext cx="356616" cy="594360"/>
          </a:xfrm>
          <a:prstGeom prst="line">
            <a:avLst/>
          </a:prstGeom>
          <a:ln w="1397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478024" y="3182112"/>
            <a:ext cx="356616" cy="100584"/>
          </a:xfrm>
          <a:prstGeom prst="line">
            <a:avLst/>
          </a:prstGeom>
          <a:ln w="1397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024" y="3182112"/>
            <a:ext cx="356616" cy="795527"/>
          </a:xfrm>
          <a:prstGeom prst="line">
            <a:avLst/>
          </a:prstGeom>
          <a:ln w="1397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78024" y="3182112"/>
            <a:ext cx="356616" cy="1490471"/>
          </a:xfrm>
          <a:prstGeom prst="line">
            <a:avLst/>
          </a:prstGeom>
          <a:ln w="1397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92040" y="3182112"/>
            <a:ext cx="429768" cy="0"/>
          </a:xfrm>
          <a:prstGeom prst="line">
            <a:avLst/>
          </a:prstGeom>
          <a:ln w="1778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13448" y="3182112"/>
            <a:ext cx="411479" cy="0"/>
          </a:xfrm>
          <a:prstGeom prst="line">
            <a:avLst/>
          </a:prstGeom>
          <a:ln w="1778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52559" y="3182112"/>
            <a:ext cx="411481" cy="0"/>
          </a:xfrm>
          <a:prstGeom prst="line">
            <a:avLst/>
          </a:prstGeom>
          <a:ln w="1778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evron 48"/>
          <p:cNvSpPr/>
          <p:nvPr/>
        </p:nvSpPr>
        <p:spPr>
          <a:xfrm>
            <a:off x="2578608" y="3035808"/>
            <a:ext cx="164592" cy="292608"/>
          </a:xfrm>
          <a:prstGeom prst="chevron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>
            <a:off x="5074920" y="3035808"/>
            <a:ext cx="164592" cy="292608"/>
          </a:xfrm>
          <a:prstGeom prst="chevron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7178040" y="3035808"/>
            <a:ext cx="164592" cy="292608"/>
          </a:xfrm>
          <a:prstGeom prst="chevron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9217152" y="3035808"/>
            <a:ext cx="164592" cy="292608"/>
          </a:xfrm>
          <a:prstGeom prst="chevron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834640" y="4800600"/>
            <a:ext cx="2057400" cy="841248"/>
          </a:xfrm>
          <a:prstGeom prst="roundRect">
            <a:avLst/>
          </a:prstGeom>
          <a:solidFill>
            <a:srgbClr val="EAF3EE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34640" y="4800600"/>
            <a:ext cx="54864" cy="841248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80944" y="4901184"/>
            <a:ext cx="180136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100" b="1">
                <a:solidFill>
                  <a:srgbClr val="0A3B2C"/>
                </a:solidFill>
                <a:latin typeface="Aptos"/>
              </a:defRPr>
            </a:pPr>
            <a:r>
              <a:t>Concept doctor 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0944" y="5239512"/>
            <a:ext cx="1801368" cy="320040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50" b="0">
                <a:solidFill>
                  <a:srgbClr val="19342B"/>
                </a:solidFill>
                <a:latin typeface="Aptos"/>
              </a:defRPr>
            </a:pPr>
            <a:r>
              <a:t>Risk-sorted worklist, patient trace, baseline profile, research warning.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21808" y="4800600"/>
            <a:ext cx="16916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21808" y="4800600"/>
            <a:ext cx="54864" cy="841248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8112" y="4901184"/>
            <a:ext cx="143560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100" b="1">
                <a:solidFill>
                  <a:srgbClr val="0A3B2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8112" y="5239512"/>
            <a:ext cx="1435608" cy="320040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50" b="0">
                <a:solidFill>
                  <a:srgbClr val="19342B"/>
                </a:solidFill>
                <a:latin typeface="Aptos"/>
              </a:defRPr>
            </a:pPr>
            <a:r>
              <a:t>Pooled OOF metrics, HbA1c strata, calibration, participant bootstrap.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424927" y="4800600"/>
            <a:ext cx="42519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24927" y="4800600"/>
            <a:ext cx="54864" cy="841248"/>
          </a:xfrm>
          <a:prstGeom prst="rect">
            <a:avLst/>
          </a:prstGeom>
          <a:solidFill>
            <a:srgbClr val="D2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71231" y="4901184"/>
            <a:ext cx="399592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100" b="1">
                <a:solidFill>
                  <a:srgbClr val="0A3B2C"/>
                </a:solidFill>
                <a:latin typeface="Aptos"/>
              </a:defRPr>
            </a:pPr>
            <a:r>
              <a:t>Future integration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71231" y="5239512"/>
            <a:ext cx="3995928" cy="320040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850" b="0">
                <a:solidFill>
                  <a:srgbClr val="19342B"/>
                </a:solidFill>
                <a:latin typeface="Aptos"/>
              </a:defRPr>
            </a:pPr>
            <a:r>
              <a:t>Sleep and HRV are potential future streams; they are not present in the CGMacros model inputs.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3863339" y="3959352"/>
            <a:ext cx="6220298" cy="841248"/>
          </a:xfrm>
          <a:prstGeom prst="line">
            <a:avLst/>
          </a:prstGeom>
          <a:ln w="1778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6167628" y="3959352"/>
            <a:ext cx="4668377" cy="841248"/>
          </a:xfrm>
          <a:prstGeom prst="line">
            <a:avLst/>
          </a:prstGeom>
          <a:ln w="17780">
            <a:solidFill>
              <a:srgbClr val="1674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6167628" y="3959352"/>
            <a:ext cx="1257299" cy="1261872"/>
          </a:xfrm>
          <a:prstGeom prst="line">
            <a:avLst/>
          </a:prstGeom>
          <a:ln w="13970">
            <a:solidFill>
              <a:srgbClr val="D28A2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02920" y="5879592"/>
            <a:ext cx="11155680" cy="246888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900" b="0">
                <a:solidFill>
                  <a:srgbClr val="61776E"/>
                </a:solidFill>
                <a:latin typeface="Aptos"/>
              </a:defRPr>
            </a:pPr>
            <a:r>
              <a:t>Dashed path = future integration only. Forecast, dashboard, and evaluation are research outputs—not treatment advice or live monitoring.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850" b="0">
                <a:solidFill>
                  <a:srgbClr val="61776E"/>
                </a:solidFill>
                <a:latin typeface="Aptos"/>
              </a:defRPr>
            </a:pPr>
            <a:r>
              <a:t>CGMacros retrospective PoC  •  not for clinical use  •  no diagnosis, treatment, triage, or live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1000" b="1">
                <a:solidFill>
                  <a:srgbClr val="16745B"/>
                </a:solidFill>
                <a:latin typeface="Aptos"/>
              </a:defRPr>
            </a:pPr>
            <a:r>
              <a:t>CGMACROS  /  RESEARCH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2600" b="1">
                <a:solidFill>
                  <a:srgbClr val="0A3B2C"/>
                </a:solidFill>
                <a:latin typeface="Aptos"/>
              </a:defRPr>
            </a:pPr>
            <a:r>
              <a:t>Implementation and evaluation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22860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1050" b="0">
                <a:solidFill>
                  <a:srgbClr val="61776E"/>
                </a:solidFill>
                <a:latin typeface="Aptos"/>
              </a:defRPr>
            </a:pPr>
            <a:r>
              <a:t>Retrospective research PoC  •  45 participants  •  time-indexed two-hour glucose event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72768"/>
            <a:ext cx="3520440" cy="4315968"/>
          </a:xfrm>
          <a:prstGeom prst="roundRect">
            <a:avLst/>
          </a:prstGeom>
          <a:solidFill>
            <a:srgbClr val="EAF3EE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54864" cy="4315968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673352"/>
            <a:ext cx="326440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500" b="1">
                <a:solidFill>
                  <a:srgbClr val="0A3B2C"/>
                </a:solidFill>
                <a:latin typeface="Aptos"/>
              </a:defRPr>
            </a:pPr>
            <a:r>
              <a:t>Data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011680"/>
            <a:ext cx="3264408" cy="3794759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100" b="0">
                <a:solidFill>
                  <a:srgbClr val="19342B"/>
                </a:solidFill>
                <a:latin typeface="Aptos"/>
              </a:defRPr>
            </a:pPr>
            <a:r>
              <a:t>• Baseline: age, gender, BMI, HbA1c, fasting glucose/insulin, and lipids</a:t>
            </a:r>
            <a:br/>
            <a:br/>
            <a:r>
              <a:t>• Streams: Libre CGM, heart rate, activity, and meals</a:t>
            </a:r>
            <a:br/>
            <a:br/>
            <a:r>
              <a:t>• Time alignment: participant + timestamp</a:t>
            </a:r>
            <a:br/>
            <a:br/>
            <a:r>
              <a:t>• State: rolling, lagged, meal, activity, and time-of-day context</a:t>
            </a:r>
            <a:br/>
            <a:br/>
            <a:r>
              <a:t>• Missing values: median imputation with missingness indicators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572768"/>
            <a:ext cx="35204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572768"/>
            <a:ext cx="54864" cy="4315968"/>
          </a:xfrm>
          <a:prstGeom prst="rect">
            <a:avLst/>
          </a:prstGeom>
          <a:solidFill>
            <a:srgbClr val="167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73352"/>
            <a:ext cx="326440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500" b="1">
                <a:solidFill>
                  <a:srgbClr val="0A3B2C"/>
                </a:solidFill>
                <a:latin typeface="Aptos"/>
              </a:defRPr>
            </a:pPr>
            <a:r>
              <a:t>Model and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264408" cy="3794759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100" b="0">
                <a:solidFill>
                  <a:srgbClr val="19342B"/>
                </a:solidFill>
                <a:latin typeface="Aptos"/>
              </a:defRPr>
            </a:pPr>
            <a:r>
              <a:t>• 53 predictors: 41 dynamic + 12 baseline</a:t>
            </a:r>
            <a:br/>
            <a:br/>
            <a:r>
              <a:t>• HistGradientBoostingClassifier</a:t>
            </a:r>
            <a:br/>
            <a:br/>
            <a:r>
              <a:t>• Five participant-grouped folds</a:t>
            </a:r>
            <a:br/>
            <a:br/>
            <a:r>
              <a:t>• Pooled out-of-fold metrics and participant-macro views</a:t>
            </a:r>
            <a:br/>
            <a:br/>
            <a:r>
              <a:t>• HbA1c strata, calibration, and participant-level bootstrap intervals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592" y="1572768"/>
            <a:ext cx="3520440" cy="4315968"/>
          </a:xfrm>
          <a:prstGeom prst="roundRect">
            <a:avLst/>
          </a:prstGeom>
          <a:solidFill>
            <a:srgbClr val="FFF5E5"/>
          </a:solidFill>
          <a:ln w="10160">
            <a:solidFill>
              <a:srgbClr val="CB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5592" y="1572768"/>
            <a:ext cx="54864" cy="4315968"/>
          </a:xfrm>
          <a:prstGeom prst="rect">
            <a:avLst/>
          </a:prstGeom>
          <a:solidFill>
            <a:srgbClr val="D2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673352"/>
            <a:ext cx="3264408" cy="310896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500" b="1">
                <a:solidFill>
                  <a:srgbClr val="0A3B2C"/>
                </a:solidFill>
                <a:latin typeface="Aptos"/>
              </a:defRPr>
            </a:pPr>
            <a:r>
              <a:t>Research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011680"/>
            <a:ext cx="3264408" cy="3794759"/>
          </a:xfrm>
          <a:prstGeom prst="rect">
            <a:avLst/>
          </a:prstGeom>
          <a:noFill/>
        </p:spPr>
        <p:txBody>
          <a:bodyPr wrap="square" lIns="128016" rIns="109728" tIns="91440" bIns="73152">
            <a:spAutoFit/>
          </a:bodyPr>
          <a:lstStyle/>
          <a:p>
            <a:pPr algn="l">
              <a:defRPr sz="1100" b="0">
                <a:solidFill>
                  <a:srgbClr val="19342B"/>
                </a:solidFill>
                <a:latin typeface="Aptos"/>
              </a:defRPr>
            </a:pPr>
            <a:r>
              <a:t>• Retrospective US cohort; 45 participants</a:t>
            </a:r>
            <a:br/>
            <a:br/>
            <a:r>
              <a:t>• No Indian cohort or external validation</a:t>
            </a:r>
            <a:br/>
            <a:br/>
            <a:r>
              <a:t>• No sleep or HRV inputs in this model</a:t>
            </a:r>
            <a:br/>
            <a:br/>
            <a:r>
              <a:t>• No diagnosis, treatment, triage, or live monitoring</a:t>
            </a:r>
            <a:br/>
            <a:br/>
            <a:r>
              <a:t>• Dashboard scores and workload rules are exploratory research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53328"/>
            <a:ext cx="11155680" cy="228600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900" b="0">
                <a:solidFill>
                  <a:srgbClr val="61776E"/>
                </a:solidFill>
                <a:latin typeface="Aptos"/>
              </a:defRPr>
            </a:pPr>
            <a:r>
              <a:t>Architecture source: docs/architecture.mmd  •  PDF visual reference: docs/build_architecture_pdf.py  •  Dataset: PhysioNet CGMacros v1.0.0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</p:spPr>
        <p:txBody>
          <a:bodyPr wrap="square" anchor="t" lIns="128016" rIns="109728" tIns="91440" bIns="73152">
            <a:spAutoFit/>
          </a:bodyPr>
          <a:lstStyle/>
          <a:p>
            <a:pPr algn="l">
              <a:defRPr sz="850" b="0">
                <a:solidFill>
                  <a:srgbClr val="61776E"/>
                </a:solidFill>
                <a:latin typeface="Aptos"/>
              </a:defRPr>
            </a:pPr>
            <a:r>
              <a:t>CGMacros retrospective PoC  •  not for clinical use  •  no diagnosis, treatment, triage, or live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GlycoTwin CGMacros Forecast Architecture</dc:title>
  <dc:subject>Standalone architecture presentation derived from docs/architecture.mmd</dc:subject>
  <dc:creator>GlycoTwin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