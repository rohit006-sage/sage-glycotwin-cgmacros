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66291aebbd44e0f" Type="http://schemas.openxmlformats.org/officeDocument/2006/relationships/officeDocument" Target="ppt/presentation.xml"/><Relationship Id="R3180d745cf874bc1" Type="http://schemas.openxmlformats.org/package/2006/relationships/metadata/core-properties" Target="docProps/core.xml"/><Relationship Id="Rfc63078a32744a0c"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e62d3ae7bd794873"/>
  </p:sldMasterIdLst>
  <p:notesMasterIdLst>
    <p:notesMasterId xmlns:r="http://schemas.openxmlformats.org/officeDocument/2006/relationships" r:id="R8d7ffdc6181a4e81"/>
  </p:notesMasterIdLst>
  <p:sldIdLst>
    <p:sldId xmlns:r="http://schemas.openxmlformats.org/officeDocument/2006/relationships" id="256" r:id="Rd87176b2d7444677"/>
    <p:sldId xmlns:r="http://schemas.openxmlformats.org/officeDocument/2006/relationships" id="257" r:id="R6ff9e5cebf1b470c"/>
    <p:sldId xmlns:r="http://schemas.openxmlformats.org/officeDocument/2006/relationships" id="258" r:id="R3fe95fbd80214d91"/>
    <p:sldId xmlns:r="http://schemas.openxmlformats.org/officeDocument/2006/relationships" id="259" r:id="R5d58d838165b4581"/>
    <p:sldId xmlns:r="http://schemas.openxmlformats.org/officeDocument/2006/relationships" id="260" r:id="R3d78327b1a9648f9"/>
    <p:sldId xmlns:r="http://schemas.openxmlformats.org/officeDocument/2006/relationships" id="261" r:id="Ra8fdeb1d1f2a4829"/>
    <p:sldId xmlns:r="http://schemas.openxmlformats.org/officeDocument/2006/relationships" id="262" r:id="R7eae2384d91c4fda"/>
    <p:sldId xmlns:r="http://schemas.openxmlformats.org/officeDocument/2006/relationships" id="263" r:id="R74a42910ed1a49e8"/>
    <p:sldId xmlns:r="http://schemas.openxmlformats.org/officeDocument/2006/relationships" id="264" r:id="R9377f72e6098403d"/>
    <p:sldId xmlns:r="http://schemas.openxmlformats.org/officeDocument/2006/relationships" id="265" r:id="R40a4fd260ba5433a"/>
    <p:sldId xmlns:r="http://schemas.openxmlformats.org/officeDocument/2006/relationships" id="266" r:id="R057480548b4f4aca"/>
    <p:sldId xmlns:ns0="http://schemas.openxmlformats.org/officeDocument/2006/relationships" id="267" ns0:id="rId17"/>
    <p:sldId xmlns:ns0="http://schemas.openxmlformats.org/officeDocument/2006/relationships" id="268" ns0:id="rId18"/>
    <p:sldId xmlns:ns0="http://schemas.openxmlformats.org/officeDocument/2006/relationships" id="269" ns0:id="rId1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57480548b4f4aca" Type="http://schemas.openxmlformats.org/officeDocument/2006/relationships/slide" Target="slides/slide11.xml"/><Relationship Id="R2088fbd8df5f44fc" Type="http://schemas.openxmlformats.org/officeDocument/2006/relationships/tableStyles" Target="tableStyles.xml"/><Relationship Id="R3d78327b1a9648f9" Type="http://schemas.openxmlformats.org/officeDocument/2006/relationships/slide" Target="slides/slide5.xml"/><Relationship Id="R3fe95fbd80214d91" Type="http://schemas.openxmlformats.org/officeDocument/2006/relationships/slide" Target="slides/slide3.xml"/><Relationship Id="R40a4fd260ba5433a" Type="http://schemas.openxmlformats.org/officeDocument/2006/relationships/slide" Target="slides/slide10.xml"/><Relationship Id="R5b7bdf11d9c64237" Type="http://schemas.openxmlformats.org/officeDocument/2006/relationships/theme" Target="theme/theme1.xml"/><Relationship Id="R5d58d838165b4581" Type="http://schemas.openxmlformats.org/officeDocument/2006/relationships/slide" Target="slides/slide4.xml"/><Relationship Id="R6ff9e5cebf1b470c" Type="http://schemas.openxmlformats.org/officeDocument/2006/relationships/slide" Target="slides/slide2.xml"/><Relationship Id="R74a42910ed1a49e8" Type="http://schemas.openxmlformats.org/officeDocument/2006/relationships/slide" Target="slides/slide8.xml"/><Relationship Id="R7eae2384d91c4fda" Type="http://schemas.openxmlformats.org/officeDocument/2006/relationships/slide" Target="slides/slide7.xml"/><Relationship Id="R8d7ffdc6181a4e81" Type="http://schemas.openxmlformats.org/officeDocument/2006/relationships/notesMaster" Target="notesMasters/notesMaster1.xml"/><Relationship Id="R9377f72e6098403d" Type="http://schemas.openxmlformats.org/officeDocument/2006/relationships/slide" Target="slides/slide9.xml"/><Relationship Id="Ra8fdeb1d1f2a4829" Type="http://schemas.openxmlformats.org/officeDocument/2006/relationships/slide" Target="slides/slide6.xml"/><Relationship Id="Rd87176b2d7444677" Type="http://schemas.openxmlformats.org/officeDocument/2006/relationships/slide" Target="slides/slide1.xml"/><Relationship Id="Re62d3ae7bd794873" Type="http://schemas.openxmlformats.org/officeDocument/2006/relationships/slideMaster" Target="slideMasters/slideMaster1.xml"/><Relationship Id="Re9d854afacdf4972" Type="http://schemas.openxmlformats.org/officeDocument/2006/relationships/presProps" Target="presProps.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cc800d4026644be2"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6ebb1c22348940db" Type="http://schemas.openxmlformats.org/officeDocument/2006/relationships/notesMaster" Target="../notesMasters/notesMaster1.xml"/><Relationship Id="Rd836c5ecab164986"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7f98bb6ab6c24b39" Type="http://schemas.openxmlformats.org/officeDocument/2006/relationships/slide" Target="../slides/slide2.xml"/><Relationship Id="R8748dcc5726243c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b572a3b8b2c845e9" Type="http://schemas.openxmlformats.org/officeDocument/2006/relationships/slide" Target="../slides/slide3.xml"/><Relationship Id="Reb6e908e73bf4399"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1eff40a339d14599" Type="http://schemas.openxmlformats.org/officeDocument/2006/relationships/notesMaster" Target="../notesMasters/notesMaster1.xml"/><Relationship Id="Rdf68d97b569c48cb"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b53c91c1c31c408c" Type="http://schemas.openxmlformats.org/officeDocument/2006/relationships/slide" Target="../slides/slide5.xml"/><Relationship Id="Rea4233d0b7324fdc"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b154f54e674743ee" Type="http://schemas.openxmlformats.org/officeDocument/2006/relationships/notesMaster" Target="../notesMasters/notesMaster1.xml"/><Relationship Id="Rb165242c0a834a2f"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82bdb011a3ed438c" Type="http://schemas.openxmlformats.org/officeDocument/2006/relationships/slide" Target="../slides/slide7.xml"/><Relationship Id="Re08d16bffb044e87"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474239ffdc6e4e6f" Type="http://schemas.openxmlformats.org/officeDocument/2006/relationships/slide" Target="../slides/slide8.xml"/><Relationship Id="Rba39bdeaf95344b7"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29309273ed5448b" Type="http://schemas.openxmlformats.org/officeDocument/2006/relationships/slide" Target="../slides/slide9.xml"/><Relationship Id="R807ae5237ec6443a"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067a5ad7c0294de6" Type="http://schemas.openxmlformats.org/officeDocument/2006/relationships/notesMaster" Target="../notesMasters/notesMaster1.xml"/><Relationship Id="R5e84910eaf5d482a"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7ece5a19751a42ca" Type="http://schemas.openxmlformats.org/officeDocument/2006/relationships/slide" Target="../slides/slide11.xml"/><Relationship Id="Rc2287a952f6e4225"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summarize the research prototype and its current evidence. Dataset: Gutierrez-Osuna et al., CGMacros v1.0.0, PhysioNet, https://doi.org/10.13026/3z8q-x658.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India burden: Anjana et al., ICMR-INDIAB-17, Lancet Diabetes &amp; Endocrinology (2023), https://doi.org/10.1016/S2213-8587(23)00119-5. CGM range context: ADA Standards of Care 2026, https://doi.org/10.2337/dc26-s006. The 2-hour horizon is a design choice from the challenge framing, not a guideline.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CGMacros v1.0.0 is a US study; study publication and dataset documentation: https://physionet.org/content/cgmacros/1.0.0/ and https://doi.org/10.13026/3z8q-x658. Sample group counts were derived using baseline HbA1c bands as analytic strata.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is based on train_cgmacros_forecast.py and the current feature set. CGMacros inputs include baseline bio.csv, Libre CGM, Fitbit heart rate/activity, and meal records. Sleep and HRV are not available to this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settings and grouped cross-validation are documented in README.md and train_cgmacros_forecast.py. Out-of-fold means every prediction is generated by a fold model that did not train on that participant.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Metrics are computed from pooled out-of-fold predictions. Participant bootstrap samples participants with all their timestamps. It does not refit the model, so its interval omits model-refit uncertainty. Details: data/processed/cgmacros_extended_evaluation.json.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and metrics are pooled out-of-fold results. HbA1c strata: &lt;5.7%, 5.7–6.4%, and ≥6.5%; they should not be presented as independent clinical diagnoses. Full data: data/processed/cgmacros_extended_evaluation.json.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bins from data/processed/cgmacros_extended_evaluation.json; plot is a descriptive reliability diagram. The model was not post-hoc calibrated. Participant cluster bootstrap is conditional on fixed out-of-fold 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dashboard mockup; all names, values and probabilities shown on this screen are synthetic and illustrative, not actual records or model predictions. No clinical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screen. Mock patient identifier, glucose trace, score, and context are synthetic and illustrative. No real patient data or actual prediction is shown. The interface communicates review steps without prescribing treatment.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India Digital Personal Data Protection Act 2023, official text: https://www.meity.gov.in/static/uploads/2024/02/Digital-Personal-Data-Protection-Act-2023.pdf. HIPAA covered entities and business associates: https://www.hhs.gov/hipaa/for-professionals/covered-entities/index.html. No claim is made that either regime automatically applies to this prototype. Future sleep/HRV inputs would require suitable, consented, timestamp-aligned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444db7a1def74f2b"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9e8b932d50041ca" Type="http://schemas.openxmlformats.org/officeDocument/2006/relationships/slideLayout" Target="../slideLayouts/slideLayout1.xml"/><Relationship Id="R744cb40899f54fbb"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e8b932d50041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fe28a12dea248b2" Type="http://schemas.openxmlformats.org/officeDocument/2006/relationships/notesSlide" Target="../notesSlides/notesSlide1.xml"/><Relationship Id="Rf5ed2e4deed5417a"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689e18f73f2d4785" Type="http://schemas.openxmlformats.org/officeDocument/2006/relationships/notesSlide" Target="../notesSlides/notesSlide2.xml"/><Relationship Id="R805a459d1f3942cf"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5f07d6347fa84aab" Type="http://schemas.openxmlformats.org/officeDocument/2006/relationships/slideLayout" Target="../slideLayouts/slideLayout1.xml"/><Relationship Id="R6d889ffce7b34ab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5a00f0e26d2f408e" Type="http://schemas.openxmlformats.org/officeDocument/2006/relationships/notesSlide" Target="../notesSlides/notesSlide4.xml"/><Relationship Id="R5d81611a3cae41f8"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1d23f701c90944b9" Type="http://schemas.openxmlformats.org/officeDocument/2006/relationships/notesSlide" Target="../notesSlides/notesSlide5.xml"/><Relationship Id="R99b4d8129c774309"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5c6bc0a4a2444ef4" Type="http://schemas.openxmlformats.org/officeDocument/2006/relationships/notesSlide" Target="../notesSlides/notesSlide6.xml"/><Relationship Id="R9c7f6101015943ad"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d6e00aed233e49fa" Type="http://schemas.openxmlformats.org/officeDocument/2006/relationships/slideLayout" Target="../slideLayouts/slideLayout1.xml"/><Relationship Id="Rf3ff827b8cad44fa"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0234425b39fc4ee4" Type="http://schemas.openxmlformats.org/officeDocument/2006/relationships/slideLayout" Target="../slideLayouts/slideLayout1.xml"/><Relationship Id="R8ae71a3b8ac744ea"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276b99c28dd94cfb" Type="http://schemas.openxmlformats.org/officeDocument/2006/relationships/slideLayout" Target="../slideLayouts/slideLayout1.xml"/><Relationship Id="R7595e50e5abd43dd"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41ba23712b804ff3" Type="http://schemas.openxmlformats.org/officeDocument/2006/relationships/slideLayout" Target="../slideLayouts/slideLayout1.xml"/><Relationship Id="R56d0388a2edf449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093b033d0bb44219" Type="http://schemas.openxmlformats.org/officeDocument/2006/relationships/slideLayout" Target="../slideLayouts/slideLayout1.xml"/><Relationship Id="R0de214459d8d431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0B2A3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E69E876-6AFF-4F36-84AD-63D6D4FF1823}"/>
              </a:ext>
            </a:extLst>
          </p:cNvPr>
          <p:cNvSpPr>
            <a:spLocks xmlns:a="http://schemas.openxmlformats.org/drawingml/2006/main" noGrp="1"/>
          </p:cNvSpPr>
          <p:nvPr/>
        </p:nvSpPr>
        <p:spPr>
          <a:xfrm xmlns:a="http://schemas.openxmlformats.org/drawingml/2006/main">
            <a:off x="8572500" y="190500"/>
            <a:ext cx="3524250" cy="3524250"/>
          </a:xfrm>
          <a:prstGeom xmlns:a="http://schemas.openxmlformats.org/drawingml/2006/main" prst="ellipse">
            <a:avLst/>
          </a:prstGeom>
          <a:solidFill xmlns:a="http://schemas.openxmlformats.org/drawingml/2006/main">
            <a:srgbClr val="0B2A3C"/>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55A5AD1C-23D4-4C5B-8445-07D2EB92A734}"/>
              </a:ext>
            </a:extLst>
          </p:cNvPr>
          <p:cNvSpPr>
            <a:spLocks xmlns:a="http://schemas.openxmlformats.org/drawingml/2006/main" noGrp="1"/>
          </p:cNvSpPr>
          <p:nvPr/>
        </p:nvSpPr>
        <p:spPr>
          <a:xfrm xmlns:a="http://schemas.openxmlformats.org/drawingml/2006/main">
            <a:off x="9048750" y="3619500"/>
            <a:ext cx="3048000" cy="3048000"/>
          </a:xfrm>
          <a:prstGeom xmlns:a="http://schemas.openxmlformats.org/drawingml/2006/main" prst="ellipse">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A59954DF-93F0-4B4F-8364-FF1C26384DAD}"/>
              </a:ext>
            </a:extLst>
          </p:cNvPr>
          <p:cNvSpPr>
            <a:spLocks xmlns:a="http://schemas.openxmlformats.org/drawingml/2006/main" noGrp="1"/>
          </p:cNvSpPr>
          <p:nvPr/>
        </p:nvSpPr>
        <p:spPr>
          <a:xfrm xmlns:a="http://schemas.openxmlformats.org/drawingml/2006/main">
            <a:off x="714375" y="647700"/>
            <a:ext cx="2000250" cy="285750"/>
          </a:xfrm>
          <a:prstGeom xmlns:a="http://schemas.openxmlformats.org/drawingml/2006/main" prst="roundRect">
            <a:avLst>
              <a:gd name="adj" fmla="val 26667"/>
            </a:avLst>
          </a:prstGeom>
          <a:solidFill xmlns:a="http://schemas.openxmlformats.org/drawingml/2006/main">
            <a:srgbClr val="0B2A3C"/>
          </a:solidFill>
          <a:ln xmlns:a="http://schemas.openxmlformats.org/drawingml/2006/main" w="9525">
            <a:solidFill>
              <a:srgbClr val="0B2A3C"/>
            </a:solidFill>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A969AEEC-D7B8-44D6-A479-2386B358E746}"/>
              </a:ext>
            </a:extLst>
          </p:cNvPr>
          <p:cNvSpPr>
            <a:spLocks xmlns:a="http://schemas.openxmlformats.org/drawingml/2006/main" noGrp="1"/>
          </p:cNvSpPr>
          <p:nvPr/>
        </p:nvSpPr>
        <p:spPr>
          <a:xfrm xmlns:a="http://schemas.openxmlformats.org/drawingml/2006/main">
            <a:off x="790575" y="666750"/>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975" b="1">
                <a:solidFill>
                  <a:srgbClr val="E6F4F1"/>
                </a:solidFill>
                <a:latin typeface="Arial"/>
                <a:ea typeface="Arial"/>
                <a:cs typeface="Arial"/>
              </a:defRPr>
            </a:pPr>
            <a:r>
              <a:rPr sz="1100" b="1">
                <a:solidFill>
                  <a:srgbClr val="E6F4F1"/>
                </a:solidFill>
                <a:latin typeface="Segoe UI"/>
                <a:ea typeface="Segoe UI"/>
                <a:cs typeface="Segoe UI"/>
              </a:rPr>
              <a:t>RESEARCH PROTOTYPE</a:t>
            </a:r>
          </a:p>
        </p:txBody>
      </p:sp>
      <p:sp>
        <p:nvSpPr>
          <p:cNvPr id="5" name="">
            <a:extLst xmlns:a="http://schemas.openxmlformats.org/drawingml/2006/main">
              <a:ext uri="{FF2B5EF4-FFF2-40B4-BE49-F238E27FC236}">
                <a16:creationId xmlns:a16="http://schemas.microsoft.com/office/drawing/2014/main" id="{AB6E9228-25CC-4C6A-B0DC-3C0EB3393FAC}"/>
              </a:ext>
            </a:extLst>
          </p:cNvPr>
          <p:cNvSpPr>
            <a:spLocks xmlns:a="http://schemas.openxmlformats.org/drawingml/2006/main" noGrp="1"/>
          </p:cNvSpPr>
          <p:nvPr/>
        </p:nvSpPr>
        <p:spPr>
          <a:xfrm xmlns:a="http://schemas.openxmlformats.org/drawingml/2006/main">
            <a:off x="714375" y="1428750"/>
            <a:ext cx="809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5100" b="1">
                <a:solidFill>
                  <a:srgbClr val="F7FAFA"/>
                </a:solidFill>
                <a:latin typeface="Arial"/>
                <a:ea typeface="Arial"/>
                <a:cs typeface="Arial"/>
              </a:defRPr>
            </a:pPr>
            <a:r>
              <a:rPr sz="5100" b="1">
                <a:solidFill>
                  <a:srgbClr val="F7FAFA"/>
                </a:solidFill>
                <a:latin typeface="Segoe UI"/>
                <a:ea typeface="Segoe UI"/>
                <a:cs typeface="Segoe UI"/>
              </a:rPr>
              <a:t>GlycoTwin</a:t>
            </a:r>
          </a:p>
        </p:txBody>
      </p:sp>
      <p:sp>
        <p:nvSpPr>
          <p:cNvPr id="6" name="">
            <a:extLst xmlns:a="http://schemas.openxmlformats.org/drawingml/2006/main">
              <a:ext uri="{FF2B5EF4-FFF2-40B4-BE49-F238E27FC236}">
                <a16:creationId xmlns:a16="http://schemas.microsoft.com/office/drawing/2014/main" id="{513A3C2E-8F00-4348-AF2D-D2957D1ED6FF}"/>
              </a:ext>
            </a:extLst>
          </p:cNvPr>
          <p:cNvSpPr>
            <a:spLocks xmlns:a="http://schemas.openxmlformats.org/drawingml/2006/main" noGrp="1"/>
          </p:cNvSpPr>
          <p:nvPr/>
        </p:nvSpPr>
        <p:spPr>
          <a:xfrm xmlns:a="http://schemas.openxmlformats.org/drawingml/2006/main">
            <a:off x="762000" y="2381250"/>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2325" b="0">
                <a:solidFill>
                  <a:srgbClr val="D5DEE2"/>
                </a:solidFill>
                <a:latin typeface="Arial"/>
                <a:ea typeface="Arial"/>
                <a:cs typeface="Arial"/>
              </a:defRPr>
            </a:pPr>
            <a:r>
              <a:rPr sz="2325" b="0">
                <a:solidFill>
                  <a:srgbClr val="F7FAFA"/>
                </a:solidFill>
                <a:latin typeface="Calibri"/>
                <a:ea typeface="Calibri"/>
                <a:cs typeface="Calibri"/>
              </a:rPr>
              <a:t>Two-hour glucose forecasting with baseline clinical and wearable context</a:t>
            </a:r>
          </a:p>
        </p:txBody>
      </p:sp>
      <p:sp>
        <p:nvSpPr>
          <p:cNvPr id="7" name="">
            <a:extLst xmlns:a="http://schemas.openxmlformats.org/drawingml/2006/main">
              <a:ext uri="{FF2B5EF4-FFF2-40B4-BE49-F238E27FC236}">
                <a16:creationId xmlns:a16="http://schemas.microsoft.com/office/drawing/2014/main" id="{68ACBEE2-C2F5-47EA-8C6E-E13092DD6345}"/>
              </a:ext>
            </a:extLst>
          </p:cNvPr>
          <p:cNvSpPr>
            <a:spLocks xmlns:a="http://schemas.openxmlformats.org/drawingml/2006/main" noGrp="1"/>
          </p:cNvSpPr>
          <p:nvPr/>
        </p:nvSpPr>
        <p:spPr>
          <a:xfrm xmlns:a="http://schemas.openxmlformats.org/drawingml/2006/main">
            <a:off x="762000" y="3524250"/>
            <a:ext cx="762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575" b="0">
                <a:solidFill>
                  <a:srgbClr val="D5DEE2"/>
                </a:solidFill>
                <a:latin typeface="Arial"/>
                <a:ea typeface="Arial"/>
                <a:cs typeface="Arial"/>
              </a:defRPr>
            </a:pPr>
            <a:r>
              <a:rPr sz="1575" b="0">
                <a:solidFill>
                  <a:srgbClr val="F7FAFA"/>
                </a:solidFill>
                <a:latin typeface="Calibri"/>
                <a:ea typeface="Calibri"/>
                <a:cs typeface="Calibri"/>
              </a:rPr>
              <a:t>A retrospective digital-twin-oriented proof of concept using CGMacros</a:t>
            </a:r>
          </a:p>
        </p:txBody>
      </p:sp>
      <p:sp>
        <p:nvSpPr>
          <p:cNvPr id="8" name="">
            <a:extLst xmlns:a="http://schemas.openxmlformats.org/drawingml/2006/main">
              <a:ext uri="{FF2B5EF4-FFF2-40B4-BE49-F238E27FC236}">
                <a16:creationId xmlns:a16="http://schemas.microsoft.com/office/drawing/2014/main" id="{2316E422-488E-4680-9EDF-1A8CEE51E7ED}"/>
              </a:ext>
            </a:extLst>
          </p:cNvPr>
          <p:cNvSpPr>
            <a:spLocks xmlns:a="http://schemas.openxmlformats.org/drawingml/2006/main" noGrp="1"/>
          </p:cNvSpPr>
          <p:nvPr/>
        </p:nvSpPr>
        <p:spPr>
          <a:xfrm xmlns:a="http://schemas.openxmlformats.org/drawingml/2006/main">
            <a:off x="762000" y="5029200"/>
            <a:ext cx="7048500" cy="742950"/>
          </a:xfrm>
          <a:prstGeom xmlns:a="http://schemas.openxmlformats.org/drawingml/2006/main" prst="roundRect">
            <a:avLst>
              <a:gd name="adj" fmla="val 10256"/>
            </a:avLst>
          </a:prstGeom>
          <a:solidFill xmlns:a="http://schemas.openxmlformats.org/drawingml/2006/main">
            <a:srgbClr val="E6F4F1"/>
          </a:solidFill>
          <a:ln xmlns:a="http://schemas.openxmlformats.org/drawingml/2006/main" w="9525">
            <a:solidFill>
              <a:srgbClr val="F2A33A"/>
            </a:solidFill>
          </a:ln>
        </p:spPr>
        <p:txBody>
          <a:bodyPr xmlns:a="http://schemas.openxmlformats.org/drawingml/2006/main"/>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F7939E9A-0D9A-4568-A6C5-A6883CF17347}"/>
              </a:ext>
            </a:extLst>
          </p:cNvPr>
          <p:cNvSpPr>
            <a:spLocks xmlns:a="http://schemas.openxmlformats.org/drawingml/2006/main" noGrp="1"/>
          </p:cNvSpPr>
          <p:nvPr/>
        </p:nvSpPr>
        <p:spPr>
          <a:xfrm xmlns:a="http://schemas.openxmlformats.org/drawingml/2006/main">
            <a:off x="952500" y="51816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350" b="1">
                <a:solidFill>
                  <a:srgbClr val="0B2A3C"/>
                </a:solidFill>
                <a:latin typeface="Arial"/>
                <a:ea typeface="Arial"/>
                <a:cs typeface="Arial"/>
              </a:defRPr>
            </a:pPr>
            <a:r>
              <a:rPr sz="1400" b="1">
                <a:solidFill>
                  <a:srgbClr val="0B2A3C"/>
                </a:solidFill>
                <a:latin typeface="Segoe UI"/>
                <a:ea typeface="Segoe UI"/>
                <a:cs typeface="Segoe UI"/>
              </a:rPr>
              <a:t>NOT CLINICALLY VALIDATED  •  NOT FOR DIAGNOSIS OR CARE</a:t>
            </a:r>
          </a:p>
        </p:txBody>
      </p:sp>
      <p:sp>
        <p:nvSpPr>
          <p:cNvPr id="10" name="">
            <a:extLst xmlns:a="http://schemas.openxmlformats.org/drawingml/2006/main">
              <a:ext uri="{FF2B5EF4-FFF2-40B4-BE49-F238E27FC236}">
                <a16:creationId xmlns:a16="http://schemas.microsoft.com/office/drawing/2014/main" id="{E4787C37-9A09-4944-BE51-DE79908EC5E8}"/>
              </a:ext>
            </a:extLst>
          </p:cNvPr>
          <p:cNvSpPr>
            <a:spLocks xmlns:a="http://schemas.openxmlformats.org/drawingml/2006/main" noGrp="1"/>
          </p:cNvSpPr>
          <p:nvPr/>
        </p:nvSpPr>
        <p:spPr>
          <a:xfrm xmlns:a="http://schemas.openxmlformats.org/drawingml/2006/main">
            <a:off x="762000" y="606742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00" b="0">
                <a:solidFill>
                  <a:srgbClr val="D5DEE2"/>
                </a:solidFill>
                <a:latin typeface="Arial"/>
                <a:ea typeface="Arial"/>
                <a:cs typeface="Arial"/>
              </a:defRPr>
            </a:pPr>
            <a:r>
              <a:rPr sz="1200" b="0">
                <a:solidFill>
                  <a:srgbClr val="F7FAFA"/>
                </a:solidFill>
                <a:latin typeface="Calibri"/>
                <a:ea typeface="Calibri"/>
                <a:cs typeface="Calibri"/>
              </a:rPr>
              <a:t>45 participants  |  45,447 forecast windows  |  grouped participant evaluation</a:t>
            </a:r>
          </a:p>
        </p:txBody>
      </p:sp>
    </p:spTree>
    <p:extLst>
      <p:ext uri="{BB962C8B-B14F-4D97-AF65-F5344CB8AC3E}">
        <p14:creationId xmlns:p14="http://schemas.microsoft.com/office/powerpoint/2010/main" val="994721783"/>
      </p:ext>
    </p:extLst>
  </p:cSld>
</p:sld>
</file>

<file path=ppt/slides/slide2.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7ABB3C4-E316-4A3E-8E0F-AA4D4A0D8E5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A32E51D6-B2BB-4886-AEAC-1FFC82A2AFD5}"/>
              </a:ext>
            </a:extLst>
          </p:cNvPr>
          <p:cNvSpPr>
            <a:spLocks xmlns:a="http://schemas.openxmlformats.org/drawingml/2006/main" noGrp="1"/>
          </p:cNvSpPr>
          <p:nvPr/>
        </p:nvSpPr>
        <p:spPr>
          <a:xfrm xmlns:a="http://schemas.openxmlformats.org/drawingml/2006/main">
            <a:off x="647700" y="2857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75" b="1">
                <a:solidFill>
                  <a:srgbClr val="0F8B8D"/>
                </a:solidFill>
                <a:latin typeface="Arial"/>
                <a:ea typeface="Arial"/>
                <a:cs typeface="Arial"/>
              </a:defRPr>
            </a:pPr>
            <a:r>
              <a:rPr sz="1100" b="1">
                <a:solidFill>
                  <a:srgbClr val="0F8B8D"/>
                </a:solidFill>
                <a:latin typeface="Segoe UI"/>
                <a:ea typeface="Segoe UI"/>
                <a:cs typeface="Segoe UI"/>
              </a:rPr>
              <a:t>GLYCOTWIN  /  RESEARCH PROTOTYPE</a:t>
            </a:r>
          </a:p>
        </p:txBody>
      </p:sp>
      <p:sp>
        <p:nvSpPr>
          <p:cNvPr id="3" name="">
            <a:extLst xmlns:a="http://schemas.openxmlformats.org/drawingml/2006/main">
              <a:ext uri="{FF2B5EF4-FFF2-40B4-BE49-F238E27FC236}">
                <a16:creationId xmlns:a16="http://schemas.microsoft.com/office/drawing/2014/main" id="{2EE7FD89-9BED-4955-9947-63885C6FDB25}"/>
              </a:ext>
            </a:extLst>
          </p:cNvPr>
          <p:cNvSpPr>
            <a:spLocks xmlns:a="http://schemas.openxmlformats.org/drawingml/2006/main" noGrp="1"/>
          </p:cNvSpPr>
          <p:nvPr/>
        </p:nvSpPr>
        <p:spPr>
          <a:xfrm xmlns:a="http://schemas.openxmlformats.org/drawingml/2006/main">
            <a:off x="647700" y="5524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2550" b="1">
                <a:solidFill>
                  <a:srgbClr val="0B2A3C"/>
                </a:solidFill>
                <a:latin typeface="Arial"/>
                <a:ea typeface="Arial"/>
                <a:cs typeface="Arial"/>
              </a:defRPr>
            </a:pPr>
            <a:r>
              <a:rPr sz="2550" b="1">
                <a:solidFill>
                  <a:srgbClr val="0B2A3C"/>
                </a:solidFill>
                <a:latin typeface="Segoe UI"/>
                <a:ea typeface="Segoe UI"/>
                <a:cs typeface="Segoe UI"/>
              </a:rPr>
              <a:t>Why a two-hour forecast?</a:t>
            </a:r>
          </a:p>
        </p:txBody>
      </p:sp>
      <p:sp>
        <p:nvSpPr>
          <p:cNvPr id="4" name="">
            <a:extLst xmlns:a="http://schemas.openxmlformats.org/drawingml/2006/main">
              <a:ext uri="{FF2B5EF4-FFF2-40B4-BE49-F238E27FC236}">
                <a16:creationId xmlns:a16="http://schemas.microsoft.com/office/drawing/2014/main" id="{D5F61465-5C6F-4686-988C-196A08EDFF64}"/>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line">
            <a:avLst/>
          </a:prstGeom>
          <a:solidFill xmlns:a="http://schemas.openxmlformats.org/drawingml/2006/main">
            <a:srgbClr val="D5DEE2"/>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3F8DE8AE-4CCD-4E2B-BF74-10CDFE4ECBC8}"/>
              </a:ext>
            </a:extLst>
          </p:cNvPr>
          <p:cNvSpPr>
            <a:spLocks xmlns:a="http://schemas.openxmlformats.org/drawingml/2006/main" noGrp="1"/>
          </p:cNvSpPr>
          <p:nvPr/>
        </p:nvSpPr>
        <p:spPr>
          <a:xfrm xmlns:a="http://schemas.openxmlformats.org/drawingml/2006/main">
            <a:off x="647700" y="64960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00" b="0">
                <a:solidFill>
                  <a:srgbClr val="5B6B76"/>
                </a:solidFill>
                <a:latin typeface="Arial"/>
                <a:ea typeface="Arial"/>
                <a:cs typeface="Arial"/>
              </a:defRPr>
            </a:pPr>
            <a:r>
              <a:rPr sz="1100" b="0">
                <a:solidFill>
                  <a:srgbClr val="5B6B76"/>
                </a:solidFill>
                <a:latin typeface="Calibri"/>
                <a:ea typeface="Calibri"/>
                <a:cs typeface="Calibri"/>
              </a:rPr>
              <a:t>CGMacros retrospective PoC  •  not for clinical use</a:t>
            </a:r>
          </a:p>
        </p:txBody>
      </p:sp>
      <p:sp>
        <p:nvSpPr>
          <p:cNvPr id="6" name="">
            <a:extLst xmlns:a="http://schemas.openxmlformats.org/drawingml/2006/main">
              <a:ext uri="{FF2B5EF4-FFF2-40B4-BE49-F238E27FC236}">
                <a16:creationId xmlns:a16="http://schemas.microsoft.com/office/drawing/2014/main" id="{882E616B-DCFA-49B9-A226-89DA8B2CA28B}"/>
              </a:ext>
            </a:extLst>
          </p:cNvPr>
          <p:cNvSpPr>
            <a:spLocks xmlns:a="http://schemas.openxmlformats.org/drawingml/2006/main" noGrp="1"/>
          </p:cNvSpPr>
          <p:nvPr/>
        </p:nvSpPr>
        <p:spPr>
          <a:xfrm xmlns:a="http://schemas.openxmlformats.org/drawingml/2006/main">
            <a:off x="647700" y="1457325"/>
            <a:ext cx="3190875" cy="2143125"/>
          </a:xfrm>
          <a:prstGeom xmlns:a="http://schemas.openxmlformats.org/drawingml/2006/main" prst="roundRect">
            <a:avLst>
              <a:gd name="adj" fmla="val 3556"/>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3C2C2AD1-F7F4-46ED-9D57-7F4BC8CA726E}"/>
              </a:ext>
            </a:extLst>
          </p:cNvPr>
          <p:cNvSpPr>
            <a:spLocks xmlns:a="http://schemas.openxmlformats.org/drawingml/2006/main" noGrp="1"/>
          </p:cNvSpPr>
          <p:nvPr/>
        </p:nvSpPr>
        <p:spPr>
          <a:xfrm xmlns:a="http://schemas.openxmlformats.org/drawingml/2006/main">
            <a:off x="647700" y="1457325"/>
            <a:ext cx="66675" cy="2143125"/>
          </a:xfrm>
          <a:prstGeom xmlns:a="http://schemas.openxmlformats.org/drawingml/2006/main" prst="rect">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F0E06F31-E001-4CBE-8290-D88CAF815027}"/>
              </a:ext>
            </a:extLst>
          </p:cNvPr>
          <p:cNvSpPr>
            <a:spLocks xmlns:a="http://schemas.openxmlformats.org/drawingml/2006/main" noGrp="1"/>
          </p:cNvSpPr>
          <p:nvPr/>
        </p:nvSpPr>
        <p:spPr>
          <a:xfrm xmlns:a="http://schemas.openxmlformats.org/drawingml/2006/main">
            <a:off x="857250" y="1600200"/>
            <a:ext cx="27908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425" b="1">
                <a:solidFill>
                  <a:srgbClr val="0B2A3C"/>
                </a:solidFill>
                <a:latin typeface="Arial"/>
                <a:ea typeface="Arial"/>
                <a:cs typeface="Arial"/>
              </a:defRPr>
            </a:pPr>
            <a:r>
              <a:rPr sz="1425" b="1">
                <a:solidFill>
                  <a:srgbClr val="0B2A3C"/>
                </a:solidFill>
                <a:latin typeface="Segoe UI"/>
                <a:ea typeface="Segoe UI"/>
                <a:cs typeface="Segoe UI"/>
              </a:rPr>
              <a:t>A high-burden problem</a:t>
            </a:r>
          </a:p>
        </p:txBody>
      </p:sp>
      <p:sp>
        <p:nvSpPr>
          <p:cNvPr id="9" name="">
            <a:extLst xmlns:a="http://schemas.openxmlformats.org/drawingml/2006/main">
              <a:ext uri="{FF2B5EF4-FFF2-40B4-BE49-F238E27FC236}">
                <a16:creationId xmlns:a16="http://schemas.microsoft.com/office/drawing/2014/main" id="{E2271CE2-C16D-4B04-89AA-B8B1155D9059}"/>
              </a:ext>
            </a:extLst>
          </p:cNvPr>
          <p:cNvSpPr>
            <a:spLocks xmlns:a="http://schemas.openxmlformats.org/drawingml/2006/main" noGrp="1"/>
          </p:cNvSpPr>
          <p:nvPr/>
        </p:nvSpPr>
        <p:spPr>
          <a:xfrm xmlns:a="http://schemas.openxmlformats.org/drawingml/2006/main">
            <a:off x="857250" y="1943100"/>
            <a:ext cx="2790825"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t">
            <a:noAutofit/>
          </a:bodyPr>
          <a:lstStyle xmlns:a="http://schemas.openxmlformats.org/drawingml/2006/main"/>
          <a:p xmlns:a="http://schemas.openxmlformats.org/drawingml/2006/main">
            <a:pPr algn="l">
              <a:buNone/>
              <a:defRPr sz="1275" b="0">
                <a:solidFill>
                  <a:srgbClr val="0B2A3C"/>
                </a:solidFill>
                <a:latin typeface="Arial"/>
                <a:ea typeface="Arial"/>
                <a:cs typeface="Arial"/>
              </a:defRPr>
            </a:pPr>
            <a:r>
              <a:rPr sz="1400" b="0">
                <a:solidFill>
                  <a:srgbClr val="0B2A3C"/>
                </a:solidFill>
                <a:latin typeface="Calibri"/>
                <a:ea typeface="Calibri"/>
                <a:cs typeface="Calibri"/>
              </a:rPr>
              <a:t>ICMR-INDIAB estimated 101 million people in India had diabetes in 2021 (weighted prevalence 11.4%). The project explores earlier visibility into possible high glucose.</a:t>
            </a:r>
          </a:p>
        </p:txBody>
      </p:sp>
      <p:sp>
        <p:nvSpPr>
          <p:cNvPr id="10" name="">
            <a:extLst xmlns:a="http://schemas.openxmlformats.org/drawingml/2006/main">
              <a:ext uri="{FF2B5EF4-FFF2-40B4-BE49-F238E27FC236}">
                <a16:creationId xmlns:a16="http://schemas.microsoft.com/office/drawing/2014/main" id="{076F950F-F0F6-4072-A69A-6CCC21AB2406}"/>
              </a:ext>
            </a:extLst>
          </p:cNvPr>
          <p:cNvSpPr>
            <a:spLocks xmlns:a="http://schemas.openxmlformats.org/drawingml/2006/main" noGrp="1"/>
          </p:cNvSpPr>
          <p:nvPr/>
        </p:nvSpPr>
        <p:spPr>
          <a:xfrm xmlns:a="http://schemas.openxmlformats.org/drawingml/2006/main">
            <a:off x="4029075" y="1457325"/>
            <a:ext cx="3476625" cy="2143125"/>
          </a:xfrm>
          <a:prstGeom xmlns:a="http://schemas.openxmlformats.org/drawingml/2006/main" prst="roundRect">
            <a:avLst>
              <a:gd name="adj" fmla="val 3556"/>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5897B8D7-DEDB-494F-B6E8-E2B200C29A8C}"/>
              </a:ext>
            </a:extLst>
          </p:cNvPr>
          <p:cNvSpPr>
            <a:spLocks xmlns:a="http://schemas.openxmlformats.org/drawingml/2006/main" noGrp="1"/>
          </p:cNvSpPr>
          <p:nvPr/>
        </p:nvSpPr>
        <p:spPr>
          <a:xfrm xmlns:a="http://schemas.openxmlformats.org/drawingml/2006/main">
            <a:off x="4029075" y="1457325"/>
            <a:ext cx="66675" cy="2143125"/>
          </a:xfrm>
          <a:prstGeom xmlns:a="http://schemas.openxmlformats.org/drawingml/2006/main" prst="rect">
            <a:avLst/>
          </a:prstGeom>
          <a:solidFill xmlns:a="http://schemas.openxmlformats.org/drawingml/2006/main">
            <a:srgbClr val="F2A33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12" name="">
            <a:extLst xmlns:a="http://schemas.openxmlformats.org/drawingml/2006/main">
              <a:ext uri="{FF2B5EF4-FFF2-40B4-BE49-F238E27FC236}">
                <a16:creationId xmlns:a16="http://schemas.microsoft.com/office/drawing/2014/main" id="{C941E63B-CDD2-4CE3-AF63-A04D7D6B80C5}"/>
              </a:ext>
            </a:extLst>
          </p:cNvPr>
          <p:cNvSpPr>
            <a:spLocks xmlns:a="http://schemas.openxmlformats.org/drawingml/2006/main" noGrp="1"/>
          </p:cNvSpPr>
          <p:nvPr/>
        </p:nvSpPr>
        <p:spPr>
          <a:xfrm xmlns:a="http://schemas.openxmlformats.org/drawingml/2006/main">
            <a:off x="4238625" y="1600200"/>
            <a:ext cx="3076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425" b="1">
                <a:solidFill>
                  <a:srgbClr val="0B2A3C"/>
                </a:solidFill>
                <a:latin typeface="Arial"/>
                <a:ea typeface="Arial"/>
                <a:cs typeface="Arial"/>
              </a:defRPr>
            </a:pPr>
            <a:r>
              <a:rPr sz="1425" b="1">
                <a:solidFill>
                  <a:srgbClr val="0B2A3C"/>
                </a:solidFill>
                <a:latin typeface="Segoe UI"/>
                <a:ea typeface="Segoe UI"/>
                <a:cs typeface="Segoe UI"/>
              </a:rPr>
              <a:t>A bounded research question</a:t>
            </a:r>
          </a:p>
        </p:txBody>
      </p:sp>
      <p:sp>
        <p:nvSpPr>
          <p:cNvPr id="13" name="">
            <a:extLst xmlns:a="http://schemas.openxmlformats.org/drawingml/2006/main">
              <a:ext uri="{FF2B5EF4-FFF2-40B4-BE49-F238E27FC236}">
                <a16:creationId xmlns:a16="http://schemas.microsoft.com/office/drawing/2014/main" id="{1AD8B3B4-49F5-4F02-A685-5ED1180718B1}"/>
              </a:ext>
            </a:extLst>
          </p:cNvPr>
          <p:cNvSpPr>
            <a:spLocks xmlns:a="http://schemas.openxmlformats.org/drawingml/2006/main" noGrp="1"/>
          </p:cNvSpPr>
          <p:nvPr/>
        </p:nvSpPr>
        <p:spPr>
          <a:xfrm xmlns:a="http://schemas.openxmlformats.org/drawingml/2006/main">
            <a:off x="4238625" y="1943100"/>
            <a:ext cx="3076575"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t">
            <a:noAutofit/>
          </a:bodyPr>
          <a:lstStyle xmlns:a="http://schemas.openxmlformats.org/drawingml/2006/main"/>
          <a:p xmlns:a="http://schemas.openxmlformats.org/drawingml/2006/main">
            <a:pPr algn="l">
              <a:buNone/>
              <a:defRPr sz="1275" b="0">
                <a:solidFill>
                  <a:srgbClr val="0B2A3C"/>
                </a:solidFill>
                <a:latin typeface="Arial"/>
                <a:ea typeface="Arial"/>
                <a:cs typeface="Arial"/>
              </a:defRPr>
            </a:pPr>
            <a:r>
              <a:rPr sz="1400" b="0">
                <a:solidFill>
                  <a:srgbClr val="0B2A3C"/>
                </a:solidFill>
                <a:latin typeface="Calibri"/>
                <a:ea typeface="Calibri"/>
                <a:cs typeface="Calibri"/>
              </a:rPr>
              <a:t>At each 15-minute replay point, estimate whether Libre CGM glucose will be ≥180 mg/dL at t+120 minutes. The horizon is challenge-aligned and exploratory—not a clinical standard.</a:t>
            </a:r>
          </a:p>
        </p:txBody>
      </p:sp>
      <p:sp>
        <p:nvSpPr>
          <p:cNvPr id="14" name="">
            <a:extLst xmlns:a="http://schemas.openxmlformats.org/drawingml/2006/main">
              <a:ext uri="{FF2B5EF4-FFF2-40B4-BE49-F238E27FC236}">
                <a16:creationId xmlns:a16="http://schemas.microsoft.com/office/drawing/2014/main" id="{7223AB81-8785-4F6C-946B-44B248EF1745}"/>
              </a:ext>
            </a:extLst>
          </p:cNvPr>
          <p:cNvSpPr>
            <a:spLocks xmlns:a="http://schemas.openxmlformats.org/drawingml/2006/main" noGrp="1"/>
          </p:cNvSpPr>
          <p:nvPr/>
        </p:nvSpPr>
        <p:spPr>
          <a:xfrm xmlns:a="http://schemas.openxmlformats.org/drawingml/2006/main">
            <a:off x="7696200" y="1457325"/>
            <a:ext cx="3848100" cy="2143125"/>
          </a:xfrm>
          <a:prstGeom xmlns:a="http://schemas.openxmlformats.org/drawingml/2006/main" prst="roundRect">
            <a:avLst>
              <a:gd name="adj" fmla="val 3556"/>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5" name="">
            <a:extLst xmlns:a="http://schemas.openxmlformats.org/drawingml/2006/main">
              <a:ext uri="{FF2B5EF4-FFF2-40B4-BE49-F238E27FC236}">
                <a16:creationId xmlns:a16="http://schemas.microsoft.com/office/drawing/2014/main" id="{0B35C1D5-98DD-419D-B7C9-C99202979867}"/>
              </a:ext>
            </a:extLst>
          </p:cNvPr>
          <p:cNvSpPr>
            <a:spLocks xmlns:a="http://schemas.openxmlformats.org/drawingml/2006/main" noGrp="1"/>
          </p:cNvSpPr>
          <p:nvPr/>
        </p:nvSpPr>
        <p:spPr>
          <a:xfrm xmlns:a="http://schemas.openxmlformats.org/drawingml/2006/main">
            <a:off x="7696200" y="1457325"/>
            <a:ext cx="66675" cy="2143125"/>
          </a:xfrm>
          <a:prstGeom xmlns:a="http://schemas.openxmlformats.org/drawingml/2006/main" prst="rect">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01C1A0DD-0C73-41B7-875E-AC215C7A9060}"/>
              </a:ext>
            </a:extLst>
          </p:cNvPr>
          <p:cNvSpPr>
            <a:spLocks xmlns:a="http://schemas.openxmlformats.org/drawingml/2006/main" noGrp="1"/>
          </p:cNvSpPr>
          <p:nvPr/>
        </p:nvSpPr>
        <p:spPr>
          <a:xfrm xmlns:a="http://schemas.openxmlformats.org/drawingml/2006/main">
            <a:off x="7905750" y="1600200"/>
            <a:ext cx="3448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425" b="1">
                <a:solidFill>
                  <a:srgbClr val="0B2A3C"/>
                </a:solidFill>
                <a:latin typeface="Arial"/>
                <a:ea typeface="Arial"/>
                <a:cs typeface="Arial"/>
              </a:defRPr>
            </a:pPr>
            <a:r>
              <a:rPr sz="1425" b="1">
                <a:solidFill>
                  <a:srgbClr val="0B2A3C"/>
                </a:solidFill>
                <a:latin typeface="Segoe UI"/>
                <a:ea typeface="Segoe UI"/>
                <a:cs typeface="Segoe UI"/>
              </a:rPr>
              <a:t>Who would review it?</a:t>
            </a:r>
          </a:p>
        </p:txBody>
      </p:sp>
      <p:sp>
        <p:nvSpPr>
          <p:cNvPr id="17" name="">
            <a:extLst xmlns:a="http://schemas.openxmlformats.org/drawingml/2006/main">
              <a:ext uri="{FF2B5EF4-FFF2-40B4-BE49-F238E27FC236}">
                <a16:creationId xmlns:a16="http://schemas.microsoft.com/office/drawing/2014/main" id="{375E819A-5623-4E52-A0D9-39143491BF51}"/>
              </a:ext>
            </a:extLst>
          </p:cNvPr>
          <p:cNvSpPr>
            <a:spLocks xmlns:a="http://schemas.openxmlformats.org/drawingml/2006/main" noGrp="1"/>
          </p:cNvSpPr>
          <p:nvPr/>
        </p:nvSpPr>
        <p:spPr>
          <a:xfrm xmlns:a="http://schemas.openxmlformats.org/drawingml/2006/main">
            <a:off x="7905750" y="1943100"/>
            <a:ext cx="34480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t">
            <a:noAutofit/>
          </a:bodyPr>
          <a:lstStyle xmlns:a="http://schemas.openxmlformats.org/drawingml/2006/main"/>
          <a:p xmlns:a="http://schemas.openxmlformats.org/drawingml/2006/main">
            <a:pPr algn="l">
              <a:buNone/>
              <a:defRPr sz="1275" b="0">
                <a:solidFill>
                  <a:srgbClr val="0B2A3C"/>
                </a:solidFill>
                <a:latin typeface="Arial"/>
                <a:ea typeface="Arial"/>
                <a:cs typeface="Arial"/>
              </a:defRPr>
            </a:pPr>
            <a:r>
              <a:rPr sz="1400" b="0">
                <a:solidFill>
                  <a:srgbClr val="0B2A3C"/>
                </a:solidFill>
                <a:latin typeface="Calibri"/>
                <a:ea typeface="Calibri"/>
                <a:cs typeface="Calibri"/>
              </a:rPr>
              <a:t>Concept user: diabetologist/endocrinologist during follow-up for a person with established T2D. Review the trace and context, verify with the patient, then follow usual care processes.</a:t>
            </a:r>
          </a:p>
        </p:txBody>
      </p:sp>
      <p:sp>
        <p:nvSpPr>
          <p:cNvPr id="18" name="">
            <a:extLst xmlns:a="http://schemas.openxmlformats.org/drawingml/2006/main">
              <a:ext uri="{FF2B5EF4-FFF2-40B4-BE49-F238E27FC236}">
                <a16:creationId xmlns:a16="http://schemas.microsoft.com/office/drawing/2014/main" id="{23B2FE92-1E46-4520-837D-D78EE5695EA7}"/>
              </a:ext>
            </a:extLst>
          </p:cNvPr>
          <p:cNvSpPr>
            <a:spLocks xmlns:a="http://schemas.openxmlformats.org/drawingml/2006/main" noGrp="1"/>
          </p:cNvSpPr>
          <p:nvPr/>
        </p:nvSpPr>
        <p:spPr>
          <a:xfrm xmlns:a="http://schemas.openxmlformats.org/drawingml/2006/main">
            <a:off x="647700" y="3943350"/>
            <a:ext cx="10896600" cy="1028700"/>
          </a:xfrm>
          <a:prstGeom xmlns:a="http://schemas.openxmlformats.org/drawingml/2006/main" prst="roundRect">
            <a:avLst>
              <a:gd name="adj" fmla="val 7407"/>
            </a:avLst>
          </a:prstGeom>
          <a:solidFill xmlns:a="http://schemas.openxmlformats.org/drawingml/2006/main">
            <a:srgbClr val="E6F4F1"/>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98CAE5F9-E538-471A-B95F-14F995CF7346}"/>
              </a:ext>
            </a:extLst>
          </p:cNvPr>
          <p:cNvSpPr>
            <a:spLocks xmlns:a="http://schemas.openxmlformats.org/drawingml/2006/main" noGrp="1"/>
          </p:cNvSpPr>
          <p:nvPr/>
        </p:nvSpPr>
        <p:spPr>
          <a:xfrm xmlns:a="http://schemas.openxmlformats.org/drawingml/2006/main">
            <a:off x="876300" y="414337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650" b="1">
                <a:solidFill>
                  <a:srgbClr val="0B2A3C"/>
                </a:solidFill>
                <a:latin typeface="Arial"/>
                <a:ea typeface="Arial"/>
                <a:cs typeface="Arial"/>
              </a:defRPr>
            </a:pPr>
            <a:r>
              <a:rPr sz="1650" b="1">
                <a:solidFill>
                  <a:srgbClr val="0B2A3C"/>
                </a:solidFill>
                <a:latin typeface="Segoe UI"/>
                <a:ea typeface="Segoe UI"/>
                <a:cs typeface="Segoe UI"/>
              </a:rPr>
              <a:t>No medication recommendation, diagnosis, triage action, or patient alert is validated.</a:t>
            </a:r>
          </a:p>
        </p:txBody>
      </p:sp>
      <p:sp>
        <p:nvSpPr>
          <p:cNvPr id="20" name="">
            <a:extLst xmlns:a="http://schemas.openxmlformats.org/drawingml/2006/main">
              <a:ext uri="{FF2B5EF4-FFF2-40B4-BE49-F238E27FC236}">
                <a16:creationId xmlns:a16="http://schemas.microsoft.com/office/drawing/2014/main" id="{4C709E01-83AF-47BE-8887-A8DB1678E161}"/>
              </a:ext>
            </a:extLst>
          </p:cNvPr>
          <p:cNvSpPr>
            <a:spLocks xmlns:a="http://schemas.openxmlformats.org/drawingml/2006/main" noGrp="1"/>
          </p:cNvSpPr>
          <p:nvPr/>
        </p:nvSpPr>
        <p:spPr>
          <a:xfrm xmlns:a="http://schemas.openxmlformats.org/drawingml/2006/main">
            <a:off x="876300" y="449580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75" b="0">
                <a:solidFill>
                  <a:srgbClr val="0B2A3C"/>
                </a:solidFill>
                <a:latin typeface="Arial"/>
                <a:ea typeface="Arial"/>
                <a:cs typeface="Arial"/>
              </a:defRPr>
            </a:pPr>
            <a:r>
              <a:rPr sz="1400" b="0">
                <a:solidFill>
                  <a:srgbClr val="0B2A3C"/>
                </a:solidFill>
                <a:latin typeface="Calibri"/>
                <a:ea typeface="Calibri"/>
                <a:cs typeface="Calibri"/>
              </a:rPr>
              <a:t>The “alert” is a research interface concept only.</a:t>
            </a:r>
          </a:p>
        </p:txBody>
      </p:sp>
      <p:sp>
        <p:nvSpPr>
          <p:cNvPr id="21" name="">
            <a:extLst xmlns:a="http://schemas.openxmlformats.org/drawingml/2006/main">
              <a:ext uri="{FF2B5EF4-FFF2-40B4-BE49-F238E27FC236}">
                <a16:creationId xmlns:a16="http://schemas.microsoft.com/office/drawing/2014/main" id="{17FDB7F1-34C1-4716-8782-409A4EEE3A1A}"/>
              </a:ext>
            </a:extLst>
          </p:cNvPr>
          <p:cNvSpPr>
            <a:spLocks xmlns:a="http://schemas.openxmlformats.org/drawingml/2006/main" noGrp="1"/>
          </p:cNvSpPr>
          <p:nvPr/>
        </p:nvSpPr>
        <p:spPr>
          <a:xfrm xmlns:a="http://schemas.openxmlformats.org/drawingml/2006/main">
            <a:off x="647700" y="53816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350" b="0">
                <a:solidFill>
                  <a:srgbClr val="5B6B76"/>
                </a:solidFill>
                <a:latin typeface="Arial"/>
                <a:ea typeface="Arial"/>
                <a:cs typeface="Arial"/>
              </a:defRPr>
            </a:pPr>
            <a:r>
              <a:rPr sz="1400" b="0">
                <a:solidFill>
                  <a:srgbClr val="5B6B76"/>
                </a:solidFill>
                <a:latin typeface="Calibri"/>
                <a:ea typeface="Calibri"/>
                <a:cs typeface="Calibri"/>
              </a:rPr>
              <a:t>180 mg/dL is a common CGM upper-range boundary; this project does not validate a 2-hour intervention window.</a:t>
            </a:r>
          </a:p>
        </p:txBody>
      </p:sp>
    </p:spTree>
    <p:extLst>
      <p:ext uri="{BB962C8B-B14F-4D97-AF65-F5344CB8AC3E}">
        <p14:creationId xmlns:p14="http://schemas.microsoft.com/office/powerpoint/2010/main" val="1517321531"/>
      </p:ext>
    </p:extLst>
  </p:cSld>
</p:sld>
</file>

<file path=ppt/slides/slide3.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1E3AB40-9E5E-4361-BE52-CD06C5B7793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118E47BB-E646-45C0-B6D3-BFCEA6B336D1}"/>
              </a:ext>
            </a:extLst>
          </p:cNvPr>
          <p:cNvSpPr>
            <a:spLocks xmlns:a="http://schemas.openxmlformats.org/drawingml/2006/main" noGrp="1"/>
          </p:cNvSpPr>
          <p:nvPr/>
        </p:nvSpPr>
        <p:spPr>
          <a:xfrm xmlns:a="http://schemas.openxmlformats.org/drawingml/2006/main">
            <a:off x="647700" y="2857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75" b="1">
                <a:solidFill>
                  <a:srgbClr val="0F8B8D"/>
                </a:solidFill>
                <a:latin typeface="Arial"/>
                <a:ea typeface="Arial"/>
                <a:cs typeface="Arial"/>
              </a:defRPr>
            </a:pPr>
            <a:r>
              <a:rPr sz="1100" b="1">
                <a:solidFill>
                  <a:srgbClr val="0F8B8D"/>
                </a:solidFill>
                <a:latin typeface="Segoe UI"/>
                <a:ea typeface="Segoe UI"/>
                <a:cs typeface="Segoe UI"/>
              </a:rPr>
              <a:t>GLYCOTWIN  /  RESEARCH PROTOTYPE</a:t>
            </a:r>
          </a:p>
        </p:txBody>
      </p:sp>
      <p:sp>
        <p:nvSpPr>
          <p:cNvPr id="3" name="">
            <a:extLst xmlns:a="http://schemas.openxmlformats.org/drawingml/2006/main">
              <a:ext uri="{FF2B5EF4-FFF2-40B4-BE49-F238E27FC236}">
                <a16:creationId xmlns:a16="http://schemas.microsoft.com/office/drawing/2014/main" id="{BB6A5088-56B3-469A-85B8-6BA7D99D2578}"/>
              </a:ext>
            </a:extLst>
          </p:cNvPr>
          <p:cNvSpPr>
            <a:spLocks xmlns:a="http://schemas.openxmlformats.org/drawingml/2006/main" noGrp="1"/>
          </p:cNvSpPr>
          <p:nvPr/>
        </p:nvSpPr>
        <p:spPr>
          <a:xfrm xmlns:a="http://schemas.openxmlformats.org/drawingml/2006/main">
            <a:off x="647700" y="5524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2550" b="1">
                <a:solidFill>
                  <a:srgbClr val="0B2A3C"/>
                </a:solidFill>
                <a:latin typeface="Arial"/>
                <a:ea typeface="Arial"/>
                <a:cs typeface="Arial"/>
              </a:defRPr>
            </a:pPr>
            <a:r>
              <a:rPr sz="2550" b="1">
                <a:solidFill>
                  <a:srgbClr val="0B2A3C"/>
                </a:solidFill>
                <a:latin typeface="Segoe UI"/>
                <a:ea typeface="Segoe UI"/>
                <a:cs typeface="Segoe UI"/>
              </a:rPr>
              <a:t>The method may transfer; these results do not</a:t>
            </a:r>
          </a:p>
        </p:txBody>
      </p:sp>
      <p:sp>
        <p:nvSpPr>
          <p:cNvPr id="4" name="">
            <a:extLst xmlns:a="http://schemas.openxmlformats.org/drawingml/2006/main">
              <a:ext uri="{FF2B5EF4-FFF2-40B4-BE49-F238E27FC236}">
                <a16:creationId xmlns:a16="http://schemas.microsoft.com/office/drawing/2014/main" id="{3FFFA356-EC3C-45F5-B9EE-6BF98397AC40}"/>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line">
            <a:avLst/>
          </a:prstGeom>
          <a:solidFill xmlns:a="http://schemas.openxmlformats.org/drawingml/2006/main">
            <a:srgbClr val="D5DEE2"/>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886EA39B-ECF1-4D2C-AB37-A59380213B46}"/>
              </a:ext>
            </a:extLst>
          </p:cNvPr>
          <p:cNvSpPr>
            <a:spLocks xmlns:a="http://schemas.openxmlformats.org/drawingml/2006/main" noGrp="1"/>
          </p:cNvSpPr>
          <p:nvPr/>
        </p:nvSpPr>
        <p:spPr>
          <a:xfrm xmlns:a="http://schemas.openxmlformats.org/drawingml/2006/main">
            <a:off x="647700" y="64960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00" b="0">
                <a:solidFill>
                  <a:srgbClr val="5B6B76"/>
                </a:solidFill>
                <a:latin typeface="Arial"/>
                <a:ea typeface="Arial"/>
                <a:cs typeface="Arial"/>
              </a:defRPr>
            </a:pPr>
            <a:r>
              <a:rPr sz="1100" b="0">
                <a:solidFill>
                  <a:srgbClr val="5B6B76"/>
                </a:solidFill>
                <a:latin typeface="Calibri"/>
                <a:ea typeface="Calibri"/>
                <a:cs typeface="Calibri"/>
              </a:rPr>
              <a:t>CGMacros retrospective PoC  •  not for clinical use</a:t>
            </a:r>
          </a:p>
        </p:txBody>
      </p:sp>
      <p:sp>
        <p:nvSpPr>
          <p:cNvPr id="6" name="">
            <a:extLst xmlns:a="http://schemas.openxmlformats.org/drawingml/2006/main">
              <a:ext uri="{FF2B5EF4-FFF2-40B4-BE49-F238E27FC236}">
                <a16:creationId xmlns:a16="http://schemas.microsoft.com/office/drawing/2014/main" id="{6929C4DB-C993-4F6A-AE8D-3338338741F2}"/>
              </a:ext>
            </a:extLst>
          </p:cNvPr>
          <p:cNvSpPr>
            <a:spLocks xmlns:a="http://schemas.openxmlformats.org/drawingml/2006/main" noGrp="1"/>
          </p:cNvSpPr>
          <p:nvPr/>
        </p:nvSpPr>
        <p:spPr>
          <a:xfrm xmlns:a="http://schemas.openxmlformats.org/drawingml/2006/main">
            <a:off x="666750" y="1428750"/>
            <a:ext cx="3840480" cy="285750"/>
          </a:xfrm>
          <a:prstGeom xmlns:a="http://schemas.openxmlformats.org/drawingml/2006/main" prst="roundRect">
            <a:avLst>
              <a:gd name="adj" fmla="val 26667"/>
            </a:avLst>
          </a:prstGeom>
          <a:solidFill xmlns:a="http://schemas.openxmlformats.org/drawingml/2006/main">
            <a:srgbClr val="E6F4F1"/>
          </a:solidFill>
          <a:ln xmlns:a="http://schemas.openxmlformats.org/drawingml/2006/main" w="9525">
            <a:solidFill>
              <a:srgbClr val="E6F4F1"/>
            </a:solidFill>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A64DC78F-946E-4C5A-88B2-FE809A2B0389}"/>
              </a:ext>
            </a:extLst>
          </p:cNvPr>
          <p:cNvSpPr>
            <a:spLocks xmlns:a="http://schemas.openxmlformats.org/drawingml/2006/main" noGrp="1"/>
          </p:cNvSpPr>
          <p:nvPr/>
        </p:nvSpPr>
        <p:spPr>
          <a:xfrm xmlns:a="http://schemas.openxmlformats.org/drawingml/2006/main">
            <a:off x="742950" y="1447800"/>
            <a:ext cx="384048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975" b="1">
                <a:solidFill>
                  <a:srgbClr val="0B2A3C"/>
                </a:solidFill>
                <a:latin typeface="Arial"/>
                <a:ea typeface="Arial"/>
                <a:cs typeface="Arial"/>
              </a:defRPr>
            </a:pPr>
            <a:r>
              <a:rPr sz="1400" b="1">
                <a:solidFill>
                  <a:srgbClr val="0B2A3C"/>
                </a:solidFill>
                <a:latin typeface="Segoe UI"/>
                <a:ea typeface="Segoe UI"/>
                <a:cs typeface="Segoe UI"/>
              </a:rPr>
              <a:t>SOURCE COHORT: UNITED STATES</a:t>
            </a:r>
          </a:p>
        </p:txBody>
      </p:sp>
      <p:sp>
        <p:nvSpPr>
          <p:cNvPr id="8" name="">
            <a:extLst xmlns:a="http://schemas.openxmlformats.org/drawingml/2006/main">
              <a:ext uri="{FF2B5EF4-FFF2-40B4-BE49-F238E27FC236}">
                <a16:creationId xmlns:a16="http://schemas.microsoft.com/office/drawing/2014/main" id="{DDDCE6D6-2362-4C6F-8EEA-C8BF000BCA5E}"/>
              </a:ext>
            </a:extLst>
          </p:cNvPr>
          <p:cNvSpPr>
            <a:spLocks xmlns:a="http://schemas.openxmlformats.org/drawingml/2006/main" noGrp="1"/>
          </p:cNvSpPr>
          <p:nvPr/>
        </p:nvSpPr>
        <p:spPr>
          <a:xfrm xmlns:a="http://schemas.openxmlformats.org/drawingml/2006/main">
            <a:off x="666750" y="2028825"/>
            <a:ext cx="1952625" cy="1280160"/>
          </a:xfrm>
          <a:prstGeom xmlns:a="http://schemas.openxmlformats.org/drawingml/2006/main" prst="roundRect">
            <a:avLst>
              <a:gd name="adj" fmla="val 6957"/>
            </a:avLst>
          </a:prstGeom>
          <a:solidFill xmlns:a="http://schemas.openxmlformats.org/drawingml/2006/main">
            <a:srgbClr val="E6F4F1"/>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C555AEC1-C957-4E91-9E90-378F3E100127}"/>
              </a:ext>
            </a:extLst>
          </p:cNvPr>
          <p:cNvSpPr>
            <a:spLocks xmlns:a="http://schemas.openxmlformats.org/drawingml/2006/main" noGrp="1"/>
          </p:cNvSpPr>
          <p:nvPr/>
        </p:nvSpPr>
        <p:spPr>
          <a:xfrm xmlns:a="http://schemas.openxmlformats.org/drawingml/2006/main">
            <a:off x="809625" y="2152650"/>
            <a:ext cx="1666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2250" b="1">
                <a:solidFill>
                  <a:srgbClr val="0F8B8D"/>
                </a:solidFill>
                <a:latin typeface="Arial"/>
                <a:ea typeface="Arial"/>
                <a:cs typeface="Arial"/>
              </a:defRPr>
            </a:pPr>
            <a:r>
              <a:rPr sz="2250" b="1">
                <a:solidFill>
                  <a:srgbClr val="0F8B8D"/>
                </a:solidFill>
                <a:latin typeface="Consolas"/>
                <a:ea typeface="Consolas"/>
                <a:cs typeface="Consolas"/>
              </a:rPr>
              <a:t>45</a:t>
            </a:r>
          </a:p>
        </p:txBody>
      </p:sp>
      <p:sp>
        <p:nvSpPr>
          <p:cNvPr id="10" name="">
            <a:extLst xmlns:a="http://schemas.openxmlformats.org/drawingml/2006/main">
              <a:ext uri="{FF2B5EF4-FFF2-40B4-BE49-F238E27FC236}">
                <a16:creationId xmlns:a16="http://schemas.microsoft.com/office/drawing/2014/main" id="{84FC44B8-62A5-40F6-ABD8-03877F734B1A}"/>
              </a:ext>
            </a:extLst>
          </p:cNvPr>
          <p:cNvSpPr>
            <a:spLocks xmlns:a="http://schemas.openxmlformats.org/drawingml/2006/main" noGrp="1"/>
          </p:cNvSpPr>
          <p:nvPr/>
        </p:nvSpPr>
        <p:spPr>
          <a:xfrm xmlns:a="http://schemas.openxmlformats.org/drawingml/2006/main">
            <a:off x="809625" y="2609850"/>
            <a:ext cx="1666875"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050" b="1">
                <a:solidFill>
                  <a:srgbClr val="5B6B76"/>
                </a:solidFill>
                <a:latin typeface="Arial"/>
                <a:ea typeface="Arial"/>
                <a:cs typeface="Arial"/>
              </a:defRPr>
            </a:pPr>
            <a:r>
              <a:rPr sz="1400" b="1">
                <a:solidFill>
                  <a:srgbClr val="5B6B76"/>
                </a:solidFill>
                <a:latin typeface="Segoe UI"/>
                <a:ea typeface="Segoe UI"/>
                <a:cs typeface="Segoe UI"/>
              </a:rPr>
              <a:t>participants</a:t>
            </a:r>
          </a:p>
        </p:txBody>
      </p:sp>
      <p:sp>
        <p:nvSpPr>
          <p:cNvPr id="11" name="">
            <a:extLst xmlns:a="http://schemas.openxmlformats.org/drawingml/2006/main">
              <a:ext uri="{FF2B5EF4-FFF2-40B4-BE49-F238E27FC236}">
                <a16:creationId xmlns:a16="http://schemas.microsoft.com/office/drawing/2014/main" id="{A8AB68E0-FCC6-4605-8ADB-25939EC90CC0}"/>
              </a:ext>
            </a:extLst>
          </p:cNvPr>
          <p:cNvSpPr>
            <a:spLocks xmlns:a="http://schemas.openxmlformats.org/drawingml/2006/main" noGrp="1"/>
          </p:cNvSpPr>
          <p:nvPr/>
        </p:nvSpPr>
        <p:spPr>
          <a:xfrm xmlns:a="http://schemas.openxmlformats.org/drawingml/2006/main">
            <a:off x="2838450" y="2028825"/>
            <a:ext cx="1952625" cy="1280160"/>
          </a:xfrm>
          <a:prstGeom xmlns:a="http://schemas.openxmlformats.org/drawingml/2006/main" prst="roundRect">
            <a:avLst>
              <a:gd name="adj" fmla="val 6957"/>
            </a:avLst>
          </a:prstGeom>
          <a:solidFill xmlns:a="http://schemas.openxmlformats.org/drawingml/2006/main">
            <a:srgbClr val="E6F4F1"/>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2" name="">
            <a:extLst xmlns:a="http://schemas.openxmlformats.org/drawingml/2006/main">
              <a:ext uri="{FF2B5EF4-FFF2-40B4-BE49-F238E27FC236}">
                <a16:creationId xmlns:a16="http://schemas.microsoft.com/office/drawing/2014/main" id="{6454F6F4-92DA-4963-826C-97D86226584F}"/>
              </a:ext>
            </a:extLst>
          </p:cNvPr>
          <p:cNvSpPr>
            <a:spLocks xmlns:a="http://schemas.openxmlformats.org/drawingml/2006/main" noGrp="1"/>
          </p:cNvSpPr>
          <p:nvPr/>
        </p:nvSpPr>
        <p:spPr>
          <a:xfrm xmlns:a="http://schemas.openxmlformats.org/drawingml/2006/main">
            <a:off x="2981325" y="2029968"/>
            <a:ext cx="1666875"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buNone/>
            </a:pPr>
            <a:r>
              <a:rPr sz="1400">
                <a:latin typeface="Calibri"/>
                <a:ea typeface="Calibri"/>
                <a:cs typeface="Calibri"/>
              </a:rPr>
              <a:t>~10d avg; &lt;=19d max</a:t>
            </a:r>
          </a:p>
        </p:txBody>
      </p:sp>
      <p:sp>
        <p:nvSpPr>
          <p:cNvPr id="13" name="">
            <a:extLst xmlns:a="http://schemas.openxmlformats.org/drawingml/2006/main">
              <a:ext uri="{FF2B5EF4-FFF2-40B4-BE49-F238E27FC236}">
                <a16:creationId xmlns:a16="http://schemas.microsoft.com/office/drawing/2014/main" id="{38610527-93C0-4083-9093-7B3E8654ABAD}"/>
              </a:ext>
            </a:extLst>
          </p:cNvPr>
          <p:cNvSpPr>
            <a:spLocks xmlns:a="http://schemas.openxmlformats.org/drawingml/2006/main" noGrp="1"/>
          </p:cNvSpPr>
          <p:nvPr/>
        </p:nvSpPr>
        <p:spPr>
          <a:xfrm xmlns:a="http://schemas.openxmlformats.org/drawingml/2006/main">
            <a:off x="2981325" y="2609850"/>
            <a:ext cx="1666875"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050" b="1">
                <a:solidFill>
                  <a:srgbClr val="5B6B76"/>
                </a:solidFill>
                <a:latin typeface="Arial"/>
                <a:ea typeface="Arial"/>
                <a:cs typeface="Arial"/>
              </a:defRPr>
            </a:pPr>
            <a:r>
              <a:rPr sz="1400" b="1">
                <a:solidFill>
                  <a:srgbClr val="5B6B76"/>
                </a:solidFill>
                <a:latin typeface="Segoe UI"/>
                <a:ea typeface="Segoe UI"/>
                <a:cs typeface="Segoe UI"/>
              </a:rPr>
              <a:t>multimodal records</a:t>
            </a:r>
          </a:p>
        </p:txBody>
      </p:sp>
      <p:sp>
        <p:nvSpPr>
          <p:cNvPr id="14" name="">
            <a:extLst xmlns:a="http://schemas.openxmlformats.org/drawingml/2006/main">
              <a:ext uri="{FF2B5EF4-FFF2-40B4-BE49-F238E27FC236}">
                <a16:creationId xmlns:a16="http://schemas.microsoft.com/office/drawing/2014/main" id="{9DE33AAC-0C8E-4404-876F-BDF6429408A8}"/>
              </a:ext>
            </a:extLst>
          </p:cNvPr>
          <p:cNvSpPr>
            <a:spLocks xmlns:a="http://schemas.openxmlformats.org/drawingml/2006/main" noGrp="1"/>
          </p:cNvSpPr>
          <p:nvPr/>
        </p:nvSpPr>
        <p:spPr>
          <a:xfrm xmlns:a="http://schemas.openxmlformats.org/drawingml/2006/main">
            <a:off x="5010150" y="2028825"/>
            <a:ext cx="1952625" cy="1280160"/>
          </a:xfrm>
          <a:prstGeom xmlns:a="http://schemas.openxmlformats.org/drawingml/2006/main" prst="roundRect">
            <a:avLst>
              <a:gd name="adj" fmla="val 6957"/>
            </a:avLst>
          </a:prstGeom>
          <a:solidFill xmlns:a="http://schemas.openxmlformats.org/drawingml/2006/main">
            <a:srgbClr val="E6F4F1"/>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5" name="">
            <a:extLst xmlns:a="http://schemas.openxmlformats.org/drawingml/2006/main">
              <a:ext uri="{FF2B5EF4-FFF2-40B4-BE49-F238E27FC236}">
                <a16:creationId xmlns:a16="http://schemas.microsoft.com/office/drawing/2014/main" id="{234708CC-1EF2-4224-A0F7-5A0412F7F796}"/>
              </a:ext>
            </a:extLst>
          </p:cNvPr>
          <p:cNvSpPr>
            <a:spLocks xmlns:a="http://schemas.openxmlformats.org/drawingml/2006/main" noGrp="1"/>
          </p:cNvSpPr>
          <p:nvPr/>
        </p:nvSpPr>
        <p:spPr>
          <a:xfrm xmlns:a="http://schemas.openxmlformats.org/drawingml/2006/main">
            <a:off x="5153025" y="2152650"/>
            <a:ext cx="1666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2250" b="1">
                <a:solidFill>
                  <a:srgbClr val="0F8B8D"/>
                </a:solidFill>
                <a:latin typeface="Arial"/>
                <a:ea typeface="Arial"/>
                <a:cs typeface="Arial"/>
              </a:defRPr>
            </a:pPr>
            <a:r>
              <a:rPr sz="2250" b="1">
                <a:solidFill>
                  <a:srgbClr val="0F8B8D"/>
                </a:solidFill>
                <a:latin typeface="Consolas"/>
                <a:ea typeface="Consolas"/>
                <a:cs typeface="Consolas"/>
              </a:rPr>
              <a:t>14</a:t>
            </a:r>
          </a:p>
        </p:txBody>
      </p:sp>
      <p:sp>
        <p:nvSpPr>
          <p:cNvPr id="16" name="">
            <a:extLst xmlns:a="http://schemas.openxmlformats.org/drawingml/2006/main">
              <a:ext uri="{FF2B5EF4-FFF2-40B4-BE49-F238E27FC236}">
                <a16:creationId xmlns:a16="http://schemas.microsoft.com/office/drawing/2014/main" id="{9A5D8AF4-27F9-44E1-A607-A55F883932BC}"/>
              </a:ext>
            </a:extLst>
          </p:cNvPr>
          <p:cNvSpPr>
            <a:spLocks xmlns:a="http://schemas.openxmlformats.org/drawingml/2006/main" noGrp="1"/>
          </p:cNvSpPr>
          <p:nvPr/>
        </p:nvSpPr>
        <p:spPr>
          <a:xfrm xmlns:a="http://schemas.openxmlformats.org/drawingml/2006/main">
            <a:off x="5153025" y="2609850"/>
            <a:ext cx="1666875"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050" b="1">
                <a:solidFill>
                  <a:srgbClr val="5B6B76"/>
                </a:solidFill>
                <a:latin typeface="Arial"/>
                <a:ea typeface="Arial"/>
                <a:cs typeface="Arial"/>
              </a:defRPr>
            </a:pPr>
            <a:r>
              <a:rPr sz="1400" b="1">
                <a:solidFill>
                  <a:srgbClr val="5B6B76"/>
                </a:solidFill>
                <a:latin typeface="Segoe UI"/>
                <a:ea typeface="Segoe UI"/>
                <a:cs typeface="Segoe UI"/>
              </a:rPr>
              <a:t>diabetes-range HbA1c</a:t>
            </a:r>
          </a:p>
        </p:txBody>
      </p:sp>
      <p:sp>
        <p:nvSpPr>
          <p:cNvPr id="17" name="">
            <a:extLst xmlns:a="http://schemas.openxmlformats.org/drawingml/2006/main">
              <a:ext uri="{FF2B5EF4-FFF2-40B4-BE49-F238E27FC236}">
                <a16:creationId xmlns:a16="http://schemas.microsoft.com/office/drawing/2014/main" id="{29E8FB36-D2F2-4783-BAED-AF6AFEA24207}"/>
              </a:ext>
            </a:extLst>
          </p:cNvPr>
          <p:cNvSpPr>
            <a:spLocks xmlns:a="http://schemas.openxmlformats.org/drawingml/2006/main" noGrp="1"/>
          </p:cNvSpPr>
          <p:nvPr/>
        </p:nvSpPr>
        <p:spPr>
          <a:xfrm xmlns:a="http://schemas.openxmlformats.org/drawingml/2006/main">
            <a:off x="7181850" y="2028825"/>
            <a:ext cx="1952625" cy="1280160"/>
          </a:xfrm>
          <a:prstGeom xmlns:a="http://schemas.openxmlformats.org/drawingml/2006/main" prst="roundRect">
            <a:avLst>
              <a:gd name="adj" fmla="val 6957"/>
            </a:avLst>
          </a:prstGeom>
          <a:solidFill xmlns:a="http://schemas.openxmlformats.org/drawingml/2006/main">
            <a:srgbClr val="E6F4F1"/>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3ECE11AF-EC8C-4FB4-A4CA-A2F187B73DAF}"/>
              </a:ext>
            </a:extLst>
          </p:cNvPr>
          <p:cNvSpPr>
            <a:spLocks xmlns:a="http://schemas.openxmlformats.org/drawingml/2006/main" noGrp="1"/>
          </p:cNvSpPr>
          <p:nvPr/>
        </p:nvSpPr>
        <p:spPr>
          <a:xfrm xmlns:a="http://schemas.openxmlformats.org/drawingml/2006/main">
            <a:off x="7324725" y="2152650"/>
            <a:ext cx="1666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2250" b="1">
                <a:solidFill>
                  <a:srgbClr val="0F8B8D"/>
                </a:solidFill>
                <a:latin typeface="Arial"/>
                <a:ea typeface="Arial"/>
                <a:cs typeface="Arial"/>
              </a:defRPr>
            </a:pPr>
            <a:r>
              <a:rPr sz="2250" b="1">
                <a:solidFill>
                  <a:srgbClr val="0F8B8D"/>
                </a:solidFill>
                <a:latin typeface="Consolas"/>
                <a:ea typeface="Consolas"/>
                <a:cs typeface="Consolas"/>
              </a:rPr>
              <a:t>16</a:t>
            </a:r>
          </a:p>
        </p:txBody>
      </p:sp>
      <p:sp>
        <p:nvSpPr>
          <p:cNvPr id="19" name="">
            <a:extLst xmlns:a="http://schemas.openxmlformats.org/drawingml/2006/main">
              <a:ext uri="{FF2B5EF4-FFF2-40B4-BE49-F238E27FC236}">
                <a16:creationId xmlns:a16="http://schemas.microsoft.com/office/drawing/2014/main" id="{8D6C5E8F-DA31-466E-B645-7D76D9213B6E}"/>
              </a:ext>
            </a:extLst>
          </p:cNvPr>
          <p:cNvSpPr>
            <a:spLocks xmlns:a="http://schemas.openxmlformats.org/drawingml/2006/main" noGrp="1"/>
          </p:cNvSpPr>
          <p:nvPr/>
        </p:nvSpPr>
        <p:spPr>
          <a:xfrm xmlns:a="http://schemas.openxmlformats.org/drawingml/2006/main">
            <a:off x="7324725" y="2609850"/>
            <a:ext cx="1666875"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050" b="1">
                <a:solidFill>
                  <a:srgbClr val="5B6B76"/>
                </a:solidFill>
                <a:latin typeface="Arial"/>
                <a:ea typeface="Arial"/>
                <a:cs typeface="Arial"/>
              </a:defRPr>
            </a:pPr>
            <a:r>
              <a:rPr sz="1400" b="1">
                <a:solidFill>
                  <a:srgbClr val="5B6B76"/>
                </a:solidFill>
                <a:latin typeface="Segoe UI"/>
                <a:ea typeface="Segoe UI"/>
                <a:cs typeface="Segoe UI"/>
              </a:rPr>
              <a:t>prediabetes-range HbA1c</a:t>
            </a:r>
          </a:p>
        </p:txBody>
      </p:sp>
      <p:sp>
        <p:nvSpPr>
          <p:cNvPr id="20" name="">
            <a:extLst xmlns:a="http://schemas.openxmlformats.org/drawingml/2006/main">
              <a:ext uri="{FF2B5EF4-FFF2-40B4-BE49-F238E27FC236}">
                <a16:creationId xmlns:a16="http://schemas.microsoft.com/office/drawing/2014/main" id="{1F45D351-1D6B-4B55-91AC-2EDBB28F318C}"/>
              </a:ext>
            </a:extLst>
          </p:cNvPr>
          <p:cNvSpPr>
            <a:spLocks xmlns:a="http://schemas.openxmlformats.org/drawingml/2006/main" noGrp="1"/>
          </p:cNvSpPr>
          <p:nvPr/>
        </p:nvSpPr>
        <p:spPr>
          <a:xfrm xmlns:a="http://schemas.openxmlformats.org/drawingml/2006/main">
            <a:off x="9353550" y="2028825"/>
            <a:ext cx="1952625" cy="1280160"/>
          </a:xfrm>
          <a:prstGeom xmlns:a="http://schemas.openxmlformats.org/drawingml/2006/main" prst="roundRect">
            <a:avLst>
              <a:gd name="adj" fmla="val 6957"/>
            </a:avLst>
          </a:prstGeom>
          <a:solidFill xmlns:a="http://schemas.openxmlformats.org/drawingml/2006/main">
            <a:srgbClr val="E6F4F1"/>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21" name="">
            <a:extLst xmlns:a="http://schemas.openxmlformats.org/drawingml/2006/main">
              <a:ext uri="{FF2B5EF4-FFF2-40B4-BE49-F238E27FC236}">
                <a16:creationId xmlns:a16="http://schemas.microsoft.com/office/drawing/2014/main" id="{0A29B30E-893E-4F74-925B-4920DB6ECC07}"/>
              </a:ext>
            </a:extLst>
          </p:cNvPr>
          <p:cNvSpPr>
            <a:spLocks xmlns:a="http://schemas.openxmlformats.org/drawingml/2006/main" noGrp="1"/>
          </p:cNvSpPr>
          <p:nvPr/>
        </p:nvSpPr>
        <p:spPr>
          <a:xfrm xmlns:a="http://schemas.openxmlformats.org/drawingml/2006/main">
            <a:off x="9496425" y="2152650"/>
            <a:ext cx="1666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2250" b="1">
                <a:solidFill>
                  <a:srgbClr val="0F8B8D"/>
                </a:solidFill>
                <a:latin typeface="Arial"/>
                <a:ea typeface="Arial"/>
                <a:cs typeface="Arial"/>
              </a:defRPr>
            </a:pPr>
            <a:r>
              <a:rPr sz="2250" b="1">
                <a:solidFill>
                  <a:srgbClr val="0F8B8D"/>
                </a:solidFill>
                <a:latin typeface="Consolas"/>
                <a:ea typeface="Consolas"/>
                <a:cs typeface="Consolas"/>
              </a:rPr>
              <a:t>15</a:t>
            </a:r>
          </a:p>
        </p:txBody>
      </p:sp>
      <p:sp>
        <p:nvSpPr>
          <p:cNvPr id="22" name="">
            <a:extLst xmlns:a="http://schemas.openxmlformats.org/drawingml/2006/main">
              <a:ext uri="{FF2B5EF4-FFF2-40B4-BE49-F238E27FC236}">
                <a16:creationId xmlns:a16="http://schemas.microsoft.com/office/drawing/2014/main" id="{C0B14713-A667-4CFF-8B26-8DFC83036F67}"/>
              </a:ext>
            </a:extLst>
          </p:cNvPr>
          <p:cNvSpPr>
            <a:spLocks xmlns:a="http://schemas.openxmlformats.org/drawingml/2006/main" noGrp="1"/>
          </p:cNvSpPr>
          <p:nvPr/>
        </p:nvSpPr>
        <p:spPr>
          <a:xfrm xmlns:a="http://schemas.openxmlformats.org/drawingml/2006/main">
            <a:off x="9496425" y="2609850"/>
            <a:ext cx="1666875"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050" b="1">
                <a:solidFill>
                  <a:srgbClr val="5B6B76"/>
                </a:solidFill>
                <a:latin typeface="Arial"/>
                <a:ea typeface="Arial"/>
                <a:cs typeface="Arial"/>
              </a:defRPr>
            </a:pPr>
            <a:r>
              <a:rPr sz="1400" b="1">
                <a:solidFill>
                  <a:srgbClr val="5B6B76"/>
                </a:solidFill>
                <a:latin typeface="Segoe UI"/>
                <a:ea typeface="Segoe UI"/>
                <a:cs typeface="Segoe UI"/>
              </a:rPr>
              <a:t>healthy-range HbA1c</a:t>
            </a:r>
          </a:p>
        </p:txBody>
      </p:sp>
      <p:sp>
        <p:nvSpPr>
          <p:cNvPr id="23" name="">
            <a:extLst xmlns:a="http://schemas.openxmlformats.org/drawingml/2006/main">
              <a:ext uri="{FF2B5EF4-FFF2-40B4-BE49-F238E27FC236}">
                <a16:creationId xmlns:a16="http://schemas.microsoft.com/office/drawing/2014/main" id="{864C21B0-2E32-4E03-AD7B-FB8ABB9DC2DE}"/>
              </a:ext>
            </a:extLst>
          </p:cNvPr>
          <p:cNvSpPr>
            <a:spLocks xmlns:a="http://schemas.openxmlformats.org/drawingml/2006/main" noGrp="1"/>
          </p:cNvSpPr>
          <p:nvPr/>
        </p:nvSpPr>
        <p:spPr>
          <a:xfrm xmlns:a="http://schemas.openxmlformats.org/drawingml/2006/main">
            <a:off x="666750" y="3543300"/>
            <a:ext cx="5095875" cy="1685925"/>
          </a:xfrm>
          <a:prstGeom xmlns:a="http://schemas.openxmlformats.org/drawingml/2006/main" prst="roundRect">
            <a:avLst>
              <a:gd name="adj" fmla="val 4520"/>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24" name="">
            <a:extLst xmlns:a="http://schemas.openxmlformats.org/drawingml/2006/main">
              <a:ext uri="{FF2B5EF4-FFF2-40B4-BE49-F238E27FC236}">
                <a16:creationId xmlns:a16="http://schemas.microsoft.com/office/drawing/2014/main" id="{9978A290-19F6-472F-84B1-8DEA8B7BCFE6}"/>
              </a:ext>
            </a:extLst>
          </p:cNvPr>
          <p:cNvSpPr>
            <a:spLocks xmlns:a="http://schemas.openxmlformats.org/drawingml/2006/main" noGrp="1"/>
          </p:cNvSpPr>
          <p:nvPr/>
        </p:nvSpPr>
        <p:spPr>
          <a:xfrm xmlns:a="http://schemas.openxmlformats.org/drawingml/2006/main">
            <a:off x="666750" y="3543300"/>
            <a:ext cx="66675" cy="1685925"/>
          </a:xfrm>
          <a:prstGeom xmlns:a="http://schemas.openxmlformats.org/drawingml/2006/main" prst="rect">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25" name="">
            <a:extLst xmlns:a="http://schemas.openxmlformats.org/drawingml/2006/main">
              <a:ext uri="{FF2B5EF4-FFF2-40B4-BE49-F238E27FC236}">
                <a16:creationId xmlns:a16="http://schemas.microsoft.com/office/drawing/2014/main" id="{7A7A1FAF-0082-49CA-95BF-3FADB8D74107}"/>
              </a:ext>
            </a:extLst>
          </p:cNvPr>
          <p:cNvSpPr>
            <a:spLocks xmlns:a="http://schemas.openxmlformats.org/drawingml/2006/main" noGrp="1"/>
          </p:cNvSpPr>
          <p:nvPr/>
        </p:nvSpPr>
        <p:spPr>
          <a:xfrm xmlns:a="http://schemas.openxmlformats.org/drawingml/2006/main">
            <a:off x="876300" y="3686175"/>
            <a:ext cx="46958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425" b="1">
                <a:solidFill>
                  <a:srgbClr val="0B2A3C"/>
                </a:solidFill>
                <a:latin typeface="Arial"/>
                <a:ea typeface="Arial"/>
                <a:cs typeface="Arial"/>
              </a:defRPr>
            </a:pPr>
            <a:r>
              <a:rPr sz="1425" b="1">
                <a:solidFill>
                  <a:srgbClr val="0B2A3C"/>
                </a:solidFill>
                <a:latin typeface="Segoe UI"/>
                <a:ea typeface="Segoe UI"/>
                <a:cs typeface="Segoe UI"/>
              </a:rPr>
              <a:t>What can transfer</a:t>
            </a:r>
          </a:p>
        </p:txBody>
      </p:sp>
      <p:sp>
        <p:nvSpPr>
          <p:cNvPr id="26" name="">
            <a:extLst xmlns:a="http://schemas.openxmlformats.org/drawingml/2006/main">
              <a:ext uri="{FF2B5EF4-FFF2-40B4-BE49-F238E27FC236}">
                <a16:creationId xmlns:a16="http://schemas.microsoft.com/office/drawing/2014/main" id="{08A51CCD-EA4D-4400-AE1F-77729EDA583B}"/>
              </a:ext>
            </a:extLst>
          </p:cNvPr>
          <p:cNvSpPr>
            <a:spLocks xmlns:a="http://schemas.openxmlformats.org/drawingml/2006/main" noGrp="1"/>
          </p:cNvSpPr>
          <p:nvPr/>
        </p:nvSpPr>
        <p:spPr>
          <a:xfrm xmlns:a="http://schemas.openxmlformats.org/drawingml/2006/main">
            <a:off x="876300" y="4029075"/>
            <a:ext cx="46958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t">
            <a:noAutofit/>
          </a:bodyPr>
          <a:lstStyle xmlns:a="http://schemas.openxmlformats.org/drawingml/2006/main"/>
          <a:p xmlns:a="http://schemas.openxmlformats.org/drawingml/2006/main">
            <a:pPr algn="l">
              <a:buNone/>
              <a:defRPr sz="1275" b="0">
                <a:solidFill>
                  <a:srgbClr val="0B2A3C"/>
                </a:solidFill>
                <a:latin typeface="Arial"/>
                <a:ea typeface="Arial"/>
                <a:cs typeface="Arial"/>
              </a:defRPr>
            </a:pPr>
            <a:r>
              <a:rPr sz="1400" b="0">
                <a:solidFill>
                  <a:srgbClr val="0B2A3C"/>
                </a:solidFill>
                <a:latin typeface="Calibri"/>
                <a:ea typeface="Calibri"/>
                <a:cs typeface="Calibri"/>
              </a:rPr>
              <a:t>The workflow: align streams by participant and time, fuse available context, forecast a future CGM threshold, and evaluate on held-out people.</a:t>
            </a:r>
          </a:p>
        </p:txBody>
      </p:sp>
      <p:sp>
        <p:nvSpPr>
          <p:cNvPr id="27" name="">
            <a:extLst xmlns:a="http://schemas.openxmlformats.org/drawingml/2006/main">
              <a:ext uri="{FF2B5EF4-FFF2-40B4-BE49-F238E27FC236}">
                <a16:creationId xmlns:a16="http://schemas.microsoft.com/office/drawing/2014/main" id="{8798C0BB-13B3-45A3-A411-DBD4842ED5B7}"/>
              </a:ext>
            </a:extLst>
          </p:cNvPr>
          <p:cNvSpPr>
            <a:spLocks xmlns:a="http://schemas.openxmlformats.org/drawingml/2006/main" noGrp="1"/>
          </p:cNvSpPr>
          <p:nvPr/>
        </p:nvSpPr>
        <p:spPr>
          <a:xfrm xmlns:a="http://schemas.openxmlformats.org/drawingml/2006/main">
            <a:off x="5953125" y="3543300"/>
            <a:ext cx="5572125" cy="1685925"/>
          </a:xfrm>
          <a:prstGeom xmlns:a="http://schemas.openxmlformats.org/drawingml/2006/main" prst="roundRect">
            <a:avLst>
              <a:gd name="adj" fmla="val 4520"/>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99B5DCF2-F473-40F5-B993-58646D17BAAB}"/>
              </a:ext>
            </a:extLst>
          </p:cNvPr>
          <p:cNvSpPr>
            <a:spLocks xmlns:a="http://schemas.openxmlformats.org/drawingml/2006/main" noGrp="1"/>
          </p:cNvSpPr>
          <p:nvPr/>
        </p:nvSpPr>
        <p:spPr>
          <a:xfrm xmlns:a="http://schemas.openxmlformats.org/drawingml/2006/main">
            <a:off x="5953125" y="3543300"/>
            <a:ext cx="66675" cy="1685925"/>
          </a:xfrm>
          <a:prstGeom xmlns:a="http://schemas.openxmlformats.org/drawingml/2006/main" prst="rect">
            <a:avLst/>
          </a:prstGeom>
          <a:solidFill xmlns:a="http://schemas.openxmlformats.org/drawingml/2006/main">
            <a:srgbClr val="F2A33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29" name="">
            <a:extLst xmlns:a="http://schemas.openxmlformats.org/drawingml/2006/main">
              <a:ext uri="{FF2B5EF4-FFF2-40B4-BE49-F238E27FC236}">
                <a16:creationId xmlns:a16="http://schemas.microsoft.com/office/drawing/2014/main" id="{8F4A49FE-CC5A-447A-9366-D1BC508F743C}"/>
              </a:ext>
            </a:extLst>
          </p:cNvPr>
          <p:cNvSpPr>
            <a:spLocks xmlns:a="http://schemas.openxmlformats.org/drawingml/2006/main" noGrp="1"/>
          </p:cNvSpPr>
          <p:nvPr/>
        </p:nvSpPr>
        <p:spPr>
          <a:xfrm xmlns:a="http://schemas.openxmlformats.org/drawingml/2006/main">
            <a:off x="6162675" y="3686175"/>
            <a:ext cx="5172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425" b="1">
                <a:solidFill>
                  <a:srgbClr val="0B2A3C"/>
                </a:solidFill>
                <a:latin typeface="Arial"/>
                <a:ea typeface="Arial"/>
                <a:cs typeface="Arial"/>
              </a:defRPr>
            </a:pPr>
            <a:r>
              <a:rPr sz="1425" b="1">
                <a:solidFill>
                  <a:srgbClr val="0B2A3C"/>
                </a:solidFill>
                <a:latin typeface="Segoe UI"/>
                <a:ea typeface="Segoe UI"/>
                <a:cs typeface="Segoe UI"/>
              </a:rPr>
              <a:t>What cannot transfer yet</a:t>
            </a:r>
          </a:p>
        </p:txBody>
      </p:sp>
      <p:sp>
        <p:nvSpPr>
          <p:cNvPr id="30" name="">
            <a:extLst xmlns:a="http://schemas.openxmlformats.org/drawingml/2006/main">
              <a:ext uri="{FF2B5EF4-FFF2-40B4-BE49-F238E27FC236}">
                <a16:creationId xmlns:a16="http://schemas.microsoft.com/office/drawing/2014/main" id="{842BCA48-1BA2-45B4-ADD8-F9DFED58D75F}"/>
              </a:ext>
            </a:extLst>
          </p:cNvPr>
          <p:cNvSpPr>
            <a:spLocks xmlns:a="http://schemas.openxmlformats.org/drawingml/2006/main" noGrp="1"/>
          </p:cNvSpPr>
          <p:nvPr/>
        </p:nvSpPr>
        <p:spPr>
          <a:xfrm xmlns:a="http://schemas.openxmlformats.org/drawingml/2006/main">
            <a:off x="6162675" y="4029075"/>
            <a:ext cx="51720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t">
            <a:noAutofit/>
          </a:bodyPr>
          <a:lstStyle xmlns:a="http://schemas.openxmlformats.org/drawingml/2006/main"/>
          <a:p xmlns:a="http://schemas.openxmlformats.org/drawingml/2006/main">
            <a:pPr algn="l">
              <a:buNone/>
              <a:defRPr sz="1275" b="0">
                <a:solidFill>
                  <a:srgbClr val="0B2A3C"/>
                </a:solidFill>
                <a:latin typeface="Arial"/>
                <a:ea typeface="Arial"/>
                <a:cs typeface="Arial"/>
              </a:defRPr>
            </a:pPr>
            <a:r>
              <a:rPr sz="1400" b="0">
                <a:solidFill>
                  <a:srgbClr val="0B2A3C"/>
                </a:solidFill>
                <a:latin typeface="Calibri"/>
                <a:ea typeface="Calibri"/>
                <a:cs typeface="Calibri"/>
              </a:rPr>
              <a:t>Learned risk levels, calibration, subgroup results, and performance. India-specific use needs representative Indian data, local retraining, prospective validation, and threshold evaluation.</a:t>
            </a:r>
          </a:p>
        </p:txBody>
      </p:sp>
      <p:sp>
        <p:nvSpPr>
          <p:cNvPr id="31" name="">
            <a:extLst xmlns:a="http://schemas.openxmlformats.org/drawingml/2006/main">
              <a:ext uri="{FF2B5EF4-FFF2-40B4-BE49-F238E27FC236}">
                <a16:creationId xmlns:a16="http://schemas.microsoft.com/office/drawing/2014/main" id="{895C2FA4-090B-47D4-80E4-0C41E5A4DB83}"/>
              </a:ext>
            </a:extLst>
          </p:cNvPr>
          <p:cNvSpPr>
            <a:spLocks xmlns:a="http://schemas.openxmlformats.org/drawingml/2006/main" noGrp="1"/>
          </p:cNvSpPr>
          <p:nvPr/>
        </p:nvSpPr>
        <p:spPr>
          <a:xfrm xmlns:a="http://schemas.openxmlformats.org/drawingml/2006/main">
            <a:off x="666750" y="56197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75" b="0">
                <a:solidFill>
                  <a:srgbClr val="5B6B76"/>
                </a:solidFill>
                <a:latin typeface="Arial"/>
                <a:ea typeface="Arial"/>
                <a:cs typeface="Arial"/>
              </a:defRPr>
            </a:pPr>
            <a:r>
              <a:rPr sz="1275" b="0">
                <a:solidFill>
                  <a:srgbClr val="5B6B76"/>
                </a:solidFill>
                <a:latin typeface="Calibri"/>
                <a:ea typeface="Calibri"/>
                <a:cs typeface="Calibri"/>
              </a:rPr>
              <a:t>Cohort strata in this analysis use baseline HbA1c bands, not independent chart diagnoses.</a:t>
            </a:r>
          </a:p>
        </p:txBody>
      </p:sp>
    </p:spTree>
    <p:extLst>
      <p:ext uri="{BB962C8B-B14F-4D97-AF65-F5344CB8AC3E}">
        <p14:creationId xmlns:p14="http://schemas.microsoft.com/office/powerpoint/2010/main" val="1178269773"/>
      </p:ext>
    </p:extLst>
  </p:cSld>
</p:sld>
</file>

<file path=ppt/slides/slide4.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3C205F30-F285-4A6C-8AD8-3053F4DCB2E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1339EF95-43B6-469B-A14F-E0DB908DA3BA}"/>
              </a:ext>
            </a:extLst>
          </p:cNvPr>
          <p:cNvSpPr>
            <a:spLocks xmlns:a="http://schemas.openxmlformats.org/drawingml/2006/main" noGrp="1"/>
          </p:cNvSpPr>
          <p:nvPr/>
        </p:nvSpPr>
        <p:spPr>
          <a:xfrm xmlns:a="http://schemas.openxmlformats.org/drawingml/2006/main">
            <a:off x="647700" y="2857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75" b="1">
                <a:solidFill>
                  <a:srgbClr val="0F8B8D"/>
                </a:solidFill>
                <a:latin typeface="Arial"/>
                <a:ea typeface="Arial"/>
                <a:cs typeface="Arial"/>
              </a:defRPr>
            </a:pPr>
            <a:r>
              <a:rPr sz="1100" b="1">
                <a:solidFill>
                  <a:srgbClr val="0F8B8D"/>
                </a:solidFill>
                <a:latin typeface="Segoe UI"/>
                <a:ea typeface="Segoe UI"/>
                <a:cs typeface="Segoe UI"/>
              </a:rPr>
              <a:t>GLYCOTWIN  /  RESEARCH PROTOTYPE</a:t>
            </a:r>
          </a:p>
        </p:txBody>
      </p:sp>
      <p:sp>
        <p:nvSpPr>
          <p:cNvPr id="3" name="">
            <a:extLst xmlns:a="http://schemas.openxmlformats.org/drawingml/2006/main">
              <a:ext uri="{FF2B5EF4-FFF2-40B4-BE49-F238E27FC236}">
                <a16:creationId xmlns:a16="http://schemas.microsoft.com/office/drawing/2014/main" id="{D650E542-77C9-4629-8B3D-F20BD0819BC5}"/>
              </a:ext>
            </a:extLst>
          </p:cNvPr>
          <p:cNvSpPr>
            <a:spLocks xmlns:a="http://schemas.openxmlformats.org/drawingml/2006/main" noGrp="1"/>
          </p:cNvSpPr>
          <p:nvPr/>
        </p:nvSpPr>
        <p:spPr>
          <a:xfrm xmlns:a="http://schemas.openxmlformats.org/drawingml/2006/main">
            <a:off x="647700" y="5524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2550" b="1">
                <a:solidFill>
                  <a:srgbClr val="0B2A3C"/>
                </a:solidFill>
                <a:latin typeface="Arial"/>
                <a:ea typeface="Arial"/>
                <a:cs typeface="Arial"/>
              </a:defRPr>
            </a:pPr>
            <a:r>
              <a:rPr sz="2550" b="1">
                <a:solidFill>
                  <a:srgbClr val="0B2A3C"/>
                </a:solidFill>
                <a:latin typeface="Segoe UI"/>
                <a:ea typeface="Segoe UI"/>
                <a:cs typeface="Segoe UI"/>
              </a:rPr>
              <a:t>Architecture: from multimodal data to a forecast</a:t>
            </a:r>
          </a:p>
        </p:txBody>
      </p:sp>
      <p:sp>
        <p:nvSpPr>
          <p:cNvPr id="4" name="">
            <a:extLst xmlns:a="http://schemas.openxmlformats.org/drawingml/2006/main">
              <a:ext uri="{FF2B5EF4-FFF2-40B4-BE49-F238E27FC236}">
                <a16:creationId xmlns:a16="http://schemas.microsoft.com/office/drawing/2014/main" id="{4EC0AACE-FBDC-40CB-ACB7-400AF780BE7D}"/>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line">
            <a:avLst/>
          </a:prstGeom>
          <a:solidFill xmlns:a="http://schemas.openxmlformats.org/drawingml/2006/main">
            <a:srgbClr val="D5DEE2"/>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EC0E8D66-F290-4C1D-8A75-E60BA4D564F8}"/>
              </a:ext>
            </a:extLst>
          </p:cNvPr>
          <p:cNvSpPr>
            <a:spLocks xmlns:a="http://schemas.openxmlformats.org/drawingml/2006/main" noGrp="1"/>
          </p:cNvSpPr>
          <p:nvPr/>
        </p:nvSpPr>
        <p:spPr>
          <a:xfrm xmlns:a="http://schemas.openxmlformats.org/drawingml/2006/main">
            <a:off x="647700" y="64960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00" b="0">
                <a:solidFill>
                  <a:srgbClr val="5B6B76"/>
                </a:solidFill>
                <a:latin typeface="Arial"/>
                <a:ea typeface="Arial"/>
                <a:cs typeface="Arial"/>
              </a:defRPr>
            </a:pPr>
            <a:r>
              <a:rPr sz="1100" b="0">
                <a:solidFill>
                  <a:srgbClr val="5B6B76"/>
                </a:solidFill>
                <a:latin typeface="Calibri"/>
                <a:ea typeface="Calibri"/>
                <a:cs typeface="Calibri"/>
              </a:rPr>
              <a:t>CGMacros retrospective PoC  •  not for clinical use</a:t>
            </a:r>
          </a:p>
        </p:txBody>
      </p:sp>
      <p:sp>
        <p:nvSpPr>
          <p:cNvPr id="6" name="">
            <a:extLst xmlns:a="http://schemas.openxmlformats.org/drawingml/2006/main">
              <a:ext uri="{FF2B5EF4-FFF2-40B4-BE49-F238E27FC236}">
                <a16:creationId xmlns:a16="http://schemas.microsoft.com/office/drawing/2014/main" id="{FBD44263-6C4D-495A-ACA5-6AB793A92209}"/>
              </a:ext>
            </a:extLst>
          </p:cNvPr>
          <p:cNvSpPr>
            <a:spLocks xmlns:a="http://schemas.openxmlformats.org/drawingml/2006/main" noGrp="1"/>
          </p:cNvSpPr>
          <p:nvPr/>
        </p:nvSpPr>
        <p:spPr>
          <a:xfrm xmlns:a="http://schemas.openxmlformats.org/drawingml/2006/main">
            <a:off x="514350" y="1691640"/>
            <a:ext cx="1952625" cy="1965960"/>
          </a:xfrm>
          <a:prstGeom xmlns:a="http://schemas.openxmlformats.org/drawingml/2006/main" prst="roundRect">
            <a:avLst>
              <a:gd name="adj" fmla="val 4651"/>
            </a:avLst>
          </a:prstGeom>
          <a:solidFill xmlns:a="http://schemas.openxmlformats.org/drawingml/2006/main">
            <a:srgbClr val="E6F4F1"/>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06EC5E39-1CDA-4312-BE52-10FD5D18F063}"/>
              </a:ext>
            </a:extLst>
          </p:cNvPr>
          <p:cNvSpPr>
            <a:spLocks xmlns:a="http://schemas.openxmlformats.org/drawingml/2006/main" noGrp="1"/>
          </p:cNvSpPr>
          <p:nvPr/>
        </p:nvSpPr>
        <p:spPr>
          <a:xfrm xmlns:a="http://schemas.openxmlformats.org/drawingml/2006/main">
            <a:off x="647700" y="1792224"/>
            <a:ext cx="1685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1">
                <a:solidFill>
                  <a:srgbClr val="0B2A3C"/>
                </a:solidFill>
                <a:latin typeface="Arial"/>
                <a:ea typeface="Arial"/>
                <a:cs typeface="Arial"/>
              </a:defRPr>
            </a:pPr>
            <a:r>
              <a:rPr sz="1400" b="1">
                <a:solidFill>
                  <a:srgbClr val="0B2A3C"/>
                </a:solidFill>
                <a:latin typeface="Segoe UI"/>
                <a:ea typeface="Segoe UI"/>
                <a:cs typeface="Segoe UI"/>
              </a:rPr>
              <a:t>INPUT STREAMS</a:t>
            </a:r>
          </a:p>
        </p:txBody>
      </p:sp>
      <p:sp>
        <p:nvSpPr>
          <p:cNvPr id="8" name="">
            <a:extLst xmlns:a="http://schemas.openxmlformats.org/drawingml/2006/main">
              <a:ext uri="{FF2B5EF4-FFF2-40B4-BE49-F238E27FC236}">
                <a16:creationId xmlns:a16="http://schemas.microsoft.com/office/drawing/2014/main" id="{427E7387-2FAD-4C8A-8AEE-74FF97DFFC7F}"/>
              </a:ext>
            </a:extLst>
          </p:cNvPr>
          <p:cNvSpPr>
            <a:spLocks xmlns:a="http://schemas.openxmlformats.org/drawingml/2006/main" noGrp="1"/>
          </p:cNvSpPr>
          <p:nvPr/>
        </p:nvSpPr>
        <p:spPr>
          <a:xfrm xmlns:a="http://schemas.openxmlformats.org/drawingml/2006/main">
            <a:off x="666750" y="2249424"/>
            <a:ext cx="1647825" cy="1353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alibri"/>
                <a:ea typeface="Calibri"/>
                <a:cs typeface="Calibri"/>
              </a:rPr>
              <a:t>bio.csv baseline</a:t>
            </a:r>
          </a:p>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alibri"/>
                <a:ea typeface="Calibri"/>
                <a:cs typeface="Calibri"/>
              </a:rPr>
              <a:t>Libre CGM • HR</a:t>
            </a:r>
          </a:p>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alibri"/>
                <a:ea typeface="Calibri"/>
                <a:cs typeface="Calibri"/>
              </a:rPr>
              <a:t>activity • meals</a:t>
            </a:r>
          </a:p>
        </p:txBody>
      </p:sp>
      <p:sp>
        <p:nvSpPr>
          <p:cNvPr id="9" name="">
            <a:extLst xmlns:a="http://schemas.openxmlformats.org/drawingml/2006/main">
              <a:ext uri="{FF2B5EF4-FFF2-40B4-BE49-F238E27FC236}">
                <a16:creationId xmlns:a16="http://schemas.microsoft.com/office/drawing/2014/main" id="{E2EF6C62-D5DF-472F-A82A-4E494E4627E8}"/>
              </a:ext>
            </a:extLst>
          </p:cNvPr>
          <p:cNvSpPr>
            <a:spLocks xmlns:a="http://schemas.openxmlformats.org/drawingml/2006/main" noGrp="1"/>
          </p:cNvSpPr>
          <p:nvPr/>
        </p:nvSpPr>
        <p:spPr>
          <a:xfrm xmlns:a="http://schemas.openxmlformats.org/drawingml/2006/main">
            <a:off x="2952750" y="1691640"/>
            <a:ext cx="1952625" cy="1965960"/>
          </a:xfrm>
          <a:prstGeom xmlns:a="http://schemas.openxmlformats.org/drawingml/2006/main" prst="roundRect">
            <a:avLst>
              <a:gd name="adj" fmla="val 4651"/>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0704530C-61EB-44EB-8750-2806248C6EDE}"/>
              </a:ext>
            </a:extLst>
          </p:cNvPr>
          <p:cNvSpPr>
            <a:spLocks xmlns:a="http://schemas.openxmlformats.org/drawingml/2006/main" noGrp="1"/>
          </p:cNvSpPr>
          <p:nvPr/>
        </p:nvSpPr>
        <p:spPr>
          <a:xfrm xmlns:a="http://schemas.openxmlformats.org/drawingml/2006/main">
            <a:off x="3086100" y="1792224"/>
            <a:ext cx="1685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1">
                <a:solidFill>
                  <a:srgbClr val="0B2A3C"/>
                </a:solidFill>
                <a:latin typeface="Arial"/>
                <a:ea typeface="Arial"/>
                <a:cs typeface="Arial"/>
              </a:defRPr>
            </a:pPr>
            <a:r>
              <a:rPr sz="1400" b="1">
                <a:solidFill>
                  <a:srgbClr val="0B2A3C"/>
                </a:solidFill>
                <a:latin typeface="Segoe UI"/>
                <a:ea typeface="Segoe UI"/>
                <a:cs typeface="Segoe UI"/>
              </a:rPr>
              <a:t>TIME ALIGNMENT</a:t>
            </a:r>
          </a:p>
        </p:txBody>
      </p:sp>
      <p:sp>
        <p:nvSpPr>
          <p:cNvPr id="11" name="">
            <a:extLst xmlns:a="http://schemas.openxmlformats.org/drawingml/2006/main">
              <a:ext uri="{FF2B5EF4-FFF2-40B4-BE49-F238E27FC236}">
                <a16:creationId xmlns:a16="http://schemas.microsoft.com/office/drawing/2014/main" id="{AE2F5EEA-83DB-4ABC-A0ED-5C520A91887A}"/>
              </a:ext>
            </a:extLst>
          </p:cNvPr>
          <p:cNvSpPr>
            <a:spLocks xmlns:a="http://schemas.openxmlformats.org/drawingml/2006/main" noGrp="1"/>
          </p:cNvSpPr>
          <p:nvPr/>
        </p:nvSpPr>
        <p:spPr>
          <a:xfrm xmlns:a="http://schemas.openxmlformats.org/drawingml/2006/main">
            <a:off x="3105150" y="2249424"/>
            <a:ext cx="1647825" cy="1353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alibri"/>
                <a:ea typeface="Calibri"/>
                <a:cs typeface="Calibri"/>
              </a:rPr>
              <a:t>Join by person and timestamp; build rolling features from data available up to t.</a:t>
            </a:r>
          </a:p>
        </p:txBody>
      </p:sp>
      <p:sp>
        <p:nvSpPr>
          <p:cNvPr id="12" name="">
            <a:extLst xmlns:a="http://schemas.openxmlformats.org/drawingml/2006/main">
              <a:ext uri="{FF2B5EF4-FFF2-40B4-BE49-F238E27FC236}">
                <a16:creationId xmlns:a16="http://schemas.microsoft.com/office/drawing/2014/main" id="{1D5113C9-1217-4B59-A6EF-D8B9A3216359}"/>
              </a:ext>
            </a:extLst>
          </p:cNvPr>
          <p:cNvSpPr>
            <a:spLocks xmlns:a="http://schemas.openxmlformats.org/drawingml/2006/main" noGrp="1"/>
          </p:cNvSpPr>
          <p:nvPr/>
        </p:nvSpPr>
        <p:spPr>
          <a:xfrm xmlns:a="http://schemas.openxmlformats.org/drawingml/2006/main">
            <a:off x="5391150" y="1691640"/>
            <a:ext cx="1952625" cy="1965960"/>
          </a:xfrm>
          <a:prstGeom xmlns:a="http://schemas.openxmlformats.org/drawingml/2006/main" prst="roundRect">
            <a:avLst>
              <a:gd name="adj" fmla="val 4651"/>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3" name="">
            <a:extLst xmlns:a="http://schemas.openxmlformats.org/drawingml/2006/main">
              <a:ext uri="{FF2B5EF4-FFF2-40B4-BE49-F238E27FC236}">
                <a16:creationId xmlns:a16="http://schemas.microsoft.com/office/drawing/2014/main" id="{45BDB610-FF68-40CD-B4FF-89F38BF9FFB8}"/>
              </a:ext>
            </a:extLst>
          </p:cNvPr>
          <p:cNvSpPr>
            <a:spLocks xmlns:a="http://schemas.openxmlformats.org/drawingml/2006/main" noGrp="1"/>
          </p:cNvSpPr>
          <p:nvPr/>
        </p:nvSpPr>
        <p:spPr>
          <a:xfrm xmlns:a="http://schemas.openxmlformats.org/drawingml/2006/main">
            <a:off x="5524500" y="1792224"/>
            <a:ext cx="1685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1">
                <a:solidFill>
                  <a:srgbClr val="0B2A3C"/>
                </a:solidFill>
                <a:latin typeface="Arial"/>
                <a:ea typeface="Arial"/>
                <a:cs typeface="Arial"/>
              </a:defRPr>
            </a:pPr>
            <a:r>
              <a:rPr sz="1400" b="1">
                <a:solidFill>
                  <a:srgbClr val="0B2A3C"/>
                </a:solidFill>
                <a:latin typeface="Segoe UI"/>
                <a:ea typeface="Segoe UI"/>
                <a:cs typeface="Segoe UI"/>
              </a:rPr>
              <a:t>FEATURE FUSION</a:t>
            </a:r>
          </a:p>
        </p:txBody>
      </p:sp>
      <p:sp>
        <p:nvSpPr>
          <p:cNvPr id="14" name="">
            <a:extLst xmlns:a="http://schemas.openxmlformats.org/drawingml/2006/main">
              <a:ext uri="{FF2B5EF4-FFF2-40B4-BE49-F238E27FC236}">
                <a16:creationId xmlns:a16="http://schemas.microsoft.com/office/drawing/2014/main" id="{A628A005-05AB-49DC-9527-0DF5307B0710}"/>
              </a:ext>
            </a:extLst>
          </p:cNvPr>
          <p:cNvSpPr>
            <a:spLocks xmlns:a="http://schemas.openxmlformats.org/drawingml/2006/main" noGrp="1"/>
          </p:cNvSpPr>
          <p:nvPr/>
        </p:nvSpPr>
        <p:spPr>
          <a:xfrm xmlns:a="http://schemas.openxmlformats.org/drawingml/2006/main">
            <a:off x="5543550" y="2249424"/>
            <a:ext cx="1647825" cy="1353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alibri"/>
                <a:ea typeface="Calibri"/>
                <a:cs typeface="Calibri"/>
              </a:rPr>
              <a:t>41 dynamic + 12 baseline features (53 total); missingness-aware imputation.</a:t>
            </a:r>
          </a:p>
        </p:txBody>
      </p:sp>
      <p:sp>
        <p:nvSpPr>
          <p:cNvPr id="15" name="">
            <a:extLst xmlns:a="http://schemas.openxmlformats.org/drawingml/2006/main">
              <a:ext uri="{FF2B5EF4-FFF2-40B4-BE49-F238E27FC236}">
                <a16:creationId xmlns:a16="http://schemas.microsoft.com/office/drawing/2014/main" id="{C797315B-EFC8-4CAB-92D7-C4867B1DC1EE}"/>
              </a:ext>
            </a:extLst>
          </p:cNvPr>
          <p:cNvSpPr>
            <a:spLocks xmlns:a="http://schemas.openxmlformats.org/drawingml/2006/main" noGrp="1"/>
          </p:cNvSpPr>
          <p:nvPr/>
        </p:nvSpPr>
        <p:spPr>
          <a:xfrm xmlns:a="http://schemas.openxmlformats.org/drawingml/2006/main">
            <a:off x="7829550" y="1691640"/>
            <a:ext cx="1952625" cy="1965960"/>
          </a:xfrm>
          <a:prstGeom xmlns:a="http://schemas.openxmlformats.org/drawingml/2006/main" prst="roundRect">
            <a:avLst>
              <a:gd name="adj" fmla="val 4651"/>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805362E6-6F94-4E1C-A547-D5E8F71FF72B}"/>
              </a:ext>
            </a:extLst>
          </p:cNvPr>
          <p:cNvSpPr>
            <a:spLocks xmlns:a="http://schemas.openxmlformats.org/drawingml/2006/main" noGrp="1"/>
          </p:cNvSpPr>
          <p:nvPr/>
        </p:nvSpPr>
        <p:spPr>
          <a:xfrm xmlns:a="http://schemas.openxmlformats.org/drawingml/2006/main">
            <a:off x="7962900" y="1792224"/>
            <a:ext cx="1685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1">
                <a:solidFill>
                  <a:srgbClr val="0B2A3C"/>
                </a:solidFill>
                <a:latin typeface="Arial"/>
                <a:ea typeface="Arial"/>
                <a:cs typeface="Arial"/>
              </a:defRPr>
            </a:pPr>
            <a:r>
              <a:rPr sz="1400" b="1">
                <a:solidFill>
                  <a:srgbClr val="0B2A3C"/>
                </a:solidFill>
                <a:latin typeface="Segoe UI"/>
                <a:ea typeface="Segoe UI"/>
                <a:cs typeface="Segoe UI"/>
              </a:rPr>
              <a:t>MODEL</a:t>
            </a:r>
          </a:p>
        </p:txBody>
      </p:sp>
      <p:sp>
        <p:nvSpPr>
          <p:cNvPr id="17" name="">
            <a:extLst xmlns:a="http://schemas.openxmlformats.org/drawingml/2006/main">
              <a:ext uri="{FF2B5EF4-FFF2-40B4-BE49-F238E27FC236}">
                <a16:creationId xmlns:a16="http://schemas.microsoft.com/office/drawing/2014/main" id="{CBADBA24-67BA-4F1B-84FF-12ECE1610DF1}"/>
              </a:ext>
            </a:extLst>
          </p:cNvPr>
          <p:cNvSpPr>
            <a:spLocks xmlns:a="http://schemas.openxmlformats.org/drawingml/2006/main" noGrp="1"/>
          </p:cNvSpPr>
          <p:nvPr/>
        </p:nvSpPr>
        <p:spPr>
          <a:xfrm xmlns:a="http://schemas.openxmlformats.org/drawingml/2006/main">
            <a:off x="7981950" y="2249424"/>
            <a:ext cx="1647825" cy="1353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alibri"/>
                <a:ea typeface="Calibri"/>
                <a:cs typeface="Calibri"/>
              </a:rPr>
              <a:t>HistGradientBoosting; nested participant-grouped evaluation across five fold assignments.</a:t>
            </a:r>
          </a:p>
        </p:txBody>
      </p:sp>
      <p:sp>
        <p:nvSpPr>
          <p:cNvPr id="18" name="">
            <a:extLst xmlns:a="http://schemas.openxmlformats.org/drawingml/2006/main">
              <a:ext uri="{FF2B5EF4-FFF2-40B4-BE49-F238E27FC236}">
                <a16:creationId xmlns:a16="http://schemas.microsoft.com/office/drawing/2014/main" id="{DC294200-FAA5-4C5E-817E-D0F74A93518B}"/>
              </a:ext>
            </a:extLst>
          </p:cNvPr>
          <p:cNvSpPr>
            <a:spLocks xmlns:a="http://schemas.openxmlformats.org/drawingml/2006/main" noGrp="1"/>
          </p:cNvSpPr>
          <p:nvPr/>
        </p:nvSpPr>
        <p:spPr>
          <a:xfrm xmlns:a="http://schemas.openxmlformats.org/drawingml/2006/main">
            <a:off x="10191750" y="1691640"/>
            <a:ext cx="1524000" cy="1965960"/>
          </a:xfrm>
          <a:prstGeom xmlns:a="http://schemas.openxmlformats.org/drawingml/2006/main" prst="roundRect">
            <a:avLst>
              <a:gd name="adj" fmla="val 5000"/>
            </a:avLst>
          </a:prstGeom>
          <a:solidFill xmlns:a="http://schemas.openxmlformats.org/drawingml/2006/main">
            <a:srgbClr val="E6F4F1"/>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2550BDF8-4165-4C48-847F-208AA4757564}"/>
              </a:ext>
            </a:extLst>
          </p:cNvPr>
          <p:cNvSpPr>
            <a:spLocks xmlns:a="http://schemas.openxmlformats.org/drawingml/2006/main" noGrp="1"/>
          </p:cNvSpPr>
          <p:nvPr/>
        </p:nvSpPr>
        <p:spPr>
          <a:xfrm xmlns:a="http://schemas.openxmlformats.org/drawingml/2006/main">
            <a:off x="10325100" y="1792224"/>
            <a:ext cx="125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1">
                <a:solidFill>
                  <a:srgbClr val="0B2A3C"/>
                </a:solidFill>
                <a:latin typeface="Arial"/>
                <a:ea typeface="Arial"/>
                <a:cs typeface="Arial"/>
              </a:defRPr>
            </a:pPr>
            <a:r>
              <a:rPr sz="1400" b="1">
                <a:solidFill>
                  <a:srgbClr val="0B2A3C"/>
                </a:solidFill>
                <a:latin typeface="Segoe UI"/>
                <a:ea typeface="Segoe UI"/>
                <a:cs typeface="Segoe UI"/>
              </a:rPr>
              <a:t>OUTPUT</a:t>
            </a:r>
          </a:p>
        </p:txBody>
      </p:sp>
      <p:sp>
        <p:nvSpPr>
          <p:cNvPr id="20" name="">
            <a:extLst xmlns:a="http://schemas.openxmlformats.org/drawingml/2006/main">
              <a:ext uri="{FF2B5EF4-FFF2-40B4-BE49-F238E27FC236}">
                <a16:creationId xmlns:a16="http://schemas.microsoft.com/office/drawing/2014/main" id="{B05F6703-ACA8-4458-BEC1-65ACE123EE72}"/>
              </a:ext>
            </a:extLst>
          </p:cNvPr>
          <p:cNvSpPr>
            <a:spLocks xmlns:a="http://schemas.openxmlformats.org/drawingml/2006/main" noGrp="1"/>
          </p:cNvSpPr>
          <p:nvPr/>
        </p:nvSpPr>
        <p:spPr>
          <a:xfrm xmlns:a="http://schemas.openxmlformats.org/drawingml/2006/main">
            <a:off x="10344150" y="2249424"/>
            <a:ext cx="1219200" cy="1353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alibri"/>
                <a:ea typeface="Calibri"/>
                <a:cs typeface="Calibri"/>
              </a:rPr>
              <a:t>P(glucose ≥180 at t+120 min)</a:t>
            </a:r>
          </a:p>
        </p:txBody>
      </p:sp>
      <p:sp>
        <p:nvSpPr>
          <p:cNvPr id="21" name="">
            <a:extLst xmlns:a="http://schemas.openxmlformats.org/drawingml/2006/main">
              <a:ext uri="{FF2B5EF4-FFF2-40B4-BE49-F238E27FC236}">
                <a16:creationId xmlns:a16="http://schemas.microsoft.com/office/drawing/2014/main" id="{B4453A3D-C961-492B-9F01-45F5F1DC42C1}"/>
              </a:ext>
            </a:extLst>
          </p:cNvPr>
          <p:cNvSpPr>
            <a:spLocks xmlns:a="http://schemas.openxmlformats.org/drawingml/2006/main" noGrp="1"/>
          </p:cNvSpPr>
          <p:nvPr/>
        </p:nvSpPr>
        <p:spPr>
          <a:xfrm xmlns:a="http://schemas.openxmlformats.org/drawingml/2006/main">
            <a:off x="2514600" y="2819400"/>
            <a:ext cx="361950"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DFE40B2F-C4BF-4CCD-991E-3D8AD3B5F3AA}"/>
              </a:ext>
            </a:extLst>
          </p:cNvPr>
          <p:cNvSpPr>
            <a:spLocks xmlns:a="http://schemas.openxmlformats.org/drawingml/2006/main" noGrp="1"/>
          </p:cNvSpPr>
          <p:nvPr/>
        </p:nvSpPr>
        <p:spPr>
          <a:xfrm xmlns:a="http://schemas.openxmlformats.org/drawingml/2006/main">
            <a:off x="2800350" y="2743200"/>
            <a:ext cx="152400" cy="152400"/>
          </a:xfrm>
          <a:prstGeom xmlns:a="http://schemas.openxmlformats.org/drawingml/2006/main" prst="triangle">
            <a:avLst/>
          </a:prstGeom>
          <a:solidFill xmlns:a="http://schemas.openxmlformats.org/drawingml/2006/main">
            <a:srgbClr val="0F8B8D"/>
          </a:solidFill>
          <a:ln xmlns:a="http://schemas.openxmlformats.org/drawingml/2006/main" w="9525">
            <a:solidFill>
              <a:srgbClr val="0F8B8D"/>
            </a:solidFill>
          </a:ln>
        </p:spPr>
        <p:txBody>
          <a:bodyPr xmlns:a="http://schemas.openxmlformats.org/drawingml/2006/main"/>
          <a:lstStyle xmlns:a="http://schemas.openxmlformats.org/drawingml/2006/main"/>
          <a:p xmlns:a="http://schemas.openxmlformats.org/drawingml/2006/main"/>
        </p:txBody>
      </p:sp>
      <p:sp>
        <p:nvSpPr>
          <p:cNvPr id="23" name="">
            <a:extLst xmlns:a="http://schemas.openxmlformats.org/drawingml/2006/main">
              <a:ext uri="{FF2B5EF4-FFF2-40B4-BE49-F238E27FC236}">
                <a16:creationId xmlns:a16="http://schemas.microsoft.com/office/drawing/2014/main" id="{BBE9847B-5078-4CB9-BB6A-40BC9EEE0B99}"/>
              </a:ext>
            </a:extLst>
          </p:cNvPr>
          <p:cNvSpPr>
            <a:spLocks xmlns:a="http://schemas.openxmlformats.org/drawingml/2006/main" noGrp="1"/>
          </p:cNvSpPr>
          <p:nvPr/>
        </p:nvSpPr>
        <p:spPr>
          <a:xfrm xmlns:a="http://schemas.openxmlformats.org/drawingml/2006/main">
            <a:off x="4953000" y="2819400"/>
            <a:ext cx="361950"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24" name="">
            <a:extLst xmlns:a="http://schemas.openxmlformats.org/drawingml/2006/main">
              <a:ext uri="{FF2B5EF4-FFF2-40B4-BE49-F238E27FC236}">
                <a16:creationId xmlns:a16="http://schemas.microsoft.com/office/drawing/2014/main" id="{98DACAC0-C571-4185-A8A4-B997D8B53D2B}"/>
              </a:ext>
            </a:extLst>
          </p:cNvPr>
          <p:cNvSpPr>
            <a:spLocks xmlns:a="http://schemas.openxmlformats.org/drawingml/2006/main" noGrp="1"/>
          </p:cNvSpPr>
          <p:nvPr/>
        </p:nvSpPr>
        <p:spPr>
          <a:xfrm xmlns:a="http://schemas.openxmlformats.org/drawingml/2006/main">
            <a:off x="5238750" y="2743200"/>
            <a:ext cx="152400" cy="152400"/>
          </a:xfrm>
          <a:prstGeom xmlns:a="http://schemas.openxmlformats.org/drawingml/2006/main" prst="triangle">
            <a:avLst/>
          </a:prstGeom>
          <a:solidFill xmlns:a="http://schemas.openxmlformats.org/drawingml/2006/main">
            <a:srgbClr val="0F8B8D"/>
          </a:solidFill>
          <a:ln xmlns:a="http://schemas.openxmlformats.org/drawingml/2006/main" w="9525">
            <a:solidFill>
              <a:srgbClr val="0F8B8D"/>
            </a:solidFill>
          </a:ln>
        </p:spPr>
        <p:txBody>
          <a:bodyPr xmlns:a="http://schemas.openxmlformats.org/drawingml/2006/main"/>
          <a:lstStyle xmlns:a="http://schemas.openxmlformats.org/drawingml/2006/main"/>
          <a:p xmlns:a="http://schemas.openxmlformats.org/drawingml/2006/main"/>
        </p:txBody>
      </p:sp>
      <p:sp>
        <p:nvSpPr>
          <p:cNvPr id="25" name="">
            <a:extLst xmlns:a="http://schemas.openxmlformats.org/drawingml/2006/main">
              <a:ext uri="{FF2B5EF4-FFF2-40B4-BE49-F238E27FC236}">
                <a16:creationId xmlns:a16="http://schemas.microsoft.com/office/drawing/2014/main" id="{B7B16E20-2BCB-4F67-9ED0-DEBA653AA5D8}"/>
              </a:ext>
            </a:extLst>
          </p:cNvPr>
          <p:cNvSpPr>
            <a:spLocks xmlns:a="http://schemas.openxmlformats.org/drawingml/2006/main" noGrp="1"/>
          </p:cNvSpPr>
          <p:nvPr/>
        </p:nvSpPr>
        <p:spPr>
          <a:xfrm xmlns:a="http://schemas.openxmlformats.org/drawingml/2006/main">
            <a:off x="7391400" y="2819400"/>
            <a:ext cx="361950"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26" name="">
            <a:extLst xmlns:a="http://schemas.openxmlformats.org/drawingml/2006/main">
              <a:ext uri="{FF2B5EF4-FFF2-40B4-BE49-F238E27FC236}">
                <a16:creationId xmlns:a16="http://schemas.microsoft.com/office/drawing/2014/main" id="{5B39FE19-0DEF-48A0-9909-D8D5AD76DEF3}"/>
              </a:ext>
            </a:extLst>
          </p:cNvPr>
          <p:cNvSpPr>
            <a:spLocks xmlns:a="http://schemas.openxmlformats.org/drawingml/2006/main" noGrp="1"/>
          </p:cNvSpPr>
          <p:nvPr/>
        </p:nvSpPr>
        <p:spPr>
          <a:xfrm xmlns:a="http://schemas.openxmlformats.org/drawingml/2006/main">
            <a:off x="7677150" y="2743200"/>
            <a:ext cx="152400" cy="152400"/>
          </a:xfrm>
          <a:prstGeom xmlns:a="http://schemas.openxmlformats.org/drawingml/2006/main" prst="triangle">
            <a:avLst/>
          </a:prstGeom>
          <a:solidFill xmlns:a="http://schemas.openxmlformats.org/drawingml/2006/main">
            <a:srgbClr val="0F8B8D"/>
          </a:solidFill>
          <a:ln xmlns:a="http://schemas.openxmlformats.org/drawingml/2006/main" w="9525">
            <a:solidFill>
              <a:srgbClr val="0F8B8D"/>
            </a:solidFill>
          </a:ln>
        </p:spPr>
        <p:txBody>
          <a:bodyPr xmlns:a="http://schemas.openxmlformats.org/drawingml/2006/main"/>
          <a:lstStyle xmlns:a="http://schemas.openxmlformats.org/drawingml/2006/main"/>
          <a:p xmlns:a="http://schemas.openxmlformats.org/drawingml/2006/main"/>
        </p:txBody>
      </p:sp>
      <p:sp>
        <p:nvSpPr>
          <p:cNvPr id="27" name="">
            <a:extLst xmlns:a="http://schemas.openxmlformats.org/drawingml/2006/main">
              <a:ext uri="{FF2B5EF4-FFF2-40B4-BE49-F238E27FC236}">
                <a16:creationId xmlns:a16="http://schemas.microsoft.com/office/drawing/2014/main" id="{967F7C5B-31FD-4AC5-B9CB-941FD8484F0B}"/>
              </a:ext>
            </a:extLst>
          </p:cNvPr>
          <p:cNvSpPr>
            <a:spLocks xmlns:a="http://schemas.openxmlformats.org/drawingml/2006/main" noGrp="1"/>
          </p:cNvSpPr>
          <p:nvPr/>
        </p:nvSpPr>
        <p:spPr>
          <a:xfrm xmlns:a="http://schemas.openxmlformats.org/drawingml/2006/main">
            <a:off x="9829800" y="2819400"/>
            <a:ext cx="285750"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44278247-743B-4A98-94F3-9269FA7D50BE}"/>
              </a:ext>
            </a:extLst>
          </p:cNvPr>
          <p:cNvSpPr>
            <a:spLocks xmlns:a="http://schemas.openxmlformats.org/drawingml/2006/main" noGrp="1"/>
          </p:cNvSpPr>
          <p:nvPr/>
        </p:nvSpPr>
        <p:spPr>
          <a:xfrm xmlns:a="http://schemas.openxmlformats.org/drawingml/2006/main">
            <a:off x="10039350" y="2743200"/>
            <a:ext cx="152400" cy="152400"/>
          </a:xfrm>
          <a:prstGeom xmlns:a="http://schemas.openxmlformats.org/drawingml/2006/main" prst="triangle">
            <a:avLst/>
          </a:prstGeom>
          <a:solidFill xmlns:a="http://schemas.openxmlformats.org/drawingml/2006/main">
            <a:srgbClr val="0F8B8D"/>
          </a:solidFill>
          <a:ln xmlns:a="http://schemas.openxmlformats.org/drawingml/2006/main" w="9525">
            <a:solidFill>
              <a:srgbClr val="0F8B8D"/>
            </a:solidFill>
          </a:ln>
        </p:spPr>
        <p:txBody>
          <a:bodyPr xmlns:a="http://schemas.openxmlformats.org/drawingml/2006/main"/>
          <a:lstStyle xmlns:a="http://schemas.openxmlformats.org/drawingml/2006/main"/>
          <a:p xmlns:a="http://schemas.openxmlformats.org/drawingml/2006/main"/>
        </p:txBody>
      </p:sp>
      <p:sp>
        <p:nvSpPr>
          <p:cNvPr id="29" name="">
            <a:extLst xmlns:a="http://schemas.openxmlformats.org/drawingml/2006/main">
              <a:ext uri="{FF2B5EF4-FFF2-40B4-BE49-F238E27FC236}">
                <a16:creationId xmlns:a16="http://schemas.microsoft.com/office/drawing/2014/main" id="{DD401198-4F4A-4456-8790-C9F76A93AB13}"/>
              </a:ext>
            </a:extLst>
          </p:cNvPr>
          <p:cNvSpPr>
            <a:spLocks xmlns:a="http://schemas.openxmlformats.org/drawingml/2006/main" noGrp="1"/>
          </p:cNvSpPr>
          <p:nvPr/>
        </p:nvSpPr>
        <p:spPr>
          <a:xfrm xmlns:a="http://schemas.openxmlformats.org/drawingml/2006/main">
            <a:off x="2943225" y="4276725"/>
            <a:ext cx="3714750" cy="1060704"/>
          </a:xfrm>
          <a:prstGeom xmlns:a="http://schemas.openxmlformats.org/drawingml/2006/main" prst="roundRect">
            <a:avLst>
              <a:gd name="adj" fmla="val 8511"/>
            </a:avLst>
          </a:prstGeom>
          <a:solidFill xmlns:a="http://schemas.openxmlformats.org/drawingml/2006/main">
            <a:srgbClr val="E6F4F1"/>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30" name="">
            <a:extLst xmlns:a="http://schemas.openxmlformats.org/drawingml/2006/main">
              <a:ext uri="{FF2B5EF4-FFF2-40B4-BE49-F238E27FC236}">
                <a16:creationId xmlns:a16="http://schemas.microsoft.com/office/drawing/2014/main" id="{03959B5A-10C5-4DB8-BDB1-0F3476561D51}"/>
              </a:ext>
            </a:extLst>
          </p:cNvPr>
          <p:cNvSpPr>
            <a:spLocks xmlns:a="http://schemas.openxmlformats.org/drawingml/2006/main" noGrp="1"/>
          </p:cNvSpPr>
          <p:nvPr/>
        </p:nvSpPr>
        <p:spPr>
          <a:xfrm xmlns:a="http://schemas.openxmlformats.org/drawingml/2006/main">
            <a:off x="3143250" y="44196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425" b="1">
                <a:solidFill>
                  <a:srgbClr val="0B2A3C"/>
                </a:solidFill>
                <a:latin typeface="Arial"/>
                <a:ea typeface="Arial"/>
                <a:cs typeface="Arial"/>
              </a:defRPr>
            </a:pPr>
            <a:r>
              <a:rPr sz="1425" b="1">
                <a:solidFill>
                  <a:srgbClr val="0B2A3C"/>
                </a:solidFill>
                <a:latin typeface="Segoe UI"/>
                <a:ea typeface="Segoe UI"/>
                <a:cs typeface="Segoe UI"/>
              </a:rPr>
              <a:t>Concept doctor dashboard</a:t>
            </a:r>
          </a:p>
        </p:txBody>
      </p:sp>
      <p:sp>
        <p:nvSpPr>
          <p:cNvPr id="31" name="">
            <a:extLst xmlns:a="http://schemas.openxmlformats.org/drawingml/2006/main">
              <a:ext uri="{FF2B5EF4-FFF2-40B4-BE49-F238E27FC236}">
                <a16:creationId xmlns:a16="http://schemas.microsoft.com/office/drawing/2014/main" id="{BFC9D7CE-33DD-439B-82DC-4F3B95084031}"/>
              </a:ext>
            </a:extLst>
          </p:cNvPr>
          <p:cNvSpPr>
            <a:spLocks xmlns:a="http://schemas.openxmlformats.org/drawingml/2006/main" noGrp="1"/>
          </p:cNvSpPr>
          <p:nvPr/>
        </p:nvSpPr>
        <p:spPr>
          <a:xfrm xmlns:a="http://schemas.openxmlformats.org/drawingml/2006/main">
            <a:off x="3143250" y="4743450"/>
            <a:ext cx="333375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00" b="0">
                <a:solidFill>
                  <a:srgbClr val="0B2A3C"/>
                </a:solidFill>
                <a:latin typeface="Arial"/>
                <a:ea typeface="Arial"/>
                <a:cs typeface="Arial"/>
              </a:defRPr>
            </a:pPr>
            <a:r>
              <a:rPr sz="1400" b="0">
                <a:solidFill>
                  <a:srgbClr val="0B2A3C"/>
                </a:solidFill>
                <a:latin typeface="Calibri"/>
                <a:ea typeface="Calibri"/>
                <a:cs typeface="Calibri"/>
              </a:rPr>
              <a:t>Risk worklist → patient trace + forecast + context</a:t>
            </a:r>
          </a:p>
        </p:txBody>
      </p:sp>
      <p:sp>
        <p:nvSpPr>
          <p:cNvPr id="32" name="">
            <a:extLst xmlns:a="http://schemas.openxmlformats.org/drawingml/2006/main">
              <a:ext uri="{FF2B5EF4-FFF2-40B4-BE49-F238E27FC236}">
                <a16:creationId xmlns:a16="http://schemas.microsoft.com/office/drawing/2014/main" id="{E11B815D-35F7-4FDD-B5D8-7D8F9D2F57EB}"/>
              </a:ext>
            </a:extLst>
          </p:cNvPr>
          <p:cNvSpPr>
            <a:spLocks xmlns:a="http://schemas.openxmlformats.org/drawingml/2006/main" noGrp="1"/>
          </p:cNvSpPr>
          <p:nvPr/>
        </p:nvSpPr>
        <p:spPr>
          <a:xfrm xmlns:a="http://schemas.openxmlformats.org/drawingml/2006/main">
            <a:off x="8772525" y="3714750"/>
            <a:ext cx="2133600"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33" name="">
            <a:extLst xmlns:a="http://schemas.openxmlformats.org/drawingml/2006/main">
              <a:ext uri="{FF2B5EF4-FFF2-40B4-BE49-F238E27FC236}">
                <a16:creationId xmlns:a16="http://schemas.microsoft.com/office/drawing/2014/main" id="{21D3A1E6-72DF-4506-9D49-3A1C17C33A83}"/>
              </a:ext>
            </a:extLst>
          </p:cNvPr>
          <p:cNvSpPr>
            <a:spLocks xmlns:a="http://schemas.openxmlformats.org/drawingml/2006/main" noGrp="1"/>
          </p:cNvSpPr>
          <p:nvPr/>
        </p:nvSpPr>
        <p:spPr>
          <a:xfrm xmlns:a="http://schemas.openxmlformats.org/drawingml/2006/main">
            <a:off x="8772525" y="3714750"/>
            <a:ext cx="0" cy="99060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34" name="">
            <a:extLst xmlns:a="http://schemas.openxmlformats.org/drawingml/2006/main">
              <a:ext uri="{FF2B5EF4-FFF2-40B4-BE49-F238E27FC236}">
                <a16:creationId xmlns:a16="http://schemas.microsoft.com/office/drawing/2014/main" id="{83AF89C2-4F29-4494-934D-5D497A74A6BD}"/>
              </a:ext>
            </a:extLst>
          </p:cNvPr>
          <p:cNvSpPr>
            <a:spLocks xmlns:a="http://schemas.openxmlformats.org/drawingml/2006/main" noGrp="1"/>
          </p:cNvSpPr>
          <p:nvPr/>
        </p:nvSpPr>
        <p:spPr>
          <a:xfrm xmlns:a="http://schemas.openxmlformats.org/drawingml/2006/main">
            <a:off x="6638925" y="4705350"/>
            <a:ext cx="2133600"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35" name="">
            <a:extLst xmlns:a="http://schemas.openxmlformats.org/drawingml/2006/main">
              <a:ext uri="{FF2B5EF4-FFF2-40B4-BE49-F238E27FC236}">
                <a16:creationId xmlns:a16="http://schemas.microsoft.com/office/drawing/2014/main" id="{79A04EF5-0FE6-4C60-A716-D32000DF5C98}"/>
              </a:ext>
            </a:extLst>
          </p:cNvPr>
          <p:cNvSpPr>
            <a:spLocks xmlns:a="http://schemas.openxmlformats.org/drawingml/2006/main" noGrp="1"/>
          </p:cNvSpPr>
          <p:nvPr/>
        </p:nvSpPr>
        <p:spPr>
          <a:xfrm xmlns:a="http://schemas.openxmlformats.org/drawingml/2006/main">
            <a:off x="6562725" y="4629150"/>
            <a:ext cx="152400" cy="152400"/>
          </a:xfrm>
          <a:prstGeom xmlns:a="http://schemas.openxmlformats.org/drawingml/2006/main" prst="triangle">
            <a:avLst/>
          </a:prstGeom>
          <a:solidFill xmlns:a="http://schemas.openxmlformats.org/drawingml/2006/main">
            <a:srgbClr val="0F8B8D"/>
          </a:solidFill>
          <a:ln xmlns:a="http://schemas.openxmlformats.org/drawingml/2006/main" w="9525">
            <a:solidFill>
              <a:srgbClr val="0F8B8D"/>
            </a:solidFill>
          </a:ln>
        </p:spPr>
        <p:txBody>
          <a:bodyPr xmlns:a="http://schemas.openxmlformats.org/drawingml/2006/main"/>
          <a:lstStyle xmlns:a="http://schemas.openxmlformats.org/drawingml/2006/main"/>
          <a:p xmlns:a="http://schemas.openxmlformats.org/drawingml/2006/main"/>
        </p:txBody>
      </p:sp>
      <p:sp>
        <p:nvSpPr>
          <p:cNvPr id="36" name="">
            <a:extLst xmlns:a="http://schemas.openxmlformats.org/drawingml/2006/main">
              <a:ext uri="{FF2B5EF4-FFF2-40B4-BE49-F238E27FC236}">
                <a16:creationId xmlns:a16="http://schemas.microsoft.com/office/drawing/2014/main" id="{8A4BCF3C-BE86-4B4C-A173-DBC79E548BC3}"/>
              </a:ext>
            </a:extLst>
          </p:cNvPr>
          <p:cNvSpPr>
            <a:spLocks xmlns:a="http://schemas.openxmlformats.org/drawingml/2006/main" noGrp="1"/>
          </p:cNvSpPr>
          <p:nvPr/>
        </p:nvSpPr>
        <p:spPr>
          <a:xfrm xmlns:a="http://schemas.openxmlformats.org/drawingml/2006/main">
            <a:off x="7058025" y="4276725"/>
            <a:ext cx="4467225" cy="1060704"/>
          </a:xfrm>
          <a:prstGeom xmlns:a="http://schemas.openxmlformats.org/drawingml/2006/main" prst="roundRect">
            <a:avLst>
              <a:gd name="adj" fmla="val 8511"/>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37" name="">
            <a:extLst xmlns:a="http://schemas.openxmlformats.org/drawingml/2006/main">
              <a:ext uri="{FF2B5EF4-FFF2-40B4-BE49-F238E27FC236}">
                <a16:creationId xmlns:a16="http://schemas.microsoft.com/office/drawing/2014/main" id="{950D38FE-9629-4D89-BE98-F98A84905F9C}"/>
              </a:ext>
            </a:extLst>
          </p:cNvPr>
          <p:cNvSpPr>
            <a:spLocks xmlns:a="http://schemas.openxmlformats.org/drawingml/2006/main" noGrp="1"/>
          </p:cNvSpPr>
          <p:nvPr/>
        </p:nvSpPr>
        <p:spPr>
          <a:xfrm xmlns:a="http://schemas.openxmlformats.org/drawingml/2006/main">
            <a:off x="7286625" y="44196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425" b="1">
                <a:solidFill>
                  <a:srgbClr val="0B2A3C"/>
                </a:solidFill>
                <a:latin typeface="Arial"/>
                <a:ea typeface="Arial"/>
                <a:cs typeface="Arial"/>
              </a:defRPr>
            </a:pPr>
            <a:r>
              <a:rPr sz="1425" b="1">
                <a:solidFill>
                  <a:srgbClr val="0B2A3C"/>
                </a:solidFill>
                <a:latin typeface="Segoe UI"/>
                <a:ea typeface="Segoe UI"/>
                <a:cs typeface="Segoe UI"/>
              </a:rPr>
              <a:t>Evaluation branch</a:t>
            </a:r>
          </a:p>
        </p:txBody>
      </p:sp>
      <p:sp>
        <p:nvSpPr>
          <p:cNvPr id="38" name="">
            <a:extLst xmlns:a="http://schemas.openxmlformats.org/drawingml/2006/main">
              <a:ext uri="{FF2B5EF4-FFF2-40B4-BE49-F238E27FC236}">
                <a16:creationId xmlns:a16="http://schemas.microsoft.com/office/drawing/2014/main" id="{EADA9C8F-EBEC-40EE-BAA3-4000900D660F}"/>
              </a:ext>
            </a:extLst>
          </p:cNvPr>
          <p:cNvSpPr>
            <a:spLocks xmlns:a="http://schemas.openxmlformats.org/drawingml/2006/main" noGrp="1"/>
          </p:cNvSpPr>
          <p:nvPr/>
        </p:nvSpPr>
        <p:spPr>
          <a:xfrm xmlns:a="http://schemas.openxmlformats.org/drawingml/2006/main">
            <a:off x="7286625" y="4743450"/>
            <a:ext cx="40005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00" b="0">
                <a:solidFill>
                  <a:srgbClr val="0B2A3C"/>
                </a:solidFill>
                <a:latin typeface="Arial"/>
                <a:ea typeface="Arial"/>
                <a:cs typeface="Arial"/>
              </a:defRPr>
            </a:pPr>
            <a:r>
              <a:rPr sz="1400" b="0">
                <a:solidFill>
                  <a:srgbClr val="0B2A3C"/>
                </a:solidFill>
                <a:latin typeface="Calibri"/>
                <a:ea typeface="Calibri"/>
                <a:cs typeface="Calibri"/>
              </a:rPr>
              <a:t>Repeated CV • participant macro • event workload • calibration</a:t>
            </a:r>
          </a:p>
        </p:txBody>
      </p:sp>
      <p:sp>
        <p:nvSpPr>
          <p:cNvPr id="39" name="">
            <a:extLst xmlns:a="http://schemas.openxmlformats.org/drawingml/2006/main">
              <a:ext uri="{FF2B5EF4-FFF2-40B4-BE49-F238E27FC236}">
                <a16:creationId xmlns:a16="http://schemas.microsoft.com/office/drawing/2014/main" id="{55E958EA-D0DF-4796-87B0-6C351125B767}"/>
              </a:ext>
            </a:extLst>
          </p:cNvPr>
          <p:cNvSpPr>
            <a:spLocks xmlns:a="http://schemas.openxmlformats.org/drawingml/2006/main" noGrp="1"/>
          </p:cNvSpPr>
          <p:nvPr/>
        </p:nvSpPr>
        <p:spPr>
          <a:xfrm xmlns:a="http://schemas.openxmlformats.org/drawingml/2006/main">
            <a:off x="10120313" y="3714750"/>
            <a:ext cx="833438"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40" name="">
            <a:extLst xmlns:a="http://schemas.openxmlformats.org/drawingml/2006/main">
              <a:ext uri="{FF2B5EF4-FFF2-40B4-BE49-F238E27FC236}">
                <a16:creationId xmlns:a16="http://schemas.microsoft.com/office/drawing/2014/main" id="{1B8AB8D6-1756-4A04-8BBE-8478E6E4BC75}"/>
              </a:ext>
            </a:extLst>
          </p:cNvPr>
          <p:cNvSpPr>
            <a:spLocks xmlns:a="http://schemas.openxmlformats.org/drawingml/2006/main" noGrp="1"/>
          </p:cNvSpPr>
          <p:nvPr/>
        </p:nvSpPr>
        <p:spPr>
          <a:xfrm xmlns:a="http://schemas.openxmlformats.org/drawingml/2006/main">
            <a:off x="10120313" y="3714750"/>
            <a:ext cx="0" cy="523875"/>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41" name="">
            <a:extLst xmlns:a="http://schemas.openxmlformats.org/drawingml/2006/main">
              <a:ext uri="{FF2B5EF4-FFF2-40B4-BE49-F238E27FC236}">
                <a16:creationId xmlns:a16="http://schemas.microsoft.com/office/drawing/2014/main" id="{3A9BD5DD-6F64-4E13-9FE6-59B6207DEC3F}"/>
              </a:ext>
            </a:extLst>
          </p:cNvPr>
          <p:cNvSpPr>
            <a:spLocks xmlns:a="http://schemas.openxmlformats.org/drawingml/2006/main" noGrp="1"/>
          </p:cNvSpPr>
          <p:nvPr/>
        </p:nvSpPr>
        <p:spPr>
          <a:xfrm xmlns:a="http://schemas.openxmlformats.org/drawingml/2006/main">
            <a:off x="9286875" y="4238625"/>
            <a:ext cx="833438"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42" name="">
            <a:extLst xmlns:a="http://schemas.openxmlformats.org/drawingml/2006/main">
              <a:ext uri="{FF2B5EF4-FFF2-40B4-BE49-F238E27FC236}">
                <a16:creationId xmlns:a16="http://schemas.microsoft.com/office/drawing/2014/main" id="{F41651F9-EADE-4F59-ADA0-33FC38A738FC}"/>
              </a:ext>
            </a:extLst>
          </p:cNvPr>
          <p:cNvSpPr>
            <a:spLocks xmlns:a="http://schemas.openxmlformats.org/drawingml/2006/main" noGrp="1"/>
          </p:cNvSpPr>
          <p:nvPr/>
        </p:nvSpPr>
        <p:spPr>
          <a:xfrm xmlns:a="http://schemas.openxmlformats.org/drawingml/2006/main">
            <a:off x="9210675" y="4162425"/>
            <a:ext cx="152400" cy="152400"/>
          </a:xfrm>
          <a:prstGeom xmlns:a="http://schemas.openxmlformats.org/drawingml/2006/main" prst="triangle">
            <a:avLst/>
          </a:prstGeom>
          <a:solidFill xmlns:a="http://schemas.openxmlformats.org/drawingml/2006/main">
            <a:srgbClr val="0F8B8D"/>
          </a:solidFill>
          <a:ln xmlns:a="http://schemas.openxmlformats.org/drawingml/2006/main" w="9525">
            <a:solidFill>
              <a:srgbClr val="0F8B8D"/>
            </a:solidFill>
          </a:ln>
        </p:spPr>
        <p:txBody>
          <a:bodyPr xmlns:a="http://schemas.openxmlformats.org/drawingml/2006/main"/>
          <a:lstStyle xmlns:a="http://schemas.openxmlformats.org/drawingml/2006/main"/>
          <a:p xmlns:a="http://schemas.openxmlformats.org/drawingml/2006/main"/>
        </p:txBody>
      </p:sp>
      <p:sp>
        <p:nvSpPr>
          <p:cNvPr id="43" name="">
            <a:extLst xmlns:a="http://schemas.openxmlformats.org/drawingml/2006/main">
              <a:ext uri="{FF2B5EF4-FFF2-40B4-BE49-F238E27FC236}">
                <a16:creationId xmlns:a16="http://schemas.microsoft.com/office/drawing/2014/main" id="{69FEFE9C-7A1A-4312-AFAC-6FF525E7E068}"/>
              </a:ext>
            </a:extLst>
          </p:cNvPr>
          <p:cNvSpPr>
            <a:spLocks xmlns:a="http://schemas.openxmlformats.org/drawingml/2006/main" noGrp="1"/>
          </p:cNvSpPr>
          <p:nvPr/>
        </p:nvSpPr>
        <p:spPr>
          <a:xfrm xmlns:a="http://schemas.openxmlformats.org/drawingml/2006/main">
            <a:off x="666750" y="561975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00" b="0">
                <a:solidFill>
                  <a:srgbClr val="5B6B76"/>
                </a:solidFill>
                <a:latin typeface="Arial"/>
                <a:ea typeface="Arial"/>
                <a:cs typeface="Arial"/>
              </a:defRPr>
            </a:pPr>
            <a:r>
              <a:rPr sz="1200" b="0">
                <a:solidFill>
                  <a:srgbClr val="5B6B76"/>
                </a:solidFill>
                <a:latin typeface="Calibri"/>
                <a:ea typeface="Calibri"/>
                <a:cs typeface="Calibri"/>
              </a:rPr>
              <a:t>Sleep and HRV are possible future inputs only; neither is included in this CGMacros model.</a:t>
            </a:r>
          </a:p>
        </p:txBody>
      </p:sp>
    </p:spTree>
    <p:extLst>
      <p:ext uri="{BB962C8B-B14F-4D97-AF65-F5344CB8AC3E}">
        <p14:creationId xmlns:p14="http://schemas.microsoft.com/office/powerpoint/2010/main" val="1930900957"/>
      </p:ext>
    </p:extLst>
  </p:cSld>
</p:sld>
</file>

<file path=ppt/slides/slide5.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8F83ABF-2E0C-4F76-8410-61DF33D1DEF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F06B7F67-DA45-424C-BE07-F2BDF9204084}"/>
              </a:ext>
            </a:extLst>
          </p:cNvPr>
          <p:cNvSpPr>
            <a:spLocks xmlns:a="http://schemas.openxmlformats.org/drawingml/2006/main" noGrp="1"/>
          </p:cNvSpPr>
          <p:nvPr/>
        </p:nvSpPr>
        <p:spPr>
          <a:xfrm xmlns:a="http://schemas.openxmlformats.org/drawingml/2006/main">
            <a:off x="647700" y="2857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75" b="1">
                <a:solidFill>
                  <a:srgbClr val="0F8B8D"/>
                </a:solidFill>
                <a:latin typeface="Arial"/>
                <a:ea typeface="Arial"/>
                <a:cs typeface="Arial"/>
              </a:defRPr>
            </a:pPr>
            <a:r>
              <a:rPr sz="1100" b="1">
                <a:solidFill>
                  <a:srgbClr val="0F8B8D"/>
                </a:solidFill>
                <a:latin typeface="Segoe UI"/>
                <a:ea typeface="Segoe UI"/>
                <a:cs typeface="Segoe UI"/>
              </a:rPr>
              <a:t>GLYCOTWIN  /  RESEARCH PROTOTYPE</a:t>
            </a:r>
          </a:p>
        </p:txBody>
      </p:sp>
      <p:sp>
        <p:nvSpPr>
          <p:cNvPr id="3" name="">
            <a:extLst xmlns:a="http://schemas.openxmlformats.org/drawingml/2006/main">
              <a:ext uri="{FF2B5EF4-FFF2-40B4-BE49-F238E27FC236}">
                <a16:creationId xmlns:a16="http://schemas.microsoft.com/office/drawing/2014/main" id="{C0D3FA8C-A764-44BF-9E55-0F8C8C94E2E0}"/>
              </a:ext>
            </a:extLst>
          </p:cNvPr>
          <p:cNvSpPr>
            <a:spLocks xmlns:a="http://schemas.openxmlformats.org/drawingml/2006/main" noGrp="1"/>
          </p:cNvSpPr>
          <p:nvPr/>
        </p:nvSpPr>
        <p:spPr>
          <a:xfrm xmlns:a="http://schemas.openxmlformats.org/drawingml/2006/main">
            <a:off x="647700" y="5524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2550" b="1">
                <a:solidFill>
                  <a:srgbClr val="0B2A3C"/>
                </a:solidFill>
                <a:latin typeface="Arial"/>
                <a:ea typeface="Arial"/>
                <a:cs typeface="Arial"/>
              </a:defRPr>
            </a:pPr>
            <a:r>
              <a:rPr sz="2550" b="1">
                <a:solidFill>
                  <a:srgbClr val="0B2A3C"/>
                </a:solidFill>
                <a:latin typeface="Segoe UI"/>
                <a:ea typeface="Segoe UI"/>
                <a:cs typeface="Segoe UI"/>
              </a:rPr>
              <a:t>Model and evaluation design</a:t>
            </a:r>
          </a:p>
        </p:txBody>
      </p:sp>
      <p:sp>
        <p:nvSpPr>
          <p:cNvPr id="4" name="">
            <a:extLst xmlns:a="http://schemas.openxmlformats.org/drawingml/2006/main">
              <a:ext uri="{FF2B5EF4-FFF2-40B4-BE49-F238E27FC236}">
                <a16:creationId xmlns:a16="http://schemas.microsoft.com/office/drawing/2014/main" id="{AF945CE3-3224-4F02-AEA0-4A9A47F1656A}"/>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line">
            <a:avLst/>
          </a:prstGeom>
          <a:solidFill xmlns:a="http://schemas.openxmlformats.org/drawingml/2006/main">
            <a:srgbClr val="D5DEE2"/>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EB11AB4C-F1AA-464C-9F6F-A58E8F23E1B1}"/>
              </a:ext>
            </a:extLst>
          </p:cNvPr>
          <p:cNvSpPr>
            <a:spLocks xmlns:a="http://schemas.openxmlformats.org/drawingml/2006/main" noGrp="1"/>
          </p:cNvSpPr>
          <p:nvPr/>
        </p:nvSpPr>
        <p:spPr>
          <a:xfrm xmlns:a="http://schemas.openxmlformats.org/drawingml/2006/main">
            <a:off x="647700" y="64960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00" b="0">
                <a:solidFill>
                  <a:srgbClr val="5B6B76"/>
                </a:solidFill>
                <a:latin typeface="Arial"/>
                <a:ea typeface="Arial"/>
                <a:cs typeface="Arial"/>
              </a:defRPr>
            </a:pPr>
            <a:r>
              <a:rPr sz="1100" b="0">
                <a:solidFill>
                  <a:srgbClr val="5B6B76"/>
                </a:solidFill>
                <a:latin typeface="Calibri"/>
                <a:ea typeface="Calibri"/>
                <a:cs typeface="Calibri"/>
              </a:rPr>
              <a:t>CGMacros retrospective PoC  •  not for clinical use</a:t>
            </a:r>
          </a:p>
        </p:txBody>
      </p:sp>
      <p:sp>
        <p:nvSpPr>
          <p:cNvPr id="6" name="">
            <a:extLst xmlns:a="http://schemas.openxmlformats.org/drawingml/2006/main">
              <a:ext uri="{FF2B5EF4-FFF2-40B4-BE49-F238E27FC236}">
                <a16:creationId xmlns:a16="http://schemas.microsoft.com/office/drawing/2014/main" id="{C456F9DD-85F5-405B-A469-3290B1691056}"/>
              </a:ext>
            </a:extLst>
          </p:cNvPr>
          <p:cNvSpPr>
            <a:spLocks xmlns:a="http://schemas.openxmlformats.org/drawingml/2006/main" noGrp="1"/>
          </p:cNvSpPr>
          <p:nvPr/>
        </p:nvSpPr>
        <p:spPr>
          <a:xfrm xmlns:a="http://schemas.openxmlformats.org/drawingml/2006/main">
            <a:off x="666750" y="1476375"/>
            <a:ext cx="5010150" cy="3314700"/>
          </a:xfrm>
          <a:prstGeom xmlns:a="http://schemas.openxmlformats.org/drawingml/2006/main" prst="roundRect">
            <a:avLst>
              <a:gd name="adj" fmla="val 2299"/>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0137A949-3AEE-41AB-82B9-89DBC63DB2A2}"/>
              </a:ext>
            </a:extLst>
          </p:cNvPr>
          <p:cNvSpPr>
            <a:spLocks xmlns:a="http://schemas.openxmlformats.org/drawingml/2006/main" noGrp="1"/>
          </p:cNvSpPr>
          <p:nvPr/>
        </p:nvSpPr>
        <p:spPr>
          <a:xfrm xmlns:a="http://schemas.openxmlformats.org/drawingml/2006/main">
            <a:off x="666750" y="1476375"/>
            <a:ext cx="66675" cy="3314700"/>
          </a:xfrm>
          <a:prstGeom xmlns:a="http://schemas.openxmlformats.org/drawingml/2006/main" prst="rect">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C02E7D67-3D8E-4586-91FC-6CEA5E95033B}"/>
              </a:ext>
            </a:extLst>
          </p:cNvPr>
          <p:cNvSpPr>
            <a:spLocks xmlns:a="http://schemas.openxmlformats.org/drawingml/2006/main" noGrp="1"/>
          </p:cNvSpPr>
          <p:nvPr/>
        </p:nvSpPr>
        <p:spPr>
          <a:xfrm xmlns:a="http://schemas.openxmlformats.org/drawingml/2006/main">
            <a:off x="876300" y="1619250"/>
            <a:ext cx="461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425" b="1">
                <a:solidFill>
                  <a:srgbClr val="0B2A3C"/>
                </a:solidFill>
                <a:latin typeface="Arial"/>
                <a:ea typeface="Arial"/>
                <a:cs typeface="Arial"/>
              </a:defRPr>
            </a:pPr>
            <a:r>
              <a:rPr sz="1425" b="1">
                <a:solidFill>
                  <a:srgbClr val="0B2A3C"/>
                </a:solidFill>
                <a:latin typeface="Segoe UI"/>
                <a:ea typeface="Segoe UI"/>
                <a:cs typeface="Segoe UI"/>
              </a:rPr>
              <a:t>Prediction target</a:t>
            </a:r>
          </a:p>
        </p:txBody>
      </p:sp>
      <p:sp>
        <p:nvSpPr>
          <p:cNvPr id="9" name="">
            <a:extLst xmlns:a="http://schemas.openxmlformats.org/drawingml/2006/main">
              <a:ext uri="{FF2B5EF4-FFF2-40B4-BE49-F238E27FC236}">
                <a16:creationId xmlns:a16="http://schemas.microsoft.com/office/drawing/2014/main" id="{FF8C3CDF-54D5-4724-A068-C41BAAD89A26}"/>
              </a:ext>
            </a:extLst>
          </p:cNvPr>
          <p:cNvSpPr>
            <a:spLocks xmlns:a="http://schemas.openxmlformats.org/drawingml/2006/main" noGrp="1"/>
          </p:cNvSpPr>
          <p:nvPr/>
        </p:nvSpPr>
        <p:spPr>
          <a:xfrm xmlns:a="http://schemas.openxmlformats.org/drawingml/2006/main">
            <a:off x="876300" y="1962150"/>
            <a:ext cx="46101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t">
            <a:noAutofit/>
          </a:bodyPr>
          <a:lstStyle xmlns:a="http://schemas.openxmlformats.org/drawingml/2006/main"/>
          <a:p xmlns:a="http://schemas.openxmlformats.org/drawingml/2006/main">
            <a:pPr algn="l">
              <a:buNone/>
              <a:defRPr sz="1275" b="0">
                <a:solidFill>
                  <a:srgbClr val="0B2A3C"/>
                </a:solidFill>
                <a:latin typeface="Arial"/>
                <a:ea typeface="Arial"/>
                <a:cs typeface="Arial"/>
              </a:defRPr>
            </a:pPr>
            <a:r>
              <a:rPr sz="1400" b="0">
                <a:solidFill>
                  <a:srgbClr val="0B2A3C"/>
                </a:solidFill>
                <a:latin typeface="Calibri"/>
                <a:ea typeface="Calibri"/>
                <a:cs typeface="Calibri"/>
              </a:rPr>
              <a:t>At 15-minute replay points, forecast glucose ≥180 mg/dL at +30, +60, and +120 min.</a:t>
            </a:r>
            <a:br>
              <a:rPr sz="1400" b="0">
                <a:solidFill>
                  <a:srgbClr val="0B2A3C"/>
                </a:solidFill>
                <a:latin typeface="Calibri"/>
                <a:ea typeface="Calibri"/>
                <a:cs typeface="Calibri"/>
              </a:rPr>
            </a:br>
            <a:br>
              <a:rPr sz="1400" b="0">
                <a:solidFill>
                  <a:srgbClr val="0B2A3C"/>
                </a:solidFill>
                <a:latin typeface="Calibri"/>
                <a:ea typeface="Calibri"/>
                <a:cs typeface="Calibri"/>
              </a:rPr>
            </a:br>
            <a:r>
              <a:rPr sz="1400" b="0">
                <a:solidFill>
                  <a:srgbClr val="0B2A3C"/>
                </a:solidFill>
                <a:latin typeface="Calibri"/>
                <a:ea typeface="Calibri"/>
                <a:cs typeface="Calibri"/>
              </a:rPr>
              <a:t>53 fused features: 41 dynamic + 12 baseline EHR.</a:t>
            </a:r>
            <a:br>
              <a:rPr sz="1400" b="0">
                <a:solidFill>
                  <a:srgbClr val="0B2A3C"/>
                </a:solidFill>
                <a:latin typeface="Calibri"/>
                <a:ea typeface="Calibri"/>
                <a:cs typeface="Calibri"/>
              </a:rPr>
            </a:br>
            <a:br>
              <a:rPr sz="1400" b="0">
                <a:solidFill>
                  <a:srgbClr val="0B2A3C"/>
                </a:solidFill>
                <a:latin typeface="Calibri"/>
                <a:ea typeface="Calibri"/>
                <a:cs typeface="Calibri"/>
              </a:rPr>
            </a:br>
            <a:r>
              <a:rPr sz="1400" b="0">
                <a:solidFill>
                  <a:srgbClr val="0B2A3C"/>
                </a:solidFill>
                <a:latin typeface="Calibri"/>
                <a:ea typeface="Calibri"/>
                <a:cs typeface="Calibri"/>
              </a:rPr>
              <a:t>Imputation and model fitting stay within training participants.</a:t>
            </a:r>
          </a:p>
        </p:txBody>
      </p:sp>
      <p:sp>
        <p:nvSpPr>
          <p:cNvPr id="10" name="">
            <a:extLst xmlns:a="http://schemas.openxmlformats.org/drawingml/2006/main">
              <a:ext uri="{FF2B5EF4-FFF2-40B4-BE49-F238E27FC236}">
                <a16:creationId xmlns:a16="http://schemas.microsoft.com/office/drawing/2014/main" id="{1BB65727-0460-4FF5-BD2D-6D0850723F82}"/>
              </a:ext>
            </a:extLst>
          </p:cNvPr>
          <p:cNvSpPr>
            <a:spLocks xmlns:a="http://schemas.openxmlformats.org/drawingml/2006/main" noGrp="1"/>
          </p:cNvSpPr>
          <p:nvPr/>
        </p:nvSpPr>
        <p:spPr>
          <a:xfrm xmlns:a="http://schemas.openxmlformats.org/drawingml/2006/main">
            <a:off x="5962650" y="1476375"/>
            <a:ext cx="5562600" cy="3314700"/>
          </a:xfrm>
          <a:prstGeom xmlns:a="http://schemas.openxmlformats.org/drawingml/2006/main" prst="roundRect">
            <a:avLst>
              <a:gd name="adj" fmla="val 2299"/>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EEF66B09-577D-4ECA-AEED-F59308CBAA1A}"/>
              </a:ext>
            </a:extLst>
          </p:cNvPr>
          <p:cNvSpPr>
            <a:spLocks xmlns:a="http://schemas.openxmlformats.org/drawingml/2006/main" noGrp="1"/>
          </p:cNvSpPr>
          <p:nvPr/>
        </p:nvSpPr>
        <p:spPr>
          <a:xfrm xmlns:a="http://schemas.openxmlformats.org/drawingml/2006/main">
            <a:off x="5962650" y="1476375"/>
            <a:ext cx="66675" cy="3314700"/>
          </a:xfrm>
          <a:prstGeom xmlns:a="http://schemas.openxmlformats.org/drawingml/2006/main" prst="rect">
            <a:avLst/>
          </a:prstGeom>
          <a:solidFill xmlns:a="http://schemas.openxmlformats.org/drawingml/2006/main">
            <a:srgbClr val="F2A33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12" name="">
            <a:extLst xmlns:a="http://schemas.openxmlformats.org/drawingml/2006/main">
              <a:ext uri="{FF2B5EF4-FFF2-40B4-BE49-F238E27FC236}">
                <a16:creationId xmlns:a16="http://schemas.microsoft.com/office/drawing/2014/main" id="{D6AA276C-C185-4226-9C20-D702F2097310}"/>
              </a:ext>
            </a:extLst>
          </p:cNvPr>
          <p:cNvSpPr>
            <a:spLocks xmlns:a="http://schemas.openxmlformats.org/drawingml/2006/main" noGrp="1"/>
          </p:cNvSpPr>
          <p:nvPr/>
        </p:nvSpPr>
        <p:spPr>
          <a:xfrm xmlns:a="http://schemas.openxmlformats.org/drawingml/2006/main">
            <a:off x="6172200" y="1619250"/>
            <a:ext cx="516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425" b="1">
                <a:solidFill>
                  <a:srgbClr val="0B2A3C"/>
                </a:solidFill>
                <a:latin typeface="Arial"/>
                <a:ea typeface="Arial"/>
                <a:cs typeface="Arial"/>
              </a:defRPr>
            </a:pPr>
            <a:r>
              <a:rPr sz="1425" b="1">
                <a:solidFill>
                  <a:srgbClr val="0B2A3C"/>
                </a:solidFill>
                <a:latin typeface="Segoe UI"/>
                <a:ea typeface="Segoe UI"/>
                <a:cs typeface="Segoe UI"/>
              </a:rPr>
              <a:t>Selected model</a:t>
            </a:r>
          </a:p>
        </p:txBody>
      </p:sp>
      <p:sp>
        <p:nvSpPr>
          <p:cNvPr id="13" name="">
            <a:extLst xmlns:a="http://schemas.openxmlformats.org/drawingml/2006/main">
              <a:ext uri="{FF2B5EF4-FFF2-40B4-BE49-F238E27FC236}">
                <a16:creationId xmlns:a16="http://schemas.microsoft.com/office/drawing/2014/main" id="{7C648167-43DC-4FCD-88BA-2482FEC1FD0C}"/>
              </a:ext>
            </a:extLst>
          </p:cNvPr>
          <p:cNvSpPr>
            <a:spLocks xmlns:a="http://schemas.openxmlformats.org/drawingml/2006/main" noGrp="1"/>
          </p:cNvSpPr>
          <p:nvPr/>
        </p:nvSpPr>
        <p:spPr>
          <a:xfrm xmlns:a="http://schemas.openxmlformats.org/drawingml/2006/main">
            <a:off x="6172200" y="1962150"/>
            <a:ext cx="51625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t">
            <a:noAutofit/>
          </a:bodyPr>
          <a:lstStyle xmlns:a="http://schemas.openxmlformats.org/drawingml/2006/main"/>
          <a:p xmlns:a="http://schemas.openxmlformats.org/drawingml/2006/main">
            <a:pPr algn="l">
              <a:buNone/>
              <a:defRPr sz="1275" b="0">
                <a:solidFill>
                  <a:srgbClr val="0B2A3C"/>
                </a:solidFill>
                <a:latin typeface="Arial"/>
                <a:ea typeface="Arial"/>
                <a:cs typeface="Arial"/>
              </a:defRPr>
            </a:pPr>
            <a:r>
              <a:rPr sz="1400" b="0">
                <a:solidFill>
                  <a:srgbClr val="0B2A3C"/>
                </a:solidFill>
                <a:latin typeface="Calibri"/>
                <a:ea typeface="Calibri"/>
                <a:cs typeface="Calibri"/>
              </a:rPr>
              <a:t>HistGradientBoosting classifier / regressor</a:t>
            </a:r>
            <a:br>
              <a:rPr sz="1400" b="0">
                <a:solidFill>
                  <a:srgbClr val="0B2A3C"/>
                </a:solidFill>
                <a:latin typeface="Calibri"/>
                <a:ea typeface="Calibri"/>
                <a:cs typeface="Calibri"/>
              </a:rPr>
            </a:br>
            <a:br>
              <a:rPr sz="1400" b="0">
                <a:solidFill>
                  <a:srgbClr val="0B2A3C"/>
                </a:solidFill>
                <a:latin typeface="Calibri"/>
                <a:ea typeface="Calibri"/>
                <a:cs typeface="Calibri"/>
              </a:rPr>
            </a:br>
            <a:r>
              <a:rPr sz="1400" b="0">
                <a:solidFill>
                  <a:srgbClr val="0B2A3C"/>
                </a:solidFill>
                <a:latin typeface="Calibri"/>
                <a:ea typeface="Calibri"/>
                <a:cs typeface="Calibri"/>
              </a:rPr>
              <a:t>Four representative settings; max_iter 300–1,000 (iterations, not epochs).</a:t>
            </a:r>
            <a:br>
              <a:rPr sz="1400" b="0">
                <a:solidFill>
                  <a:srgbClr val="0B2A3C"/>
                </a:solidFill>
                <a:latin typeface="Calibri"/>
                <a:ea typeface="Calibri"/>
                <a:cs typeface="Calibri"/>
              </a:rPr>
            </a:br>
            <a:br>
              <a:rPr sz="1400" b="0">
                <a:solidFill>
                  <a:srgbClr val="0B2A3C"/>
                </a:solidFill>
                <a:latin typeface="Calibri"/>
                <a:ea typeface="Calibri"/>
                <a:cs typeface="Calibri"/>
              </a:rPr>
            </a:br>
            <a:r>
              <a:rPr sz="1400" b="0">
                <a:solidFill>
                  <a:srgbClr val="0B2A3C"/>
                </a:solidFill>
                <a:latin typeface="Calibri"/>
                <a:ea typeface="Calibri"/>
                <a:cs typeface="Calibri"/>
              </a:rPr>
              <a:t>Inner grouped AP / MAE selection; outer folds hold out people. Five distinct assignments.</a:t>
            </a:r>
          </a:p>
        </p:txBody>
      </p:sp>
      <p:sp>
        <p:nvSpPr>
          <p:cNvPr id="14" name="">
            <a:extLst xmlns:a="http://schemas.openxmlformats.org/drawingml/2006/main">
              <a:ext uri="{FF2B5EF4-FFF2-40B4-BE49-F238E27FC236}">
                <a16:creationId xmlns:a16="http://schemas.microsoft.com/office/drawing/2014/main" id="{6A2DD400-F9D2-4A7B-9D75-64DC58CC19A0}"/>
              </a:ext>
            </a:extLst>
          </p:cNvPr>
          <p:cNvSpPr>
            <a:spLocks xmlns:a="http://schemas.openxmlformats.org/drawingml/2006/main" noGrp="1"/>
          </p:cNvSpPr>
          <p:nvPr/>
        </p:nvSpPr>
        <p:spPr>
          <a:xfrm xmlns:a="http://schemas.openxmlformats.org/drawingml/2006/main">
            <a:off x="666750" y="5381625"/>
            <a:ext cx="2333625" cy="285750"/>
          </a:xfrm>
          <a:prstGeom xmlns:a="http://schemas.openxmlformats.org/drawingml/2006/main" prst="roundRect">
            <a:avLst>
              <a:gd name="adj" fmla="val 26667"/>
            </a:avLst>
          </a:prstGeom>
          <a:solidFill xmlns:a="http://schemas.openxmlformats.org/drawingml/2006/main">
            <a:srgbClr val="E6F4F1"/>
          </a:solidFill>
          <a:ln xmlns:a="http://schemas.openxmlformats.org/drawingml/2006/main" w="9525">
            <a:solidFill>
              <a:srgbClr val="E6F4F1"/>
            </a:solidFill>
          </a:ln>
        </p:spPr>
        <p:txBody>
          <a:bodyPr xmlns:a="http://schemas.openxmlformats.org/drawingml/2006/main"/>
          <a:lstStyle xmlns:a="http://schemas.openxmlformats.org/drawingml/2006/main"/>
          <a:p xmlns:a="http://schemas.openxmlformats.org/drawingml/2006/main"/>
        </p:txBody>
      </p:sp>
      <p:sp>
        <p:nvSpPr>
          <p:cNvPr id="15" name="">
            <a:extLst xmlns:a="http://schemas.openxmlformats.org/drawingml/2006/main">
              <a:ext uri="{FF2B5EF4-FFF2-40B4-BE49-F238E27FC236}">
                <a16:creationId xmlns:a16="http://schemas.microsoft.com/office/drawing/2014/main" id="{67608D71-BCB1-4EDC-BC19-06336B4D4E9A}"/>
              </a:ext>
            </a:extLst>
          </p:cNvPr>
          <p:cNvSpPr>
            <a:spLocks xmlns:a="http://schemas.openxmlformats.org/drawingml/2006/main" noGrp="1"/>
          </p:cNvSpPr>
          <p:nvPr/>
        </p:nvSpPr>
        <p:spPr>
          <a:xfrm xmlns:a="http://schemas.openxmlformats.org/drawingml/2006/main">
            <a:off x="742950" y="5400675"/>
            <a:ext cx="2181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975" b="1">
                <a:solidFill>
                  <a:srgbClr val="0F8B8D"/>
                </a:solidFill>
                <a:latin typeface="Arial"/>
                <a:ea typeface="Arial"/>
                <a:cs typeface="Arial"/>
              </a:defRPr>
            </a:pPr>
            <a:r>
              <a:rPr sz="1400" b="1">
                <a:solidFill>
                  <a:srgbClr val="0F8B8D"/>
                </a:solidFill>
                <a:latin typeface="Segoe UI"/>
                <a:ea typeface="Segoe UI"/>
                <a:cs typeface="Segoe UI"/>
              </a:rPr>
              <a:t>45,447 OOF WINDOWS</a:t>
            </a:r>
          </a:p>
        </p:txBody>
      </p:sp>
      <p:sp>
        <p:nvSpPr>
          <p:cNvPr id="16" name="">
            <a:extLst xmlns:a="http://schemas.openxmlformats.org/drawingml/2006/main">
              <a:ext uri="{FF2B5EF4-FFF2-40B4-BE49-F238E27FC236}">
                <a16:creationId xmlns:a16="http://schemas.microsoft.com/office/drawing/2014/main" id="{426C575A-8B2A-415F-A409-2855574DC59B}"/>
              </a:ext>
            </a:extLst>
          </p:cNvPr>
          <p:cNvSpPr>
            <a:spLocks xmlns:a="http://schemas.openxmlformats.org/drawingml/2006/main" noGrp="1"/>
          </p:cNvSpPr>
          <p:nvPr/>
        </p:nvSpPr>
        <p:spPr>
          <a:xfrm xmlns:a="http://schemas.openxmlformats.org/drawingml/2006/main">
            <a:off x="3190875" y="5381625"/>
            <a:ext cx="2381250" cy="285750"/>
          </a:xfrm>
          <a:prstGeom xmlns:a="http://schemas.openxmlformats.org/drawingml/2006/main" prst="roundRect">
            <a:avLst>
              <a:gd name="adj" fmla="val 26667"/>
            </a:avLst>
          </a:prstGeom>
          <a:solidFill xmlns:a="http://schemas.openxmlformats.org/drawingml/2006/main">
            <a:srgbClr val="E6F4F1"/>
          </a:solidFill>
          <a:ln xmlns:a="http://schemas.openxmlformats.org/drawingml/2006/main" w="9525">
            <a:solidFill>
              <a:srgbClr val="E6F4F1"/>
            </a:solidFill>
          </a:ln>
        </p:spPr>
        <p:txBody>
          <a:bodyPr xmlns:a="http://schemas.openxmlformats.org/drawingml/2006/main"/>
          <a:lstStyle xmlns:a="http://schemas.openxmlformats.org/drawingml/2006/main"/>
          <a:p xmlns:a="http://schemas.openxmlformats.org/drawingml/2006/main"/>
        </p:txBody>
      </p:sp>
      <p:sp>
        <p:nvSpPr>
          <p:cNvPr id="17" name="">
            <a:extLst xmlns:a="http://schemas.openxmlformats.org/drawingml/2006/main">
              <a:ext uri="{FF2B5EF4-FFF2-40B4-BE49-F238E27FC236}">
                <a16:creationId xmlns:a16="http://schemas.microsoft.com/office/drawing/2014/main" id="{C7E1A613-6F1D-40C5-A24D-2A5A8D5902A2}"/>
              </a:ext>
            </a:extLst>
          </p:cNvPr>
          <p:cNvSpPr>
            <a:spLocks xmlns:a="http://schemas.openxmlformats.org/drawingml/2006/main" noGrp="1"/>
          </p:cNvSpPr>
          <p:nvPr/>
        </p:nvSpPr>
        <p:spPr>
          <a:xfrm xmlns:a="http://schemas.openxmlformats.org/drawingml/2006/main">
            <a:off x="3267075" y="5400675"/>
            <a:ext cx="2228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975" b="1">
                <a:solidFill>
                  <a:srgbClr val="0F8B8D"/>
                </a:solidFill>
                <a:latin typeface="Arial"/>
                <a:ea typeface="Arial"/>
                <a:cs typeface="Arial"/>
              </a:defRPr>
            </a:pPr>
            <a:r>
              <a:rPr sz="1400" b="1">
                <a:solidFill>
                  <a:srgbClr val="0F8B8D"/>
                </a:solidFill>
                <a:latin typeface="Segoe UI"/>
                <a:ea typeface="Segoe UI"/>
                <a:cs typeface="Segoe UI"/>
              </a:rPr>
              <a:t>2,845 POSITIVE EVENTS</a:t>
            </a:r>
          </a:p>
        </p:txBody>
      </p:sp>
      <p:sp>
        <p:nvSpPr>
          <p:cNvPr id="18" name="">
            <a:extLst xmlns:a="http://schemas.openxmlformats.org/drawingml/2006/main">
              <a:ext uri="{FF2B5EF4-FFF2-40B4-BE49-F238E27FC236}">
                <a16:creationId xmlns:a16="http://schemas.microsoft.com/office/drawing/2014/main" id="{BDC5BF44-0565-4E23-ADD9-01C3633451C6}"/>
              </a:ext>
            </a:extLst>
          </p:cNvPr>
          <p:cNvSpPr>
            <a:spLocks xmlns:a="http://schemas.openxmlformats.org/drawingml/2006/main" noGrp="1"/>
          </p:cNvSpPr>
          <p:nvPr/>
        </p:nvSpPr>
        <p:spPr>
          <a:xfrm xmlns:a="http://schemas.openxmlformats.org/drawingml/2006/main">
            <a:off x="5762625" y="5381625"/>
            <a:ext cx="3857625" cy="285750"/>
          </a:xfrm>
          <a:prstGeom xmlns:a="http://schemas.openxmlformats.org/drawingml/2006/main" prst="roundRect">
            <a:avLst>
              <a:gd name="adj" fmla="val 26667"/>
            </a:avLst>
          </a:prstGeom>
          <a:solidFill xmlns:a="http://schemas.openxmlformats.org/drawingml/2006/main">
            <a:srgbClr val="E6F4F1"/>
          </a:solidFill>
          <a:ln xmlns:a="http://schemas.openxmlformats.org/drawingml/2006/main" w="9525">
            <a:solidFill>
              <a:srgbClr val="E6F4F1"/>
            </a:solidFill>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B19FDC1A-D395-4218-8047-7B6BD38CEE07}"/>
              </a:ext>
            </a:extLst>
          </p:cNvPr>
          <p:cNvSpPr>
            <a:spLocks xmlns:a="http://schemas.openxmlformats.org/drawingml/2006/main" noGrp="1"/>
          </p:cNvSpPr>
          <p:nvPr/>
        </p:nvSpPr>
        <p:spPr>
          <a:xfrm xmlns:a="http://schemas.openxmlformats.org/drawingml/2006/main">
            <a:off x="5838825" y="5400675"/>
            <a:ext cx="3705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975" b="1">
                <a:solidFill>
                  <a:srgbClr val="5B6B76"/>
                </a:solidFill>
                <a:latin typeface="Arial"/>
                <a:ea typeface="Arial"/>
                <a:cs typeface="Arial"/>
              </a:defRPr>
            </a:pPr>
            <a:r>
              <a:rPr sz="1400" b="1">
                <a:solidFill>
                  <a:srgbClr val="5B6B76"/>
                </a:solidFill>
                <a:latin typeface="Segoe UI"/>
                <a:ea typeface="Segoe UI"/>
                <a:cs typeface="Segoe UI"/>
              </a:rPr>
              <a:t>43/45 EARLY-DATA ELIGIBLE</a:t>
            </a:r>
          </a:p>
        </p:txBody>
      </p:sp>
    </p:spTree>
    <p:extLst>
      <p:ext uri="{BB962C8B-B14F-4D97-AF65-F5344CB8AC3E}">
        <p14:creationId xmlns:p14="http://schemas.microsoft.com/office/powerpoint/2010/main" val="2081293201"/>
      </p:ext>
    </p:extLst>
  </p:cSld>
</p:sld>
</file>

<file path=ppt/slides/slide6.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56F1056-48DA-489B-B453-D7FDDCEBBF9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633AE744-BF46-4032-87A7-4FBBCE0D001B}"/>
              </a:ext>
            </a:extLst>
          </p:cNvPr>
          <p:cNvSpPr>
            <a:spLocks xmlns:a="http://schemas.openxmlformats.org/drawingml/2006/main" noGrp="1"/>
          </p:cNvSpPr>
          <p:nvPr/>
        </p:nvSpPr>
        <p:spPr>
          <a:xfrm xmlns:a="http://schemas.openxmlformats.org/drawingml/2006/main">
            <a:off x="647700" y="2857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75" b="1">
                <a:solidFill>
                  <a:srgbClr val="0F8B8D"/>
                </a:solidFill>
                <a:latin typeface="Arial"/>
                <a:ea typeface="Arial"/>
                <a:cs typeface="Arial"/>
              </a:defRPr>
            </a:pPr>
            <a:r>
              <a:rPr sz="1100" b="1">
                <a:solidFill>
                  <a:srgbClr val="0F8B8D"/>
                </a:solidFill>
                <a:latin typeface="Segoe UI"/>
                <a:ea typeface="Segoe UI"/>
                <a:cs typeface="Segoe UI"/>
              </a:rPr>
              <a:t>GLYCOTWIN  /  RESEARCH PROTOTYPE</a:t>
            </a:r>
          </a:p>
        </p:txBody>
      </p:sp>
      <p:sp>
        <p:nvSpPr>
          <p:cNvPr id="3" name="">
            <a:extLst xmlns:a="http://schemas.openxmlformats.org/drawingml/2006/main">
              <a:ext uri="{FF2B5EF4-FFF2-40B4-BE49-F238E27FC236}">
                <a16:creationId xmlns:a16="http://schemas.microsoft.com/office/drawing/2014/main" id="{B0B8846D-0CA9-4168-860E-2D971AA67BA1}"/>
              </a:ext>
            </a:extLst>
          </p:cNvPr>
          <p:cNvSpPr>
            <a:spLocks xmlns:a="http://schemas.openxmlformats.org/drawingml/2006/main" noGrp="1"/>
          </p:cNvSpPr>
          <p:nvPr/>
        </p:nvSpPr>
        <p:spPr>
          <a:xfrm xmlns:a="http://schemas.openxmlformats.org/drawingml/2006/main">
            <a:off x="647700" y="5524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2550" b="1">
                <a:solidFill>
                  <a:srgbClr val="0B2A3C"/>
                </a:solidFill>
                <a:latin typeface="Arial"/>
                <a:ea typeface="Arial"/>
                <a:cs typeface="Arial"/>
              </a:defRPr>
            </a:pPr>
            <a:r>
              <a:rPr sz="2550" b="1">
                <a:solidFill>
                  <a:srgbClr val="0B2A3C"/>
                </a:solidFill>
                <a:latin typeface="Segoe UI"/>
                <a:ea typeface="Segoe UI"/>
                <a:cs typeface="Segoe UI"/>
              </a:rPr>
              <a:t>Repeated grouped evaluation: assignment spread</a:t>
            </a:r>
          </a:p>
        </p:txBody>
      </p:sp>
      <p:sp>
        <p:nvSpPr>
          <p:cNvPr id="4" name="">
            <a:extLst xmlns:a="http://schemas.openxmlformats.org/drawingml/2006/main">
              <a:ext uri="{FF2B5EF4-FFF2-40B4-BE49-F238E27FC236}">
                <a16:creationId xmlns:a16="http://schemas.microsoft.com/office/drawing/2014/main" id="{A3A32D64-EE94-4142-9893-68D9BECA5C4E}"/>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line">
            <a:avLst/>
          </a:prstGeom>
          <a:solidFill xmlns:a="http://schemas.openxmlformats.org/drawingml/2006/main">
            <a:srgbClr val="D5DEE2"/>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EC81A8E1-3EA5-49EC-B7BE-AB4ED0FEDB91}"/>
              </a:ext>
            </a:extLst>
          </p:cNvPr>
          <p:cNvSpPr>
            <a:spLocks xmlns:a="http://schemas.openxmlformats.org/drawingml/2006/main" noGrp="1"/>
          </p:cNvSpPr>
          <p:nvPr/>
        </p:nvSpPr>
        <p:spPr>
          <a:xfrm xmlns:a="http://schemas.openxmlformats.org/drawingml/2006/main">
            <a:off x="647700" y="64960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00" b="0">
                <a:solidFill>
                  <a:srgbClr val="5B6B76"/>
                </a:solidFill>
                <a:latin typeface="Arial"/>
                <a:ea typeface="Arial"/>
                <a:cs typeface="Arial"/>
              </a:defRPr>
            </a:pPr>
            <a:r>
              <a:rPr sz="1100" b="0">
                <a:solidFill>
                  <a:srgbClr val="5B6B76"/>
                </a:solidFill>
                <a:latin typeface="Calibri"/>
                <a:ea typeface="Calibri"/>
                <a:cs typeface="Calibri"/>
              </a:rPr>
              <a:t>CGMacros retrospective PoC  •  not for clinical use</a:t>
            </a:r>
          </a:p>
        </p:txBody>
      </p:sp>
      <p:sp>
        <p:nvSpPr>
          <p:cNvPr id="6" name="">
            <a:extLst xmlns:a="http://schemas.openxmlformats.org/drawingml/2006/main">
              <a:ext uri="{FF2B5EF4-FFF2-40B4-BE49-F238E27FC236}">
                <a16:creationId xmlns:a16="http://schemas.microsoft.com/office/drawing/2014/main" id="{16F33F7F-07DE-4CB5-9286-E605694DF1B4}"/>
              </a:ext>
            </a:extLst>
          </p:cNvPr>
          <p:cNvSpPr>
            <a:spLocks xmlns:a="http://schemas.openxmlformats.org/drawingml/2006/main" noGrp="1"/>
          </p:cNvSpPr>
          <p:nvPr/>
        </p:nvSpPr>
        <p:spPr>
          <a:xfrm xmlns:a="http://schemas.openxmlformats.org/drawingml/2006/main">
            <a:off x="666750" y="1524000"/>
            <a:ext cx="3238500" cy="1581150"/>
          </a:xfrm>
          <a:prstGeom xmlns:a="http://schemas.openxmlformats.org/drawingml/2006/main" prst="roundRect">
            <a:avLst>
              <a:gd name="adj" fmla="val 4819"/>
            </a:avLst>
          </a:prstGeom>
          <a:solidFill xmlns:a="http://schemas.openxmlformats.org/drawingml/2006/main">
            <a:srgbClr val="E6F4F1"/>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B4A6DA37-6BFF-4FC4-9F90-7DFE8AD8B869}"/>
              </a:ext>
            </a:extLst>
          </p:cNvPr>
          <p:cNvSpPr>
            <a:spLocks xmlns:a="http://schemas.openxmlformats.org/drawingml/2006/main" noGrp="1"/>
          </p:cNvSpPr>
          <p:nvPr/>
        </p:nvSpPr>
        <p:spPr>
          <a:xfrm xmlns:a="http://schemas.openxmlformats.org/drawingml/2006/main">
            <a:off x="857250" y="1695450"/>
            <a:ext cx="285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350" b="1">
                <a:solidFill>
                  <a:srgbClr val="5B6B76"/>
                </a:solidFill>
                <a:latin typeface="Arial"/>
                <a:ea typeface="Arial"/>
                <a:cs typeface="Arial"/>
              </a:defRPr>
            </a:pPr>
            <a:r>
              <a:rPr sz="1400" b="1">
                <a:solidFill>
                  <a:srgbClr val="5B6B76"/>
                </a:solidFill>
                <a:latin typeface="Segoe UI"/>
                <a:ea typeface="Segoe UI"/>
                <a:cs typeface="Segoe UI"/>
              </a:rPr>
              <a:t>Pooled PR-AUC</a:t>
            </a:r>
          </a:p>
        </p:txBody>
      </p:sp>
      <p:sp>
        <p:nvSpPr>
          <p:cNvPr id="8" name="">
            <a:extLst xmlns:a="http://schemas.openxmlformats.org/drawingml/2006/main">
              <a:ext uri="{FF2B5EF4-FFF2-40B4-BE49-F238E27FC236}">
                <a16:creationId xmlns:a16="http://schemas.microsoft.com/office/drawing/2014/main" id="{9699CCAC-B431-4682-8688-1311865E452B}"/>
              </a:ext>
            </a:extLst>
          </p:cNvPr>
          <p:cNvSpPr>
            <a:spLocks xmlns:a="http://schemas.openxmlformats.org/drawingml/2006/main" noGrp="1"/>
          </p:cNvSpPr>
          <p:nvPr/>
        </p:nvSpPr>
        <p:spPr>
          <a:xfrm xmlns:a="http://schemas.openxmlformats.org/drawingml/2006/main">
            <a:off x="857250" y="20383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3150" b="1">
                <a:solidFill>
                  <a:srgbClr val="0F8B8D"/>
                </a:solidFill>
                <a:latin typeface="Arial"/>
                <a:ea typeface="Arial"/>
                <a:cs typeface="Arial"/>
              </a:defRPr>
            </a:pPr>
            <a:r>
              <a:rPr sz="3150" b="1">
                <a:solidFill>
                  <a:srgbClr val="0F8B8D"/>
                </a:solidFill>
                <a:latin typeface="Consolas"/>
                <a:ea typeface="Consolas"/>
                <a:cs typeface="Consolas"/>
              </a:rPr>
              <a:t>0.370</a:t>
            </a:r>
          </a:p>
        </p:txBody>
      </p:sp>
      <p:sp>
        <p:nvSpPr>
          <p:cNvPr id="9" name="">
            <a:extLst xmlns:a="http://schemas.openxmlformats.org/drawingml/2006/main">
              <a:ext uri="{FF2B5EF4-FFF2-40B4-BE49-F238E27FC236}">
                <a16:creationId xmlns:a16="http://schemas.microsoft.com/office/drawing/2014/main" id="{67349A75-02FC-4376-8679-3E6BB72A0644}"/>
              </a:ext>
            </a:extLst>
          </p:cNvPr>
          <p:cNvSpPr>
            <a:spLocks xmlns:a="http://schemas.openxmlformats.org/drawingml/2006/main" noGrp="1"/>
          </p:cNvSpPr>
          <p:nvPr/>
        </p:nvSpPr>
        <p:spPr>
          <a:xfrm xmlns:a="http://schemas.openxmlformats.org/drawingml/2006/main">
            <a:off x="857250" y="2619375"/>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alibri"/>
                <a:ea typeface="Calibri"/>
                <a:cs typeface="Calibri"/>
              </a:rPr>
              <a:t>Seed range 0.358–0.382</a:t>
            </a:r>
          </a:p>
        </p:txBody>
      </p:sp>
      <p:sp>
        <p:nvSpPr>
          <p:cNvPr id="10" name="">
            <a:extLst xmlns:a="http://schemas.openxmlformats.org/drawingml/2006/main">
              <a:ext uri="{FF2B5EF4-FFF2-40B4-BE49-F238E27FC236}">
                <a16:creationId xmlns:a16="http://schemas.microsoft.com/office/drawing/2014/main" id="{6BD92E42-59A7-40B0-94FE-AF869DE256CD}"/>
              </a:ext>
            </a:extLst>
          </p:cNvPr>
          <p:cNvSpPr>
            <a:spLocks xmlns:a="http://schemas.openxmlformats.org/drawingml/2006/main" noGrp="1"/>
          </p:cNvSpPr>
          <p:nvPr/>
        </p:nvSpPr>
        <p:spPr>
          <a:xfrm xmlns:a="http://schemas.openxmlformats.org/drawingml/2006/main">
            <a:off x="4286250" y="1524000"/>
            <a:ext cx="3238500" cy="1581150"/>
          </a:xfrm>
          <a:prstGeom xmlns:a="http://schemas.openxmlformats.org/drawingml/2006/main" prst="roundRect">
            <a:avLst>
              <a:gd name="adj" fmla="val 4819"/>
            </a:avLst>
          </a:prstGeom>
          <a:solidFill xmlns:a="http://schemas.openxmlformats.org/drawingml/2006/main">
            <a:srgbClr val="E6F4F1"/>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13FE85B4-D87C-4BD7-B8CD-AA9BA9BCDA7F}"/>
              </a:ext>
            </a:extLst>
          </p:cNvPr>
          <p:cNvSpPr>
            <a:spLocks xmlns:a="http://schemas.openxmlformats.org/drawingml/2006/main" noGrp="1"/>
          </p:cNvSpPr>
          <p:nvPr/>
        </p:nvSpPr>
        <p:spPr>
          <a:xfrm xmlns:a="http://schemas.openxmlformats.org/drawingml/2006/main">
            <a:off x="4476750" y="1695450"/>
            <a:ext cx="285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350" b="1">
                <a:solidFill>
                  <a:srgbClr val="5B6B76"/>
                </a:solidFill>
                <a:latin typeface="Arial"/>
                <a:ea typeface="Arial"/>
                <a:cs typeface="Arial"/>
              </a:defRPr>
            </a:pPr>
            <a:r>
              <a:rPr sz="1400" b="1">
                <a:solidFill>
                  <a:srgbClr val="5B6B76"/>
                </a:solidFill>
                <a:latin typeface="Segoe UI"/>
                <a:ea typeface="Segoe UI"/>
                <a:cs typeface="Segoe UI"/>
              </a:rPr>
              <a:t>Pooled ROC-AUC</a:t>
            </a:r>
          </a:p>
        </p:txBody>
      </p:sp>
      <p:sp>
        <p:nvSpPr>
          <p:cNvPr id="12" name="">
            <a:extLst xmlns:a="http://schemas.openxmlformats.org/drawingml/2006/main">
              <a:ext uri="{FF2B5EF4-FFF2-40B4-BE49-F238E27FC236}">
                <a16:creationId xmlns:a16="http://schemas.microsoft.com/office/drawing/2014/main" id="{E492AF5A-28E1-49DD-A613-F599A2E184D0}"/>
              </a:ext>
            </a:extLst>
          </p:cNvPr>
          <p:cNvSpPr>
            <a:spLocks xmlns:a="http://schemas.openxmlformats.org/drawingml/2006/main" noGrp="1"/>
          </p:cNvSpPr>
          <p:nvPr/>
        </p:nvSpPr>
        <p:spPr>
          <a:xfrm xmlns:a="http://schemas.openxmlformats.org/drawingml/2006/main">
            <a:off x="4476750" y="20383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3150" b="1">
                <a:solidFill>
                  <a:srgbClr val="0F8B8D"/>
                </a:solidFill>
                <a:latin typeface="Arial"/>
                <a:ea typeface="Arial"/>
                <a:cs typeface="Arial"/>
              </a:defRPr>
            </a:pPr>
            <a:r>
              <a:rPr sz="3150" b="1">
                <a:solidFill>
                  <a:srgbClr val="0F8B8D"/>
                </a:solidFill>
                <a:latin typeface="Consolas"/>
                <a:ea typeface="Consolas"/>
                <a:cs typeface="Consolas"/>
              </a:rPr>
              <a:t>0.878</a:t>
            </a:r>
          </a:p>
        </p:txBody>
      </p:sp>
      <p:sp>
        <p:nvSpPr>
          <p:cNvPr id="13" name="">
            <a:extLst xmlns:a="http://schemas.openxmlformats.org/drawingml/2006/main">
              <a:ext uri="{FF2B5EF4-FFF2-40B4-BE49-F238E27FC236}">
                <a16:creationId xmlns:a16="http://schemas.microsoft.com/office/drawing/2014/main" id="{1561E9C4-D284-4F93-8783-C090F05C151A}"/>
              </a:ext>
            </a:extLst>
          </p:cNvPr>
          <p:cNvSpPr>
            <a:spLocks xmlns:a="http://schemas.openxmlformats.org/drawingml/2006/main" noGrp="1"/>
          </p:cNvSpPr>
          <p:nvPr/>
        </p:nvSpPr>
        <p:spPr>
          <a:xfrm xmlns:a="http://schemas.openxmlformats.org/drawingml/2006/main">
            <a:off x="4476750" y="2619375"/>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alibri"/>
                <a:ea typeface="Calibri"/>
                <a:cs typeface="Calibri"/>
              </a:rPr>
              <a:t>Seed range 0.855–0.888</a:t>
            </a:r>
          </a:p>
        </p:txBody>
      </p:sp>
      <p:sp>
        <p:nvSpPr>
          <p:cNvPr id="14" name="">
            <a:extLst xmlns:a="http://schemas.openxmlformats.org/drawingml/2006/main">
              <a:ext uri="{FF2B5EF4-FFF2-40B4-BE49-F238E27FC236}">
                <a16:creationId xmlns:a16="http://schemas.microsoft.com/office/drawing/2014/main" id="{9EE35142-3A3E-4749-9DF0-7C66E2B9E4B1}"/>
              </a:ext>
            </a:extLst>
          </p:cNvPr>
          <p:cNvSpPr>
            <a:spLocks xmlns:a="http://schemas.openxmlformats.org/drawingml/2006/main" noGrp="1"/>
          </p:cNvSpPr>
          <p:nvPr/>
        </p:nvSpPr>
        <p:spPr>
          <a:xfrm xmlns:a="http://schemas.openxmlformats.org/drawingml/2006/main">
            <a:off x="7905750" y="1524000"/>
            <a:ext cx="3238500" cy="1581150"/>
          </a:xfrm>
          <a:prstGeom xmlns:a="http://schemas.openxmlformats.org/drawingml/2006/main" prst="roundRect">
            <a:avLst>
              <a:gd name="adj" fmla="val 4819"/>
            </a:avLst>
          </a:prstGeom>
          <a:solidFill xmlns:a="http://schemas.openxmlformats.org/drawingml/2006/main">
            <a:srgbClr val="E6F4F1"/>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5" name="">
            <a:extLst xmlns:a="http://schemas.openxmlformats.org/drawingml/2006/main">
              <a:ext uri="{FF2B5EF4-FFF2-40B4-BE49-F238E27FC236}">
                <a16:creationId xmlns:a16="http://schemas.microsoft.com/office/drawing/2014/main" id="{F1F9F0A1-55FA-4C97-AC3D-33E647125711}"/>
              </a:ext>
            </a:extLst>
          </p:cNvPr>
          <p:cNvSpPr>
            <a:spLocks xmlns:a="http://schemas.openxmlformats.org/drawingml/2006/main" noGrp="1"/>
          </p:cNvSpPr>
          <p:nvPr/>
        </p:nvSpPr>
        <p:spPr>
          <a:xfrm xmlns:a="http://schemas.openxmlformats.org/drawingml/2006/main">
            <a:off x="8096250" y="1695450"/>
            <a:ext cx="285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350" b="1">
                <a:solidFill>
                  <a:srgbClr val="5B6B76"/>
                </a:solidFill>
                <a:latin typeface="Arial"/>
                <a:ea typeface="Arial"/>
                <a:cs typeface="Arial"/>
              </a:defRPr>
            </a:pPr>
            <a:r>
              <a:rPr sz="1400" b="1">
                <a:solidFill>
                  <a:srgbClr val="5B6B76"/>
                </a:solidFill>
                <a:latin typeface="Segoe UI"/>
                <a:ea typeface="Segoe UI"/>
                <a:cs typeface="Segoe UI"/>
              </a:rPr>
              <a:t>Macro ROC-AUC</a:t>
            </a:r>
          </a:p>
        </p:txBody>
      </p:sp>
      <p:sp>
        <p:nvSpPr>
          <p:cNvPr id="16" name="">
            <a:extLst xmlns:a="http://schemas.openxmlformats.org/drawingml/2006/main">
              <a:ext uri="{FF2B5EF4-FFF2-40B4-BE49-F238E27FC236}">
                <a16:creationId xmlns:a16="http://schemas.microsoft.com/office/drawing/2014/main" id="{FE26D8B9-58FC-44A1-B3C0-20E5465AAC3F}"/>
              </a:ext>
            </a:extLst>
          </p:cNvPr>
          <p:cNvSpPr>
            <a:spLocks xmlns:a="http://schemas.openxmlformats.org/drawingml/2006/main" noGrp="1"/>
          </p:cNvSpPr>
          <p:nvPr/>
        </p:nvSpPr>
        <p:spPr>
          <a:xfrm xmlns:a="http://schemas.openxmlformats.org/drawingml/2006/main">
            <a:off x="8096250" y="20383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3150" b="1">
                <a:solidFill>
                  <a:srgbClr val="0F8B8D"/>
                </a:solidFill>
                <a:latin typeface="Arial"/>
                <a:ea typeface="Arial"/>
                <a:cs typeface="Arial"/>
              </a:defRPr>
            </a:pPr>
            <a:r>
              <a:rPr sz="3150" b="1">
                <a:solidFill>
                  <a:srgbClr val="0F8B8D"/>
                </a:solidFill>
                <a:latin typeface="Consolas"/>
                <a:ea typeface="Consolas"/>
                <a:cs typeface="Consolas"/>
              </a:rPr>
              <a:t>0.741</a:t>
            </a:r>
          </a:p>
        </p:txBody>
      </p:sp>
      <p:sp>
        <p:nvSpPr>
          <p:cNvPr id="17" name="">
            <a:extLst xmlns:a="http://schemas.openxmlformats.org/drawingml/2006/main">
              <a:ext uri="{FF2B5EF4-FFF2-40B4-BE49-F238E27FC236}">
                <a16:creationId xmlns:a16="http://schemas.microsoft.com/office/drawing/2014/main" id="{3A665A95-7F10-46EC-A72D-3521253B766B}"/>
              </a:ext>
            </a:extLst>
          </p:cNvPr>
          <p:cNvSpPr>
            <a:spLocks xmlns:a="http://schemas.openxmlformats.org/drawingml/2006/main" noGrp="1"/>
          </p:cNvSpPr>
          <p:nvPr/>
        </p:nvSpPr>
        <p:spPr>
          <a:xfrm xmlns:a="http://schemas.openxmlformats.org/drawingml/2006/main">
            <a:off x="8096250" y="2619375"/>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alibri"/>
                <a:ea typeface="Calibri"/>
                <a:cs typeface="Calibri"/>
              </a:rPr>
              <a:t>Seed range 0.728–0.751</a:t>
            </a:r>
          </a:p>
        </p:txBody>
      </p:sp>
      <p:sp>
        <p:nvSpPr>
          <p:cNvPr id="18" name="">
            <a:extLst xmlns:a="http://schemas.openxmlformats.org/drawingml/2006/main">
              <a:ext uri="{FF2B5EF4-FFF2-40B4-BE49-F238E27FC236}">
                <a16:creationId xmlns:a16="http://schemas.microsoft.com/office/drawing/2014/main" id="{E0A7B444-B329-4A0F-947A-488937AC9C23}"/>
              </a:ext>
            </a:extLst>
          </p:cNvPr>
          <p:cNvSpPr>
            <a:spLocks xmlns:a="http://schemas.openxmlformats.org/drawingml/2006/main" noGrp="1"/>
          </p:cNvSpPr>
          <p:nvPr/>
        </p:nvSpPr>
        <p:spPr>
          <a:xfrm xmlns:a="http://schemas.openxmlformats.org/drawingml/2006/main">
            <a:off x="666750" y="3495675"/>
            <a:ext cx="5000625" cy="1590675"/>
          </a:xfrm>
          <a:prstGeom xmlns:a="http://schemas.openxmlformats.org/drawingml/2006/main" prst="roundRect">
            <a:avLst>
              <a:gd name="adj" fmla="val 4790"/>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D8FA8A42-7629-42D2-8130-80420047ED5B}"/>
              </a:ext>
            </a:extLst>
          </p:cNvPr>
          <p:cNvSpPr>
            <a:spLocks xmlns:a="http://schemas.openxmlformats.org/drawingml/2006/main" noGrp="1"/>
          </p:cNvSpPr>
          <p:nvPr/>
        </p:nvSpPr>
        <p:spPr>
          <a:xfrm xmlns:a="http://schemas.openxmlformats.org/drawingml/2006/main">
            <a:off x="666750" y="3495675"/>
            <a:ext cx="66675" cy="1590675"/>
          </a:xfrm>
          <a:prstGeom xmlns:a="http://schemas.openxmlformats.org/drawingml/2006/main" prst="rect">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20" name="">
            <a:extLst xmlns:a="http://schemas.openxmlformats.org/drawingml/2006/main">
              <a:ext uri="{FF2B5EF4-FFF2-40B4-BE49-F238E27FC236}">
                <a16:creationId xmlns:a16="http://schemas.microsoft.com/office/drawing/2014/main" id="{85074932-D012-4858-8460-4DA6BB699F5B}"/>
              </a:ext>
            </a:extLst>
          </p:cNvPr>
          <p:cNvSpPr>
            <a:spLocks xmlns:a="http://schemas.openxmlformats.org/drawingml/2006/main" noGrp="1"/>
          </p:cNvSpPr>
          <p:nvPr/>
        </p:nvSpPr>
        <p:spPr>
          <a:xfrm xmlns:a="http://schemas.openxmlformats.org/drawingml/2006/main">
            <a:off x="876300" y="3638550"/>
            <a:ext cx="4600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425" b="1">
                <a:solidFill>
                  <a:srgbClr val="0B2A3C"/>
                </a:solidFill>
                <a:latin typeface="Arial"/>
                <a:ea typeface="Arial"/>
                <a:cs typeface="Arial"/>
              </a:defRPr>
            </a:pPr>
            <a:r>
              <a:rPr sz="1425" b="1">
                <a:solidFill>
                  <a:srgbClr val="0B2A3C"/>
                </a:solidFill>
                <a:latin typeface="Segoe UI"/>
                <a:ea typeface="Segoe UI"/>
                <a:cs typeface="Segoe UI"/>
              </a:rPr>
              <a:t>Participant-level ranking</a:t>
            </a:r>
          </a:p>
        </p:txBody>
      </p:sp>
      <p:sp>
        <p:nvSpPr>
          <p:cNvPr id="21" name="">
            <a:extLst xmlns:a="http://schemas.openxmlformats.org/drawingml/2006/main">
              <a:ext uri="{FF2B5EF4-FFF2-40B4-BE49-F238E27FC236}">
                <a16:creationId xmlns:a16="http://schemas.microsoft.com/office/drawing/2014/main" id="{212A491F-F481-4A22-AEC8-120A0EA2C66A}"/>
              </a:ext>
            </a:extLst>
          </p:cNvPr>
          <p:cNvSpPr>
            <a:spLocks xmlns:a="http://schemas.openxmlformats.org/drawingml/2006/main" noGrp="1"/>
          </p:cNvSpPr>
          <p:nvPr/>
        </p:nvSpPr>
        <p:spPr>
          <a:xfrm xmlns:a="http://schemas.openxmlformats.org/drawingml/2006/main">
            <a:off x="876300" y="3981450"/>
            <a:ext cx="4600575" cy="132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t">
            <a:noAutofit/>
          </a:bodyPr>
          <a:lstStyle xmlns:a="http://schemas.openxmlformats.org/drawingml/2006/main"/>
          <a:p xmlns:a="http://schemas.openxmlformats.org/drawingml/2006/main">
            <a:pPr algn="l">
              <a:buNone/>
              <a:defRPr sz="1275" b="0">
                <a:solidFill>
                  <a:srgbClr val="0B2A3C"/>
                </a:solidFill>
                <a:latin typeface="Arial"/>
                <a:ea typeface="Arial"/>
                <a:cs typeface="Arial"/>
              </a:defRPr>
            </a:pPr>
            <a:r>
              <a:rPr sz="1400" b="0">
                <a:solidFill>
                  <a:srgbClr val="0B2A3C"/>
                </a:solidFill>
                <a:latin typeface="Calibri"/>
                <a:ea typeface="Calibri"/>
                <a:cs typeface="Calibri"/>
              </a:rPr>
              <a:t>Event prevalence is 6.26% (constant-prevalence AP 0.063). Mean pooled PR-AUC is 0.370; participant-macro AP is 0.243. Pooled ROC-AUC exceeds macro ROC-AUC because pooled ranking also rewards ranking between people.</a:t>
            </a:r>
          </a:p>
        </p:txBody>
      </p:sp>
      <p:sp>
        <p:nvSpPr>
          <p:cNvPr id="22" name="">
            <a:extLst xmlns:a="http://schemas.openxmlformats.org/drawingml/2006/main">
              <a:ext uri="{FF2B5EF4-FFF2-40B4-BE49-F238E27FC236}">
                <a16:creationId xmlns:a16="http://schemas.microsoft.com/office/drawing/2014/main" id="{8D8CAC55-B27E-4D05-848C-2EC6EF60E1ED}"/>
              </a:ext>
            </a:extLst>
          </p:cNvPr>
          <p:cNvSpPr>
            <a:spLocks xmlns:a="http://schemas.openxmlformats.org/drawingml/2006/main" noGrp="1"/>
          </p:cNvSpPr>
          <p:nvPr/>
        </p:nvSpPr>
        <p:spPr>
          <a:xfrm xmlns:a="http://schemas.openxmlformats.org/drawingml/2006/main">
            <a:off x="5953125" y="3495675"/>
            <a:ext cx="5572125" cy="1590675"/>
          </a:xfrm>
          <a:prstGeom xmlns:a="http://schemas.openxmlformats.org/drawingml/2006/main" prst="roundRect">
            <a:avLst>
              <a:gd name="adj" fmla="val 4790"/>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23" name="">
            <a:extLst xmlns:a="http://schemas.openxmlformats.org/drawingml/2006/main">
              <a:ext uri="{FF2B5EF4-FFF2-40B4-BE49-F238E27FC236}">
                <a16:creationId xmlns:a16="http://schemas.microsoft.com/office/drawing/2014/main" id="{D313F5D2-4ECC-4E2E-A088-7F842F906B3A}"/>
              </a:ext>
            </a:extLst>
          </p:cNvPr>
          <p:cNvSpPr>
            <a:spLocks xmlns:a="http://schemas.openxmlformats.org/drawingml/2006/main" noGrp="1"/>
          </p:cNvSpPr>
          <p:nvPr/>
        </p:nvSpPr>
        <p:spPr>
          <a:xfrm xmlns:a="http://schemas.openxmlformats.org/drawingml/2006/main">
            <a:off x="5953125" y="3495675"/>
            <a:ext cx="66675" cy="1590675"/>
          </a:xfrm>
          <a:prstGeom xmlns:a="http://schemas.openxmlformats.org/drawingml/2006/main" prst="rect">
            <a:avLst/>
          </a:prstGeom>
          <a:solidFill xmlns:a="http://schemas.openxmlformats.org/drawingml/2006/main">
            <a:srgbClr val="F2A33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24" name="">
            <a:extLst xmlns:a="http://schemas.openxmlformats.org/drawingml/2006/main">
              <a:ext uri="{FF2B5EF4-FFF2-40B4-BE49-F238E27FC236}">
                <a16:creationId xmlns:a16="http://schemas.microsoft.com/office/drawing/2014/main" id="{03E4EAEF-4353-42DA-9A45-00FAA19C941F}"/>
              </a:ext>
            </a:extLst>
          </p:cNvPr>
          <p:cNvSpPr>
            <a:spLocks xmlns:a="http://schemas.openxmlformats.org/drawingml/2006/main" noGrp="1"/>
          </p:cNvSpPr>
          <p:nvPr/>
        </p:nvSpPr>
        <p:spPr>
          <a:xfrm xmlns:a="http://schemas.openxmlformats.org/drawingml/2006/main">
            <a:off x="6162675" y="3638550"/>
            <a:ext cx="5172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425" b="1">
                <a:solidFill>
                  <a:srgbClr val="0B2A3C"/>
                </a:solidFill>
                <a:latin typeface="Arial"/>
                <a:ea typeface="Arial"/>
                <a:cs typeface="Arial"/>
              </a:defRPr>
            </a:pPr>
            <a:r>
              <a:rPr sz="1425" b="1">
                <a:solidFill>
                  <a:srgbClr val="0B2A3C"/>
                </a:solidFill>
                <a:latin typeface="Segoe UI"/>
                <a:ea typeface="Segoe UI"/>
                <a:cs typeface="Segoe UI"/>
              </a:rPr>
              <a:t>Horizon and alert trade-off</a:t>
            </a:r>
          </a:p>
        </p:txBody>
      </p:sp>
      <p:sp>
        <p:nvSpPr>
          <p:cNvPr id="25" name="">
            <a:extLst xmlns:a="http://schemas.openxmlformats.org/drawingml/2006/main">
              <a:ext uri="{FF2B5EF4-FFF2-40B4-BE49-F238E27FC236}">
                <a16:creationId xmlns:a16="http://schemas.microsoft.com/office/drawing/2014/main" id="{282EC9BF-23EB-4C79-BA68-756F9967729D}"/>
              </a:ext>
            </a:extLst>
          </p:cNvPr>
          <p:cNvSpPr>
            <a:spLocks xmlns:a="http://schemas.openxmlformats.org/drawingml/2006/main" noGrp="1"/>
          </p:cNvSpPr>
          <p:nvPr/>
        </p:nvSpPr>
        <p:spPr>
          <a:xfrm xmlns:a="http://schemas.openxmlformats.org/drawingml/2006/main">
            <a:off x="6162675" y="3981450"/>
            <a:ext cx="5172075" cy="132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t">
            <a:noAutofit/>
          </a:bodyPr>
          <a:lstStyle xmlns:a="http://schemas.openxmlformats.org/drawingml/2006/main"/>
          <a:p xmlns:a="http://schemas.openxmlformats.org/drawingml/2006/main">
            <a:pPr algn="l">
              <a:buNone/>
              <a:defRPr sz="1275" b="0">
                <a:solidFill>
                  <a:srgbClr val="0B2A3C"/>
                </a:solidFill>
                <a:latin typeface="Arial"/>
                <a:ea typeface="Arial"/>
                <a:cs typeface="Arial"/>
              </a:defRPr>
            </a:pPr>
            <a:r>
              <a:rPr sz="1400" b="0">
                <a:solidFill>
                  <a:srgbClr val="0B2A3C"/>
                </a:solidFill>
                <a:latin typeface="Calibri"/>
                <a:ea typeface="Calibri"/>
                <a:cs typeface="Calibri"/>
              </a:rPr>
              <a:t>30-min ranking is strongest; 120-min top-5% detects 122/384 episodes in 13/45 people, with 1.14 false alerts per approximate person-day and 90-min median lead. Merge/cooldown rules are exploratory; no horizon is clinically selected.</a:t>
            </a:r>
          </a:p>
        </p:txBody>
      </p:sp>
      <p:sp>
        <p:nvSpPr>
          <p:cNvPr id="26" name="">
            <a:extLst xmlns:a="http://schemas.openxmlformats.org/drawingml/2006/main">
              <a:ext uri="{FF2B5EF4-FFF2-40B4-BE49-F238E27FC236}">
                <a16:creationId xmlns:a16="http://schemas.microsoft.com/office/drawing/2014/main" id="{C7AE3815-8B73-4281-9DF7-3EF9031CD713}"/>
              </a:ext>
            </a:extLst>
          </p:cNvPr>
          <p:cNvSpPr>
            <a:spLocks xmlns:a="http://schemas.openxmlformats.org/drawingml/2006/main" noGrp="1"/>
          </p:cNvSpPr>
          <p:nvPr/>
        </p:nvSpPr>
        <p:spPr>
          <a:xfrm xmlns:a="http://schemas.openxmlformats.org/drawingml/2006/main">
            <a:off x="666750" y="54483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75" b="0">
                <a:solidFill>
                  <a:srgbClr val="5B6B76"/>
                </a:solidFill>
                <a:latin typeface="Arial"/>
                <a:ea typeface="Arial"/>
                <a:cs typeface="Arial"/>
              </a:defRPr>
            </a:pPr>
            <a:r>
              <a:rPr sz="1400" b="0">
                <a:solidFill>
                  <a:srgbClr val="5B6B76"/>
                </a:solidFill>
                <a:latin typeface="Calibri"/>
                <a:ea typeface="Calibri"/>
                <a:cs typeface="Calibri"/>
              </a:rPr>
              <a:t>Five distinct participant assignments; shown ranges are split-to-split spread, not confidence intervals. The cohort is small and US-based; no external validation.</a:t>
            </a:r>
          </a:p>
        </p:txBody>
      </p:sp>
    </p:spTree>
    <p:extLst>
      <p:ext uri="{BB962C8B-B14F-4D97-AF65-F5344CB8AC3E}">
        <p14:creationId xmlns:p14="http://schemas.microsoft.com/office/powerpoint/2010/main" val="1054116963"/>
      </p:ext>
    </p:extLst>
  </p:cSld>
</p:sld>
</file>

<file path=ppt/slides/slide7.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FA764BDF-A212-4840-8B1A-F0672F634D3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1125F0E7-D8CA-4FBC-9A3C-94B3C482B110}"/>
              </a:ext>
            </a:extLst>
          </p:cNvPr>
          <p:cNvSpPr>
            <a:spLocks xmlns:a="http://schemas.openxmlformats.org/drawingml/2006/main" noGrp="1"/>
          </p:cNvSpPr>
          <p:nvPr/>
        </p:nvSpPr>
        <p:spPr>
          <a:xfrm xmlns:a="http://schemas.openxmlformats.org/drawingml/2006/main">
            <a:off x="647700" y="2857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75" b="1">
                <a:solidFill>
                  <a:srgbClr val="0F8B8D"/>
                </a:solidFill>
                <a:latin typeface="Arial"/>
                <a:ea typeface="Arial"/>
                <a:cs typeface="Arial"/>
              </a:defRPr>
            </a:pPr>
            <a:r>
              <a:rPr sz="1100" b="1">
                <a:solidFill>
                  <a:srgbClr val="0F8B8D"/>
                </a:solidFill>
                <a:latin typeface="Segoe UI"/>
                <a:ea typeface="Segoe UI"/>
                <a:cs typeface="Segoe UI"/>
              </a:rPr>
              <a:t>GLYCOTWIN  /  RESEARCH PROTOTYPE</a:t>
            </a:r>
          </a:p>
        </p:txBody>
      </p:sp>
      <p:sp>
        <p:nvSpPr>
          <p:cNvPr id="3" name="">
            <a:extLst xmlns:a="http://schemas.openxmlformats.org/drawingml/2006/main">
              <a:ext uri="{FF2B5EF4-FFF2-40B4-BE49-F238E27FC236}">
                <a16:creationId xmlns:a16="http://schemas.microsoft.com/office/drawing/2014/main" id="{6B7382F6-77BA-4DF6-8FEF-CBDF9B76C78A}"/>
              </a:ext>
            </a:extLst>
          </p:cNvPr>
          <p:cNvSpPr>
            <a:spLocks xmlns:a="http://schemas.openxmlformats.org/drawingml/2006/main" noGrp="1"/>
          </p:cNvSpPr>
          <p:nvPr/>
        </p:nvSpPr>
        <p:spPr>
          <a:xfrm xmlns:a="http://schemas.openxmlformats.org/drawingml/2006/main">
            <a:off x="647700" y="5524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2550" b="1">
                <a:solidFill>
                  <a:srgbClr val="0B2A3C"/>
                </a:solidFill>
                <a:latin typeface="Arial"/>
                <a:ea typeface="Arial"/>
                <a:cs typeface="Arial"/>
              </a:defRPr>
            </a:pPr>
            <a:r>
              <a:rPr sz="2550" b="1">
                <a:solidFill>
                  <a:srgbClr val="0B2A3C"/>
                </a:solidFill>
                <a:latin typeface="Segoe UI"/>
                <a:ea typeface="Segoe UI"/>
                <a:cs typeface="Segoe UI"/>
              </a:rPr>
              <a:t>Current seed-42 HbA1c strata</a:t>
            </a:r>
          </a:p>
        </p:txBody>
      </p:sp>
      <p:sp>
        <p:nvSpPr>
          <p:cNvPr id="4" name="">
            <a:extLst xmlns:a="http://schemas.openxmlformats.org/drawingml/2006/main">
              <a:ext uri="{FF2B5EF4-FFF2-40B4-BE49-F238E27FC236}">
                <a16:creationId xmlns:a16="http://schemas.microsoft.com/office/drawing/2014/main" id="{0BA9D118-415D-4E30-B93C-C160F2AF1513}"/>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line">
            <a:avLst/>
          </a:prstGeom>
          <a:solidFill xmlns:a="http://schemas.openxmlformats.org/drawingml/2006/main">
            <a:srgbClr val="D5DEE2"/>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91CAAAFC-58CA-404C-96EB-3EFEA6547B14}"/>
              </a:ext>
            </a:extLst>
          </p:cNvPr>
          <p:cNvSpPr>
            <a:spLocks xmlns:a="http://schemas.openxmlformats.org/drawingml/2006/main" noGrp="1"/>
          </p:cNvSpPr>
          <p:nvPr/>
        </p:nvSpPr>
        <p:spPr>
          <a:xfrm xmlns:a="http://schemas.openxmlformats.org/drawingml/2006/main">
            <a:off x="647700" y="64960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00" b="0">
                <a:solidFill>
                  <a:srgbClr val="5B6B76"/>
                </a:solidFill>
                <a:latin typeface="Arial"/>
                <a:ea typeface="Arial"/>
                <a:cs typeface="Arial"/>
              </a:defRPr>
            </a:pPr>
            <a:r>
              <a:rPr sz="1100" b="0">
                <a:solidFill>
                  <a:srgbClr val="5B6B76"/>
                </a:solidFill>
                <a:latin typeface="Calibri"/>
                <a:ea typeface="Calibri"/>
                <a:cs typeface="Calibri"/>
              </a:rPr>
              <a:t>CGMacros retrospective PoC  •  not for clinical use</a:t>
            </a:r>
          </a:p>
        </p:txBody>
      </p:sp>
      <p:sp>
        <p:nvSpPr>
          <p:cNvPr id="6" name="">
            <a:extLst xmlns:a="http://schemas.openxmlformats.org/drawingml/2006/main">
              <a:ext uri="{FF2B5EF4-FFF2-40B4-BE49-F238E27FC236}">
                <a16:creationId xmlns:a16="http://schemas.microsoft.com/office/drawing/2014/main" id="{C24382BB-3FB4-41A0-8ADC-F8811987EDA4}"/>
              </a:ext>
            </a:extLst>
          </p:cNvPr>
          <p:cNvSpPr>
            <a:spLocks xmlns:a="http://schemas.openxmlformats.org/drawingml/2006/main" noGrp="1"/>
          </p:cNvSpPr>
          <p:nvPr/>
        </p:nvSpPr>
        <p:spPr>
          <a:xfrm xmlns:a="http://schemas.openxmlformats.org/drawingml/2006/main">
            <a:off x="666750" y="1524000"/>
            <a:ext cx="3238500" cy="438150"/>
          </a:xfrm>
          <a:prstGeom xmlns:a="http://schemas.openxmlformats.org/drawingml/2006/main" prst="rect">
            <a:avLst/>
          </a:prstGeom>
          <a:solidFill xmlns:a="http://schemas.openxmlformats.org/drawingml/2006/main">
            <a:srgbClr val="0B2A3C"/>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CAA0013F-8C6E-4810-8288-26ADAC55BE0B}"/>
              </a:ext>
            </a:extLst>
          </p:cNvPr>
          <p:cNvSpPr>
            <a:spLocks xmlns:a="http://schemas.openxmlformats.org/drawingml/2006/main" noGrp="1"/>
          </p:cNvSpPr>
          <p:nvPr/>
        </p:nvSpPr>
        <p:spPr>
          <a:xfrm xmlns:a="http://schemas.openxmlformats.org/drawingml/2006/main">
            <a:off x="742950" y="1562100"/>
            <a:ext cx="3086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125" b="1">
                <a:solidFill>
                  <a:srgbClr val="F7FAFA"/>
                </a:solidFill>
                <a:latin typeface="Arial"/>
                <a:ea typeface="Arial"/>
                <a:cs typeface="Arial"/>
              </a:defRPr>
            </a:pPr>
            <a:r>
              <a:rPr sz="1400" b="1">
                <a:solidFill>
                  <a:srgbClr val="F7FAFA"/>
                </a:solidFill>
                <a:latin typeface="Segoe UI"/>
                <a:ea typeface="Segoe UI"/>
                <a:cs typeface="Segoe UI"/>
              </a:rPr>
              <a:t>Analytic HbA1c band</a:t>
            </a:r>
          </a:p>
        </p:txBody>
      </p:sp>
      <p:sp>
        <p:nvSpPr>
          <p:cNvPr id="8" name="">
            <a:extLst xmlns:a="http://schemas.openxmlformats.org/drawingml/2006/main">
              <a:ext uri="{FF2B5EF4-FFF2-40B4-BE49-F238E27FC236}">
                <a16:creationId xmlns:a16="http://schemas.microsoft.com/office/drawing/2014/main" id="{418A1595-6E23-4406-AF95-8BE777B46AA9}"/>
              </a:ext>
            </a:extLst>
          </p:cNvPr>
          <p:cNvSpPr>
            <a:spLocks xmlns:a="http://schemas.openxmlformats.org/drawingml/2006/main" noGrp="1"/>
          </p:cNvSpPr>
          <p:nvPr/>
        </p:nvSpPr>
        <p:spPr>
          <a:xfrm xmlns:a="http://schemas.openxmlformats.org/drawingml/2006/main">
            <a:off x="3905250" y="1524000"/>
            <a:ext cx="1143000" cy="438150"/>
          </a:xfrm>
          <a:prstGeom xmlns:a="http://schemas.openxmlformats.org/drawingml/2006/main" prst="rect">
            <a:avLst/>
          </a:prstGeom>
          <a:solidFill xmlns:a="http://schemas.openxmlformats.org/drawingml/2006/main">
            <a:srgbClr val="0B2A3C"/>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F8C51E3E-8612-44DE-B8D1-72EF357CEEA6}"/>
              </a:ext>
            </a:extLst>
          </p:cNvPr>
          <p:cNvSpPr>
            <a:spLocks xmlns:a="http://schemas.openxmlformats.org/drawingml/2006/main" noGrp="1"/>
          </p:cNvSpPr>
          <p:nvPr/>
        </p:nvSpPr>
        <p:spPr>
          <a:xfrm xmlns:a="http://schemas.openxmlformats.org/drawingml/2006/main">
            <a:off x="3981450" y="1562100"/>
            <a:ext cx="990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125" b="1">
                <a:solidFill>
                  <a:srgbClr val="F7FAFA"/>
                </a:solidFill>
                <a:latin typeface="Arial"/>
                <a:ea typeface="Arial"/>
                <a:cs typeface="Arial"/>
              </a:defRPr>
            </a:pPr>
            <a:r>
              <a:rPr sz="1400" b="1">
                <a:solidFill>
                  <a:srgbClr val="F7FAFA"/>
                </a:solidFill>
                <a:latin typeface="Segoe UI"/>
                <a:ea typeface="Segoe UI"/>
                <a:cs typeface="Segoe UI"/>
              </a:rPr>
              <a:t>People</a:t>
            </a:r>
          </a:p>
        </p:txBody>
      </p:sp>
      <p:sp>
        <p:nvSpPr>
          <p:cNvPr id="10" name="">
            <a:extLst xmlns:a="http://schemas.openxmlformats.org/drawingml/2006/main">
              <a:ext uri="{FF2B5EF4-FFF2-40B4-BE49-F238E27FC236}">
                <a16:creationId xmlns:a16="http://schemas.microsoft.com/office/drawing/2014/main" id="{6541BB4F-1A43-441B-BC04-4F9E8D4F6CE3}"/>
              </a:ext>
            </a:extLst>
          </p:cNvPr>
          <p:cNvSpPr>
            <a:spLocks xmlns:a="http://schemas.openxmlformats.org/drawingml/2006/main" noGrp="1"/>
          </p:cNvSpPr>
          <p:nvPr/>
        </p:nvSpPr>
        <p:spPr>
          <a:xfrm xmlns:a="http://schemas.openxmlformats.org/drawingml/2006/main">
            <a:off x="5048250" y="1524000"/>
            <a:ext cx="1381125" cy="438150"/>
          </a:xfrm>
          <a:prstGeom xmlns:a="http://schemas.openxmlformats.org/drawingml/2006/main" prst="rect">
            <a:avLst/>
          </a:prstGeom>
          <a:solidFill xmlns:a="http://schemas.openxmlformats.org/drawingml/2006/main">
            <a:srgbClr val="0B2A3C"/>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67C74101-18CD-423C-B5B1-15A0DA1FF565}"/>
              </a:ext>
            </a:extLst>
          </p:cNvPr>
          <p:cNvSpPr>
            <a:spLocks xmlns:a="http://schemas.openxmlformats.org/drawingml/2006/main" noGrp="1"/>
          </p:cNvSpPr>
          <p:nvPr/>
        </p:nvSpPr>
        <p:spPr>
          <a:xfrm xmlns:a="http://schemas.openxmlformats.org/drawingml/2006/main">
            <a:off x="5124450" y="1562100"/>
            <a:ext cx="1228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buNone/>
            </a:pPr>
            <a:r>
              <a:rPr sz="1400">
                <a:solidFill>
                  <a:srgbClr val="F7FAFA"/>
                </a:solidFill>
                <a:latin typeface="Calibri"/>
                <a:ea typeface="Calibri"/>
                <a:cs typeface="Calibri"/>
              </a:rPr>
              <a:t>Events (n+)</a:t>
            </a:r>
          </a:p>
        </p:txBody>
      </p:sp>
      <p:sp>
        <p:nvSpPr>
          <p:cNvPr id="12" name="">
            <a:extLst xmlns:a="http://schemas.openxmlformats.org/drawingml/2006/main">
              <a:ext uri="{FF2B5EF4-FFF2-40B4-BE49-F238E27FC236}">
                <a16:creationId xmlns:a16="http://schemas.microsoft.com/office/drawing/2014/main" id="{540778DC-E9A4-403D-B3F6-E2A0F87C17C6}"/>
              </a:ext>
            </a:extLst>
          </p:cNvPr>
          <p:cNvSpPr>
            <a:spLocks xmlns:a="http://schemas.openxmlformats.org/drawingml/2006/main" noGrp="1"/>
          </p:cNvSpPr>
          <p:nvPr/>
        </p:nvSpPr>
        <p:spPr>
          <a:xfrm xmlns:a="http://schemas.openxmlformats.org/drawingml/2006/main">
            <a:off x="6429375" y="1524000"/>
            <a:ext cx="1381125" cy="438150"/>
          </a:xfrm>
          <a:prstGeom xmlns:a="http://schemas.openxmlformats.org/drawingml/2006/main" prst="rect">
            <a:avLst/>
          </a:prstGeom>
          <a:solidFill xmlns:a="http://schemas.openxmlformats.org/drawingml/2006/main">
            <a:srgbClr val="0B2A3C"/>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13" name="">
            <a:extLst xmlns:a="http://schemas.openxmlformats.org/drawingml/2006/main">
              <a:ext uri="{FF2B5EF4-FFF2-40B4-BE49-F238E27FC236}">
                <a16:creationId xmlns:a16="http://schemas.microsoft.com/office/drawing/2014/main" id="{6E3A1F54-5843-4001-B79D-9A64948C5ACB}"/>
              </a:ext>
            </a:extLst>
          </p:cNvPr>
          <p:cNvSpPr>
            <a:spLocks xmlns:a="http://schemas.openxmlformats.org/drawingml/2006/main" noGrp="1"/>
          </p:cNvSpPr>
          <p:nvPr/>
        </p:nvSpPr>
        <p:spPr>
          <a:xfrm xmlns:a="http://schemas.openxmlformats.org/drawingml/2006/main">
            <a:off x="6505575" y="1562100"/>
            <a:ext cx="1228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125" b="1">
                <a:solidFill>
                  <a:srgbClr val="F7FAFA"/>
                </a:solidFill>
                <a:latin typeface="Arial"/>
                <a:ea typeface="Arial"/>
                <a:cs typeface="Arial"/>
              </a:defRPr>
            </a:pPr>
            <a:r>
              <a:rPr sz="1400" b="1">
                <a:solidFill>
                  <a:srgbClr val="F7FAFA"/>
                </a:solidFill>
                <a:latin typeface="Segoe UI"/>
                <a:ea typeface="Segoe UI"/>
                <a:cs typeface="Segoe UI"/>
              </a:rPr>
              <a:t>Rate</a:t>
            </a:r>
          </a:p>
        </p:txBody>
      </p:sp>
      <p:sp>
        <p:nvSpPr>
          <p:cNvPr id="14" name="">
            <a:extLst xmlns:a="http://schemas.openxmlformats.org/drawingml/2006/main">
              <a:ext uri="{FF2B5EF4-FFF2-40B4-BE49-F238E27FC236}">
                <a16:creationId xmlns:a16="http://schemas.microsoft.com/office/drawing/2014/main" id="{D063C053-3DF4-46F6-A9BD-1D99474AFC23}"/>
              </a:ext>
            </a:extLst>
          </p:cNvPr>
          <p:cNvSpPr>
            <a:spLocks xmlns:a="http://schemas.openxmlformats.org/drawingml/2006/main" noGrp="1"/>
          </p:cNvSpPr>
          <p:nvPr/>
        </p:nvSpPr>
        <p:spPr>
          <a:xfrm xmlns:a="http://schemas.openxmlformats.org/drawingml/2006/main">
            <a:off x="7810500" y="1524000"/>
            <a:ext cx="1285875" cy="438150"/>
          </a:xfrm>
          <a:prstGeom xmlns:a="http://schemas.openxmlformats.org/drawingml/2006/main" prst="rect">
            <a:avLst/>
          </a:prstGeom>
          <a:solidFill xmlns:a="http://schemas.openxmlformats.org/drawingml/2006/main">
            <a:srgbClr val="0B2A3C"/>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15" name="">
            <a:extLst xmlns:a="http://schemas.openxmlformats.org/drawingml/2006/main">
              <a:ext uri="{FF2B5EF4-FFF2-40B4-BE49-F238E27FC236}">
                <a16:creationId xmlns:a16="http://schemas.microsoft.com/office/drawing/2014/main" id="{826C31BD-AEAE-4A07-B29E-6CB32EF0F9C9}"/>
              </a:ext>
            </a:extLst>
          </p:cNvPr>
          <p:cNvSpPr>
            <a:spLocks xmlns:a="http://schemas.openxmlformats.org/drawingml/2006/main" noGrp="1"/>
          </p:cNvSpPr>
          <p:nvPr/>
        </p:nvSpPr>
        <p:spPr>
          <a:xfrm xmlns:a="http://schemas.openxmlformats.org/drawingml/2006/main">
            <a:off x="7886700" y="1562100"/>
            <a:ext cx="11334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125" b="1">
                <a:solidFill>
                  <a:srgbClr val="F7FAFA"/>
                </a:solidFill>
                <a:latin typeface="Arial"/>
                <a:ea typeface="Arial"/>
                <a:cs typeface="Arial"/>
              </a:defRPr>
            </a:pPr>
            <a:r>
              <a:rPr sz="1400" b="1">
                <a:solidFill>
                  <a:srgbClr val="F7FAFA"/>
                </a:solidFill>
                <a:latin typeface="Segoe UI"/>
                <a:ea typeface="Segoe UI"/>
                <a:cs typeface="Segoe UI"/>
              </a:rPr>
              <a:t>PR-AUC</a:t>
            </a:r>
          </a:p>
        </p:txBody>
      </p:sp>
      <p:sp>
        <p:nvSpPr>
          <p:cNvPr id="16" name="">
            <a:extLst xmlns:a="http://schemas.openxmlformats.org/drawingml/2006/main">
              <a:ext uri="{FF2B5EF4-FFF2-40B4-BE49-F238E27FC236}">
                <a16:creationId xmlns:a16="http://schemas.microsoft.com/office/drawing/2014/main" id="{B373333B-AA88-433D-81EF-AD6DF468B9CC}"/>
              </a:ext>
            </a:extLst>
          </p:cNvPr>
          <p:cNvSpPr>
            <a:spLocks xmlns:a="http://schemas.openxmlformats.org/drawingml/2006/main" noGrp="1"/>
          </p:cNvSpPr>
          <p:nvPr/>
        </p:nvSpPr>
        <p:spPr>
          <a:xfrm xmlns:a="http://schemas.openxmlformats.org/drawingml/2006/main">
            <a:off x="9096375" y="1524000"/>
            <a:ext cx="1190625" cy="438150"/>
          </a:xfrm>
          <a:prstGeom xmlns:a="http://schemas.openxmlformats.org/drawingml/2006/main" prst="rect">
            <a:avLst/>
          </a:prstGeom>
          <a:solidFill xmlns:a="http://schemas.openxmlformats.org/drawingml/2006/main">
            <a:srgbClr val="0B2A3C"/>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17" name="">
            <a:extLst xmlns:a="http://schemas.openxmlformats.org/drawingml/2006/main">
              <a:ext uri="{FF2B5EF4-FFF2-40B4-BE49-F238E27FC236}">
                <a16:creationId xmlns:a16="http://schemas.microsoft.com/office/drawing/2014/main" id="{E5182C93-FF02-4D3E-BFAE-8AC7F84DD8CD}"/>
              </a:ext>
            </a:extLst>
          </p:cNvPr>
          <p:cNvSpPr>
            <a:spLocks xmlns:a="http://schemas.openxmlformats.org/drawingml/2006/main" noGrp="1"/>
          </p:cNvSpPr>
          <p:nvPr/>
        </p:nvSpPr>
        <p:spPr>
          <a:xfrm xmlns:a="http://schemas.openxmlformats.org/drawingml/2006/main">
            <a:off x="9172575" y="1562100"/>
            <a:ext cx="1038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125" b="1">
                <a:solidFill>
                  <a:srgbClr val="F7FAFA"/>
                </a:solidFill>
                <a:latin typeface="Arial"/>
                <a:ea typeface="Arial"/>
                <a:cs typeface="Arial"/>
              </a:defRPr>
            </a:pPr>
            <a:r>
              <a:rPr sz="1400" b="1">
                <a:solidFill>
                  <a:srgbClr val="F7FAFA"/>
                </a:solidFill>
                <a:latin typeface="Segoe UI"/>
                <a:ea typeface="Segoe UI"/>
                <a:cs typeface="Segoe UI"/>
              </a:rPr>
              <a:t>ROC-AUC</a:t>
            </a:r>
          </a:p>
        </p:txBody>
      </p:sp>
      <p:sp>
        <p:nvSpPr>
          <p:cNvPr id="18" name="">
            <a:extLst xmlns:a="http://schemas.openxmlformats.org/drawingml/2006/main">
              <a:ext uri="{FF2B5EF4-FFF2-40B4-BE49-F238E27FC236}">
                <a16:creationId xmlns:a16="http://schemas.microsoft.com/office/drawing/2014/main" id="{34D2E6CC-F91E-4263-9EFC-083324CCFE08}"/>
              </a:ext>
            </a:extLst>
          </p:cNvPr>
          <p:cNvSpPr>
            <a:spLocks xmlns:a="http://schemas.openxmlformats.org/drawingml/2006/main" noGrp="1"/>
          </p:cNvSpPr>
          <p:nvPr/>
        </p:nvSpPr>
        <p:spPr>
          <a:xfrm xmlns:a="http://schemas.openxmlformats.org/drawingml/2006/main">
            <a:off x="666750" y="1962150"/>
            <a:ext cx="3238500" cy="619125"/>
          </a:xfrm>
          <a:prstGeom xmlns:a="http://schemas.openxmlformats.org/drawingml/2006/main" prst="rect">
            <a:avLst/>
          </a:prstGeom>
          <a:solidFill xmlns:a="http://schemas.openxmlformats.org/drawingml/2006/main">
            <a:srgbClr val="E6F4F1"/>
          </a:solidFill>
          <a:ln xmlns:a="http://schemas.openxmlformats.org/drawingml/2006/main" w="7620">
            <a:solidFill>
              <a:srgbClr val="D5DEE2"/>
            </a:solidFill>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851FF9B1-0717-4488-9D7A-0E807001D995}"/>
              </a:ext>
            </a:extLst>
          </p:cNvPr>
          <p:cNvSpPr>
            <a:spLocks xmlns:a="http://schemas.openxmlformats.org/drawingml/2006/main" noGrp="1"/>
          </p:cNvSpPr>
          <p:nvPr/>
        </p:nvSpPr>
        <p:spPr>
          <a:xfrm xmlns:a="http://schemas.openxmlformats.org/drawingml/2006/main">
            <a:off x="752475" y="2009775"/>
            <a:ext cx="3067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00" b="1">
                <a:solidFill>
                  <a:srgbClr val="0B2A3C"/>
                </a:solidFill>
                <a:latin typeface="Arial"/>
                <a:ea typeface="Arial"/>
                <a:cs typeface="Arial"/>
              </a:defRPr>
            </a:pPr>
            <a:r>
              <a:rPr sz="1400" b="1">
                <a:solidFill>
                  <a:srgbClr val="0B2A3C"/>
                </a:solidFill>
                <a:latin typeface="Segoe UI"/>
                <a:ea typeface="Segoe UI"/>
                <a:cs typeface="Segoe UI"/>
              </a:rPr>
              <a:t>Healthy-range &lt;5.7%</a:t>
            </a:r>
          </a:p>
        </p:txBody>
      </p:sp>
      <p:sp>
        <p:nvSpPr>
          <p:cNvPr id="20" name="">
            <a:extLst xmlns:a="http://schemas.openxmlformats.org/drawingml/2006/main">
              <a:ext uri="{FF2B5EF4-FFF2-40B4-BE49-F238E27FC236}">
                <a16:creationId xmlns:a16="http://schemas.microsoft.com/office/drawing/2014/main" id="{375FDBFF-71B3-4898-B8EE-21832B50CFA5}"/>
              </a:ext>
            </a:extLst>
          </p:cNvPr>
          <p:cNvSpPr>
            <a:spLocks xmlns:a="http://schemas.openxmlformats.org/drawingml/2006/main" noGrp="1"/>
          </p:cNvSpPr>
          <p:nvPr/>
        </p:nvSpPr>
        <p:spPr>
          <a:xfrm xmlns:a="http://schemas.openxmlformats.org/drawingml/2006/main">
            <a:off x="3905250" y="1962150"/>
            <a:ext cx="1143000" cy="619125"/>
          </a:xfrm>
          <a:prstGeom xmlns:a="http://schemas.openxmlformats.org/drawingml/2006/main" prst="rect">
            <a:avLst/>
          </a:prstGeom>
          <a:solidFill xmlns:a="http://schemas.openxmlformats.org/drawingml/2006/main">
            <a:srgbClr val="E6F4F1"/>
          </a:solidFill>
          <a:ln xmlns:a="http://schemas.openxmlformats.org/drawingml/2006/main" w="7620">
            <a:solidFill>
              <a:srgbClr val="D5DEE2"/>
            </a:solidFill>
          </a:ln>
        </p:spPr>
        <p:txBody>
          <a:bodyPr xmlns:a="http://schemas.openxmlformats.org/drawingml/2006/main"/>
          <a:lstStyle xmlns:a="http://schemas.openxmlformats.org/drawingml/2006/main"/>
          <a:p xmlns:a="http://schemas.openxmlformats.org/drawingml/2006/main"/>
        </p:txBody>
      </p:sp>
      <p:sp>
        <p:nvSpPr>
          <p:cNvPr id="21" name="">
            <a:extLst xmlns:a="http://schemas.openxmlformats.org/drawingml/2006/main">
              <a:ext uri="{FF2B5EF4-FFF2-40B4-BE49-F238E27FC236}">
                <a16:creationId xmlns:a16="http://schemas.microsoft.com/office/drawing/2014/main" id="{09B1B114-55E7-47F2-B0D3-2FEDDFC84424}"/>
              </a:ext>
            </a:extLst>
          </p:cNvPr>
          <p:cNvSpPr>
            <a:spLocks xmlns:a="http://schemas.openxmlformats.org/drawingml/2006/main" noGrp="1"/>
          </p:cNvSpPr>
          <p:nvPr/>
        </p:nvSpPr>
        <p:spPr>
          <a:xfrm xmlns:a="http://schemas.openxmlformats.org/drawingml/2006/main">
            <a:off x="3990975" y="2009775"/>
            <a:ext cx="971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onsolas"/>
                <a:ea typeface="Consolas"/>
                <a:cs typeface="Consolas"/>
              </a:rPr>
              <a:t>15</a:t>
            </a:r>
          </a:p>
        </p:txBody>
      </p:sp>
      <p:sp>
        <p:nvSpPr>
          <p:cNvPr id="22" name="">
            <a:extLst xmlns:a="http://schemas.openxmlformats.org/drawingml/2006/main">
              <a:ext uri="{FF2B5EF4-FFF2-40B4-BE49-F238E27FC236}">
                <a16:creationId xmlns:a16="http://schemas.microsoft.com/office/drawing/2014/main" id="{3909B2D9-E2DB-4DE9-8D0F-C163D660536A}"/>
              </a:ext>
            </a:extLst>
          </p:cNvPr>
          <p:cNvSpPr>
            <a:spLocks xmlns:a="http://schemas.openxmlformats.org/drawingml/2006/main" noGrp="1"/>
          </p:cNvSpPr>
          <p:nvPr/>
        </p:nvSpPr>
        <p:spPr>
          <a:xfrm xmlns:a="http://schemas.openxmlformats.org/drawingml/2006/main">
            <a:off x="5048250" y="1962150"/>
            <a:ext cx="1381125" cy="619125"/>
          </a:xfrm>
          <a:prstGeom xmlns:a="http://schemas.openxmlformats.org/drawingml/2006/main" prst="rect">
            <a:avLst/>
          </a:prstGeom>
          <a:solidFill xmlns:a="http://schemas.openxmlformats.org/drawingml/2006/main">
            <a:srgbClr val="E6F4F1"/>
          </a:solidFill>
          <a:ln xmlns:a="http://schemas.openxmlformats.org/drawingml/2006/main" w="7620">
            <a:solidFill>
              <a:srgbClr val="D5DEE2"/>
            </a:solidFill>
          </a:ln>
        </p:spPr>
        <p:txBody>
          <a:bodyPr xmlns:a="http://schemas.openxmlformats.org/drawingml/2006/main"/>
          <a:lstStyle xmlns:a="http://schemas.openxmlformats.org/drawingml/2006/main"/>
          <a:p xmlns:a="http://schemas.openxmlformats.org/drawingml/2006/main"/>
        </p:txBody>
      </p:sp>
      <p:sp>
        <p:nvSpPr>
          <p:cNvPr id="23" name="">
            <a:extLst xmlns:a="http://schemas.openxmlformats.org/drawingml/2006/main">
              <a:ext uri="{FF2B5EF4-FFF2-40B4-BE49-F238E27FC236}">
                <a16:creationId xmlns:a16="http://schemas.microsoft.com/office/drawing/2014/main" id="{3E8098B9-814D-47C2-B994-2C968E621E0B}"/>
              </a:ext>
            </a:extLst>
          </p:cNvPr>
          <p:cNvSpPr>
            <a:spLocks xmlns:a="http://schemas.openxmlformats.org/drawingml/2006/main" noGrp="1"/>
          </p:cNvSpPr>
          <p:nvPr/>
        </p:nvSpPr>
        <p:spPr>
          <a:xfrm xmlns:a="http://schemas.openxmlformats.org/drawingml/2006/main">
            <a:off x="5133975" y="2009775"/>
            <a:ext cx="1209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buNone/>
            </a:pPr>
            <a:r>
              <a:rPr sz="1400">
                <a:latin typeface="Calibri"/>
                <a:ea typeface="Calibri"/>
                <a:cs typeface="Calibri"/>
              </a:rPr>
              <a:t>106 (2)</a:t>
            </a:r>
          </a:p>
        </p:txBody>
      </p:sp>
      <p:sp>
        <p:nvSpPr>
          <p:cNvPr id="24" name="">
            <a:extLst xmlns:a="http://schemas.openxmlformats.org/drawingml/2006/main">
              <a:ext uri="{FF2B5EF4-FFF2-40B4-BE49-F238E27FC236}">
                <a16:creationId xmlns:a16="http://schemas.microsoft.com/office/drawing/2014/main" id="{7111557E-20EE-495F-8D65-2A8D7F2731BD}"/>
              </a:ext>
            </a:extLst>
          </p:cNvPr>
          <p:cNvSpPr>
            <a:spLocks xmlns:a="http://schemas.openxmlformats.org/drawingml/2006/main" noGrp="1"/>
          </p:cNvSpPr>
          <p:nvPr/>
        </p:nvSpPr>
        <p:spPr>
          <a:xfrm xmlns:a="http://schemas.openxmlformats.org/drawingml/2006/main">
            <a:off x="6429375" y="1962150"/>
            <a:ext cx="1381125" cy="619125"/>
          </a:xfrm>
          <a:prstGeom xmlns:a="http://schemas.openxmlformats.org/drawingml/2006/main" prst="rect">
            <a:avLst/>
          </a:prstGeom>
          <a:solidFill xmlns:a="http://schemas.openxmlformats.org/drawingml/2006/main">
            <a:srgbClr val="E6F4F1"/>
          </a:solidFill>
          <a:ln xmlns:a="http://schemas.openxmlformats.org/drawingml/2006/main" w="7620">
            <a:solidFill>
              <a:srgbClr val="D5DEE2"/>
            </a:solidFill>
          </a:ln>
        </p:spPr>
        <p:txBody>
          <a:bodyPr xmlns:a="http://schemas.openxmlformats.org/drawingml/2006/main"/>
          <a:lstStyle xmlns:a="http://schemas.openxmlformats.org/drawingml/2006/main"/>
          <a:p xmlns:a="http://schemas.openxmlformats.org/drawingml/2006/main"/>
        </p:txBody>
      </p:sp>
      <p:sp>
        <p:nvSpPr>
          <p:cNvPr id="25" name="">
            <a:extLst xmlns:a="http://schemas.openxmlformats.org/drawingml/2006/main">
              <a:ext uri="{FF2B5EF4-FFF2-40B4-BE49-F238E27FC236}">
                <a16:creationId xmlns:a16="http://schemas.microsoft.com/office/drawing/2014/main" id="{F82B9638-B972-49BC-ACC3-91437755AAC6}"/>
              </a:ext>
            </a:extLst>
          </p:cNvPr>
          <p:cNvSpPr>
            <a:spLocks xmlns:a="http://schemas.openxmlformats.org/drawingml/2006/main" noGrp="1"/>
          </p:cNvSpPr>
          <p:nvPr/>
        </p:nvSpPr>
        <p:spPr>
          <a:xfrm xmlns:a="http://schemas.openxmlformats.org/drawingml/2006/main">
            <a:off x="6515100" y="2009775"/>
            <a:ext cx="1209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onsolas"/>
                <a:ea typeface="Consolas"/>
                <a:cs typeface="Consolas"/>
              </a:rPr>
              <a:t>0.7%</a:t>
            </a:r>
          </a:p>
        </p:txBody>
      </p:sp>
      <p:sp>
        <p:nvSpPr>
          <p:cNvPr id="26" name="">
            <a:extLst xmlns:a="http://schemas.openxmlformats.org/drawingml/2006/main">
              <a:ext uri="{FF2B5EF4-FFF2-40B4-BE49-F238E27FC236}">
                <a16:creationId xmlns:a16="http://schemas.microsoft.com/office/drawing/2014/main" id="{00CDEAF2-7F36-4A63-97D8-D09271F2070E}"/>
              </a:ext>
            </a:extLst>
          </p:cNvPr>
          <p:cNvSpPr>
            <a:spLocks xmlns:a="http://schemas.openxmlformats.org/drawingml/2006/main" noGrp="1"/>
          </p:cNvSpPr>
          <p:nvPr/>
        </p:nvSpPr>
        <p:spPr>
          <a:xfrm xmlns:a="http://schemas.openxmlformats.org/drawingml/2006/main">
            <a:off x="7810500" y="1962150"/>
            <a:ext cx="1285875" cy="619125"/>
          </a:xfrm>
          <a:prstGeom xmlns:a="http://schemas.openxmlformats.org/drawingml/2006/main" prst="rect">
            <a:avLst/>
          </a:prstGeom>
          <a:solidFill xmlns:a="http://schemas.openxmlformats.org/drawingml/2006/main">
            <a:srgbClr val="E6F4F1"/>
          </a:solidFill>
          <a:ln xmlns:a="http://schemas.openxmlformats.org/drawingml/2006/main" w="7620">
            <a:solidFill>
              <a:srgbClr val="D5DEE2"/>
            </a:solidFill>
          </a:ln>
        </p:spPr>
        <p:txBody>
          <a:bodyPr xmlns:a="http://schemas.openxmlformats.org/drawingml/2006/main"/>
          <a:lstStyle xmlns:a="http://schemas.openxmlformats.org/drawingml/2006/main"/>
          <a:p xmlns:a="http://schemas.openxmlformats.org/drawingml/2006/main"/>
        </p:txBody>
      </p:sp>
      <p:sp>
        <p:nvSpPr>
          <p:cNvPr id="27" name="">
            <a:extLst xmlns:a="http://schemas.openxmlformats.org/drawingml/2006/main">
              <a:ext uri="{FF2B5EF4-FFF2-40B4-BE49-F238E27FC236}">
                <a16:creationId xmlns:a16="http://schemas.microsoft.com/office/drawing/2014/main" id="{EBB3E5F8-EE09-47D1-9FCE-E2C077F67E25}"/>
              </a:ext>
            </a:extLst>
          </p:cNvPr>
          <p:cNvSpPr>
            <a:spLocks xmlns:a="http://schemas.openxmlformats.org/drawingml/2006/main" noGrp="1"/>
          </p:cNvSpPr>
          <p:nvPr/>
        </p:nvSpPr>
        <p:spPr>
          <a:xfrm xmlns:a="http://schemas.openxmlformats.org/drawingml/2006/main">
            <a:off x="7896225" y="2009775"/>
            <a:ext cx="1114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onsolas"/>
                <a:ea typeface="Consolas"/>
                <a:cs typeface="Consolas"/>
              </a:rPr>
              <a:t>0.044</a:t>
            </a:r>
          </a:p>
        </p:txBody>
      </p:sp>
      <p:sp>
        <p:nvSpPr>
          <p:cNvPr id="28" name="">
            <a:extLst xmlns:a="http://schemas.openxmlformats.org/drawingml/2006/main">
              <a:ext uri="{FF2B5EF4-FFF2-40B4-BE49-F238E27FC236}">
                <a16:creationId xmlns:a16="http://schemas.microsoft.com/office/drawing/2014/main" id="{2434EBCD-3B76-4630-A3F8-D5425D7E85F3}"/>
              </a:ext>
            </a:extLst>
          </p:cNvPr>
          <p:cNvSpPr>
            <a:spLocks xmlns:a="http://schemas.openxmlformats.org/drawingml/2006/main" noGrp="1"/>
          </p:cNvSpPr>
          <p:nvPr/>
        </p:nvSpPr>
        <p:spPr>
          <a:xfrm xmlns:a="http://schemas.openxmlformats.org/drawingml/2006/main">
            <a:off x="9096375" y="1962150"/>
            <a:ext cx="1190625" cy="619125"/>
          </a:xfrm>
          <a:prstGeom xmlns:a="http://schemas.openxmlformats.org/drawingml/2006/main" prst="rect">
            <a:avLst/>
          </a:prstGeom>
          <a:solidFill xmlns:a="http://schemas.openxmlformats.org/drawingml/2006/main">
            <a:srgbClr val="E6F4F1"/>
          </a:solidFill>
          <a:ln xmlns:a="http://schemas.openxmlformats.org/drawingml/2006/main" w="7620">
            <a:solidFill>
              <a:srgbClr val="D5DEE2"/>
            </a:solidFill>
          </a:ln>
        </p:spPr>
        <p:txBody>
          <a:bodyPr xmlns:a="http://schemas.openxmlformats.org/drawingml/2006/main"/>
          <a:lstStyle xmlns:a="http://schemas.openxmlformats.org/drawingml/2006/main"/>
          <a:p xmlns:a="http://schemas.openxmlformats.org/drawingml/2006/main"/>
        </p:txBody>
      </p:sp>
      <p:sp>
        <p:nvSpPr>
          <p:cNvPr id="29" name="">
            <a:extLst xmlns:a="http://schemas.openxmlformats.org/drawingml/2006/main">
              <a:ext uri="{FF2B5EF4-FFF2-40B4-BE49-F238E27FC236}">
                <a16:creationId xmlns:a16="http://schemas.microsoft.com/office/drawing/2014/main" id="{CF81AD2B-7976-439F-9267-E09B29305271}"/>
              </a:ext>
            </a:extLst>
          </p:cNvPr>
          <p:cNvSpPr>
            <a:spLocks xmlns:a="http://schemas.openxmlformats.org/drawingml/2006/main" noGrp="1"/>
          </p:cNvSpPr>
          <p:nvPr/>
        </p:nvSpPr>
        <p:spPr>
          <a:xfrm xmlns:a="http://schemas.openxmlformats.org/drawingml/2006/main">
            <a:off x="9182100" y="2009775"/>
            <a:ext cx="10191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onsolas"/>
                <a:ea typeface="Consolas"/>
                <a:cs typeface="Consolas"/>
              </a:rPr>
              <a:t>0.893</a:t>
            </a:r>
          </a:p>
        </p:txBody>
      </p:sp>
      <p:sp>
        <p:nvSpPr>
          <p:cNvPr id="30" name="">
            <a:extLst xmlns:a="http://schemas.openxmlformats.org/drawingml/2006/main">
              <a:ext uri="{FF2B5EF4-FFF2-40B4-BE49-F238E27FC236}">
                <a16:creationId xmlns:a16="http://schemas.microsoft.com/office/drawing/2014/main" id="{DA09E631-238D-41B6-8E1A-ED3E8E64DCD9}"/>
              </a:ext>
            </a:extLst>
          </p:cNvPr>
          <p:cNvSpPr>
            <a:spLocks xmlns:a="http://schemas.openxmlformats.org/drawingml/2006/main" noGrp="1"/>
          </p:cNvSpPr>
          <p:nvPr/>
        </p:nvSpPr>
        <p:spPr>
          <a:xfrm xmlns:a="http://schemas.openxmlformats.org/drawingml/2006/main">
            <a:off x="666750" y="2581275"/>
            <a:ext cx="3238500" cy="619125"/>
          </a:xfrm>
          <a:prstGeom xmlns:a="http://schemas.openxmlformats.org/drawingml/2006/main" prst="rect">
            <a:avLst/>
          </a:prstGeom>
          <a:solidFill xmlns:a="http://schemas.openxmlformats.org/drawingml/2006/main">
            <a:srgbClr val="F7FAFA"/>
          </a:solidFill>
          <a:ln xmlns:a="http://schemas.openxmlformats.org/drawingml/2006/main" w="7620">
            <a:solidFill>
              <a:srgbClr val="D5DEE2"/>
            </a:solidFill>
          </a:ln>
        </p:spPr>
        <p:txBody>
          <a:bodyPr xmlns:a="http://schemas.openxmlformats.org/drawingml/2006/main"/>
          <a:lstStyle xmlns:a="http://schemas.openxmlformats.org/drawingml/2006/main"/>
          <a:p xmlns:a="http://schemas.openxmlformats.org/drawingml/2006/main"/>
        </p:txBody>
      </p:sp>
      <p:sp>
        <p:nvSpPr>
          <p:cNvPr id="31" name="">
            <a:extLst xmlns:a="http://schemas.openxmlformats.org/drawingml/2006/main">
              <a:ext uri="{FF2B5EF4-FFF2-40B4-BE49-F238E27FC236}">
                <a16:creationId xmlns:a16="http://schemas.microsoft.com/office/drawing/2014/main" id="{4447E646-5BFB-4CB1-993A-BF95CF4EB749}"/>
              </a:ext>
            </a:extLst>
          </p:cNvPr>
          <p:cNvSpPr>
            <a:spLocks xmlns:a="http://schemas.openxmlformats.org/drawingml/2006/main" noGrp="1"/>
          </p:cNvSpPr>
          <p:nvPr/>
        </p:nvSpPr>
        <p:spPr>
          <a:xfrm xmlns:a="http://schemas.openxmlformats.org/drawingml/2006/main">
            <a:off x="752475" y="2628900"/>
            <a:ext cx="3067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00" b="1">
                <a:solidFill>
                  <a:srgbClr val="0B2A3C"/>
                </a:solidFill>
                <a:latin typeface="Arial"/>
                <a:ea typeface="Arial"/>
                <a:cs typeface="Arial"/>
              </a:defRPr>
            </a:pPr>
            <a:r>
              <a:rPr sz="1400" b="1">
                <a:solidFill>
                  <a:srgbClr val="0B2A3C"/>
                </a:solidFill>
                <a:latin typeface="Segoe UI"/>
                <a:ea typeface="Segoe UI"/>
                <a:cs typeface="Segoe UI"/>
              </a:rPr>
              <a:t>Prediabetes-range 5.7–6.4%</a:t>
            </a:r>
          </a:p>
        </p:txBody>
      </p:sp>
      <p:sp>
        <p:nvSpPr>
          <p:cNvPr id="32" name="">
            <a:extLst xmlns:a="http://schemas.openxmlformats.org/drawingml/2006/main">
              <a:ext uri="{FF2B5EF4-FFF2-40B4-BE49-F238E27FC236}">
                <a16:creationId xmlns:a16="http://schemas.microsoft.com/office/drawing/2014/main" id="{A7841204-BD53-4E1A-B3B4-8B435B8E0CDF}"/>
              </a:ext>
            </a:extLst>
          </p:cNvPr>
          <p:cNvSpPr>
            <a:spLocks xmlns:a="http://schemas.openxmlformats.org/drawingml/2006/main" noGrp="1"/>
          </p:cNvSpPr>
          <p:nvPr/>
        </p:nvSpPr>
        <p:spPr>
          <a:xfrm xmlns:a="http://schemas.openxmlformats.org/drawingml/2006/main">
            <a:off x="3905250" y="2581275"/>
            <a:ext cx="1143000" cy="619125"/>
          </a:xfrm>
          <a:prstGeom xmlns:a="http://schemas.openxmlformats.org/drawingml/2006/main" prst="rect">
            <a:avLst/>
          </a:prstGeom>
          <a:solidFill xmlns:a="http://schemas.openxmlformats.org/drawingml/2006/main">
            <a:srgbClr val="F7FAFA"/>
          </a:solidFill>
          <a:ln xmlns:a="http://schemas.openxmlformats.org/drawingml/2006/main" w="7620">
            <a:solidFill>
              <a:srgbClr val="D5DEE2"/>
            </a:solidFill>
          </a:ln>
        </p:spPr>
        <p:txBody>
          <a:bodyPr xmlns:a="http://schemas.openxmlformats.org/drawingml/2006/main"/>
          <a:lstStyle xmlns:a="http://schemas.openxmlformats.org/drawingml/2006/main"/>
          <a:p xmlns:a="http://schemas.openxmlformats.org/drawingml/2006/main"/>
        </p:txBody>
      </p:sp>
      <p:sp>
        <p:nvSpPr>
          <p:cNvPr id="33" name="">
            <a:extLst xmlns:a="http://schemas.openxmlformats.org/drawingml/2006/main">
              <a:ext uri="{FF2B5EF4-FFF2-40B4-BE49-F238E27FC236}">
                <a16:creationId xmlns:a16="http://schemas.microsoft.com/office/drawing/2014/main" id="{CC293676-FC83-4285-B97E-F5D32A4B7FA3}"/>
              </a:ext>
            </a:extLst>
          </p:cNvPr>
          <p:cNvSpPr>
            <a:spLocks xmlns:a="http://schemas.openxmlformats.org/drawingml/2006/main" noGrp="1"/>
          </p:cNvSpPr>
          <p:nvPr/>
        </p:nvSpPr>
        <p:spPr>
          <a:xfrm xmlns:a="http://schemas.openxmlformats.org/drawingml/2006/main">
            <a:off x="3990975" y="2628900"/>
            <a:ext cx="971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onsolas"/>
                <a:ea typeface="Consolas"/>
                <a:cs typeface="Consolas"/>
              </a:rPr>
              <a:t>16</a:t>
            </a:r>
          </a:p>
        </p:txBody>
      </p:sp>
      <p:sp>
        <p:nvSpPr>
          <p:cNvPr id="34" name="">
            <a:extLst xmlns:a="http://schemas.openxmlformats.org/drawingml/2006/main">
              <a:ext uri="{FF2B5EF4-FFF2-40B4-BE49-F238E27FC236}">
                <a16:creationId xmlns:a16="http://schemas.microsoft.com/office/drawing/2014/main" id="{9B922213-D628-4EE7-901F-D1C773882063}"/>
              </a:ext>
            </a:extLst>
          </p:cNvPr>
          <p:cNvSpPr>
            <a:spLocks xmlns:a="http://schemas.openxmlformats.org/drawingml/2006/main" noGrp="1"/>
          </p:cNvSpPr>
          <p:nvPr/>
        </p:nvSpPr>
        <p:spPr>
          <a:xfrm xmlns:a="http://schemas.openxmlformats.org/drawingml/2006/main">
            <a:off x="5048250" y="2581275"/>
            <a:ext cx="1381125" cy="619125"/>
          </a:xfrm>
          <a:prstGeom xmlns:a="http://schemas.openxmlformats.org/drawingml/2006/main" prst="rect">
            <a:avLst/>
          </a:prstGeom>
          <a:solidFill xmlns:a="http://schemas.openxmlformats.org/drawingml/2006/main">
            <a:srgbClr val="F7FAFA"/>
          </a:solidFill>
          <a:ln xmlns:a="http://schemas.openxmlformats.org/drawingml/2006/main" w="7620">
            <a:solidFill>
              <a:srgbClr val="D5DEE2"/>
            </a:solidFill>
          </a:ln>
        </p:spPr>
        <p:txBody>
          <a:bodyPr xmlns:a="http://schemas.openxmlformats.org/drawingml/2006/main"/>
          <a:lstStyle xmlns:a="http://schemas.openxmlformats.org/drawingml/2006/main"/>
          <a:p xmlns:a="http://schemas.openxmlformats.org/drawingml/2006/main"/>
        </p:txBody>
      </p:sp>
      <p:sp>
        <p:nvSpPr>
          <p:cNvPr id="35" name="">
            <a:extLst xmlns:a="http://schemas.openxmlformats.org/drawingml/2006/main">
              <a:ext uri="{FF2B5EF4-FFF2-40B4-BE49-F238E27FC236}">
                <a16:creationId xmlns:a16="http://schemas.microsoft.com/office/drawing/2014/main" id="{54EBA273-97E2-45D8-94E6-8207CF21059E}"/>
              </a:ext>
            </a:extLst>
          </p:cNvPr>
          <p:cNvSpPr>
            <a:spLocks xmlns:a="http://schemas.openxmlformats.org/drawingml/2006/main" noGrp="1"/>
          </p:cNvSpPr>
          <p:nvPr/>
        </p:nvSpPr>
        <p:spPr>
          <a:xfrm xmlns:a="http://schemas.openxmlformats.org/drawingml/2006/main">
            <a:off x="5133975" y="2628900"/>
            <a:ext cx="1209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buNone/>
            </a:pPr>
            <a:r>
              <a:rPr sz="1400">
                <a:latin typeface="Calibri"/>
                <a:ea typeface="Calibri"/>
                <a:cs typeface="Calibri"/>
              </a:rPr>
              <a:t>439 (13)</a:t>
            </a:r>
          </a:p>
        </p:txBody>
      </p:sp>
      <p:sp>
        <p:nvSpPr>
          <p:cNvPr id="36" name="">
            <a:extLst xmlns:a="http://schemas.openxmlformats.org/drawingml/2006/main">
              <a:ext uri="{FF2B5EF4-FFF2-40B4-BE49-F238E27FC236}">
                <a16:creationId xmlns:a16="http://schemas.microsoft.com/office/drawing/2014/main" id="{CBA1FF17-7102-4707-A2AC-D5FCD432D69B}"/>
              </a:ext>
            </a:extLst>
          </p:cNvPr>
          <p:cNvSpPr>
            <a:spLocks xmlns:a="http://schemas.openxmlformats.org/drawingml/2006/main" noGrp="1"/>
          </p:cNvSpPr>
          <p:nvPr/>
        </p:nvSpPr>
        <p:spPr>
          <a:xfrm xmlns:a="http://schemas.openxmlformats.org/drawingml/2006/main">
            <a:off x="6429375" y="2581275"/>
            <a:ext cx="1381125" cy="619125"/>
          </a:xfrm>
          <a:prstGeom xmlns:a="http://schemas.openxmlformats.org/drawingml/2006/main" prst="rect">
            <a:avLst/>
          </a:prstGeom>
          <a:solidFill xmlns:a="http://schemas.openxmlformats.org/drawingml/2006/main">
            <a:srgbClr val="F7FAFA"/>
          </a:solidFill>
          <a:ln xmlns:a="http://schemas.openxmlformats.org/drawingml/2006/main" w="7620">
            <a:solidFill>
              <a:srgbClr val="D5DEE2"/>
            </a:solidFill>
          </a:ln>
        </p:spPr>
        <p:txBody>
          <a:bodyPr xmlns:a="http://schemas.openxmlformats.org/drawingml/2006/main"/>
          <a:lstStyle xmlns:a="http://schemas.openxmlformats.org/drawingml/2006/main"/>
          <a:p xmlns:a="http://schemas.openxmlformats.org/drawingml/2006/main"/>
        </p:txBody>
      </p:sp>
      <p:sp>
        <p:nvSpPr>
          <p:cNvPr id="37" name="">
            <a:extLst xmlns:a="http://schemas.openxmlformats.org/drawingml/2006/main">
              <a:ext uri="{FF2B5EF4-FFF2-40B4-BE49-F238E27FC236}">
                <a16:creationId xmlns:a16="http://schemas.microsoft.com/office/drawing/2014/main" id="{FD7C3875-FEDF-45A4-9004-61A1A84F0455}"/>
              </a:ext>
            </a:extLst>
          </p:cNvPr>
          <p:cNvSpPr>
            <a:spLocks xmlns:a="http://schemas.openxmlformats.org/drawingml/2006/main" noGrp="1"/>
          </p:cNvSpPr>
          <p:nvPr/>
        </p:nvSpPr>
        <p:spPr>
          <a:xfrm xmlns:a="http://schemas.openxmlformats.org/drawingml/2006/main">
            <a:off x="6515100" y="2628900"/>
            <a:ext cx="1209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onsolas"/>
                <a:ea typeface="Consolas"/>
                <a:cs typeface="Consolas"/>
              </a:rPr>
              <a:t>2.8%</a:t>
            </a:r>
          </a:p>
        </p:txBody>
      </p:sp>
      <p:sp>
        <p:nvSpPr>
          <p:cNvPr id="38" name="">
            <a:extLst xmlns:a="http://schemas.openxmlformats.org/drawingml/2006/main">
              <a:ext uri="{FF2B5EF4-FFF2-40B4-BE49-F238E27FC236}">
                <a16:creationId xmlns:a16="http://schemas.microsoft.com/office/drawing/2014/main" id="{029524A6-9361-4C80-BA79-6A756022AA71}"/>
              </a:ext>
            </a:extLst>
          </p:cNvPr>
          <p:cNvSpPr>
            <a:spLocks xmlns:a="http://schemas.openxmlformats.org/drawingml/2006/main" noGrp="1"/>
          </p:cNvSpPr>
          <p:nvPr/>
        </p:nvSpPr>
        <p:spPr>
          <a:xfrm xmlns:a="http://schemas.openxmlformats.org/drawingml/2006/main">
            <a:off x="7810500" y="2581275"/>
            <a:ext cx="1285875" cy="619125"/>
          </a:xfrm>
          <a:prstGeom xmlns:a="http://schemas.openxmlformats.org/drawingml/2006/main" prst="rect">
            <a:avLst/>
          </a:prstGeom>
          <a:solidFill xmlns:a="http://schemas.openxmlformats.org/drawingml/2006/main">
            <a:srgbClr val="F7FAFA"/>
          </a:solidFill>
          <a:ln xmlns:a="http://schemas.openxmlformats.org/drawingml/2006/main" w="7620">
            <a:solidFill>
              <a:srgbClr val="D5DEE2"/>
            </a:solidFill>
          </a:ln>
        </p:spPr>
        <p:txBody>
          <a:bodyPr xmlns:a="http://schemas.openxmlformats.org/drawingml/2006/main"/>
          <a:lstStyle xmlns:a="http://schemas.openxmlformats.org/drawingml/2006/main"/>
          <a:p xmlns:a="http://schemas.openxmlformats.org/drawingml/2006/main"/>
        </p:txBody>
      </p:sp>
      <p:sp>
        <p:nvSpPr>
          <p:cNvPr id="39" name="">
            <a:extLst xmlns:a="http://schemas.openxmlformats.org/drawingml/2006/main">
              <a:ext uri="{FF2B5EF4-FFF2-40B4-BE49-F238E27FC236}">
                <a16:creationId xmlns:a16="http://schemas.microsoft.com/office/drawing/2014/main" id="{F0CCAC5C-E390-4A9D-BDC8-AC99FAA71578}"/>
              </a:ext>
            </a:extLst>
          </p:cNvPr>
          <p:cNvSpPr>
            <a:spLocks xmlns:a="http://schemas.openxmlformats.org/drawingml/2006/main" noGrp="1"/>
          </p:cNvSpPr>
          <p:nvPr/>
        </p:nvSpPr>
        <p:spPr>
          <a:xfrm xmlns:a="http://schemas.openxmlformats.org/drawingml/2006/main">
            <a:off x="7896225" y="2628900"/>
            <a:ext cx="1114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onsolas"/>
                <a:ea typeface="Consolas"/>
                <a:cs typeface="Consolas"/>
              </a:rPr>
              <a:t>0.164</a:t>
            </a:r>
          </a:p>
        </p:txBody>
      </p:sp>
      <p:sp>
        <p:nvSpPr>
          <p:cNvPr id="40" name="">
            <a:extLst xmlns:a="http://schemas.openxmlformats.org/drawingml/2006/main">
              <a:ext uri="{FF2B5EF4-FFF2-40B4-BE49-F238E27FC236}">
                <a16:creationId xmlns:a16="http://schemas.microsoft.com/office/drawing/2014/main" id="{6572E791-A8B1-4FF0-B2AE-09866F740258}"/>
              </a:ext>
            </a:extLst>
          </p:cNvPr>
          <p:cNvSpPr>
            <a:spLocks xmlns:a="http://schemas.openxmlformats.org/drawingml/2006/main" noGrp="1"/>
          </p:cNvSpPr>
          <p:nvPr/>
        </p:nvSpPr>
        <p:spPr>
          <a:xfrm xmlns:a="http://schemas.openxmlformats.org/drawingml/2006/main">
            <a:off x="9096375" y="2581275"/>
            <a:ext cx="1190625" cy="619125"/>
          </a:xfrm>
          <a:prstGeom xmlns:a="http://schemas.openxmlformats.org/drawingml/2006/main" prst="rect">
            <a:avLst/>
          </a:prstGeom>
          <a:solidFill xmlns:a="http://schemas.openxmlformats.org/drawingml/2006/main">
            <a:srgbClr val="F7FAFA"/>
          </a:solidFill>
          <a:ln xmlns:a="http://schemas.openxmlformats.org/drawingml/2006/main" w="7620">
            <a:solidFill>
              <a:srgbClr val="D5DEE2"/>
            </a:solidFill>
          </a:ln>
        </p:spPr>
        <p:txBody>
          <a:bodyPr xmlns:a="http://schemas.openxmlformats.org/drawingml/2006/main"/>
          <a:lstStyle xmlns:a="http://schemas.openxmlformats.org/drawingml/2006/main"/>
          <a:p xmlns:a="http://schemas.openxmlformats.org/drawingml/2006/main"/>
        </p:txBody>
      </p:sp>
      <p:sp>
        <p:nvSpPr>
          <p:cNvPr id="41" name="">
            <a:extLst xmlns:a="http://schemas.openxmlformats.org/drawingml/2006/main">
              <a:ext uri="{FF2B5EF4-FFF2-40B4-BE49-F238E27FC236}">
                <a16:creationId xmlns:a16="http://schemas.microsoft.com/office/drawing/2014/main" id="{9FC49F72-DE0E-41B4-8649-BDF9A3E3D66E}"/>
              </a:ext>
            </a:extLst>
          </p:cNvPr>
          <p:cNvSpPr>
            <a:spLocks xmlns:a="http://schemas.openxmlformats.org/drawingml/2006/main" noGrp="1"/>
          </p:cNvSpPr>
          <p:nvPr/>
        </p:nvSpPr>
        <p:spPr>
          <a:xfrm xmlns:a="http://schemas.openxmlformats.org/drawingml/2006/main">
            <a:off x="9182100" y="2628900"/>
            <a:ext cx="10191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onsolas"/>
                <a:ea typeface="Consolas"/>
                <a:cs typeface="Consolas"/>
              </a:rPr>
              <a:t>0.832</a:t>
            </a:r>
          </a:p>
        </p:txBody>
      </p:sp>
      <p:sp>
        <p:nvSpPr>
          <p:cNvPr id="42" name="">
            <a:extLst xmlns:a="http://schemas.openxmlformats.org/drawingml/2006/main">
              <a:ext uri="{FF2B5EF4-FFF2-40B4-BE49-F238E27FC236}">
                <a16:creationId xmlns:a16="http://schemas.microsoft.com/office/drawing/2014/main" id="{C77452A1-D9EA-4028-B171-A5099B854AEB}"/>
              </a:ext>
            </a:extLst>
          </p:cNvPr>
          <p:cNvSpPr>
            <a:spLocks xmlns:a="http://schemas.openxmlformats.org/drawingml/2006/main" noGrp="1"/>
          </p:cNvSpPr>
          <p:nvPr/>
        </p:nvSpPr>
        <p:spPr>
          <a:xfrm xmlns:a="http://schemas.openxmlformats.org/drawingml/2006/main">
            <a:off x="666750" y="3200400"/>
            <a:ext cx="3238500" cy="619125"/>
          </a:xfrm>
          <a:prstGeom xmlns:a="http://schemas.openxmlformats.org/drawingml/2006/main" prst="rect">
            <a:avLst/>
          </a:prstGeom>
          <a:solidFill xmlns:a="http://schemas.openxmlformats.org/drawingml/2006/main">
            <a:srgbClr val="E6F4F1"/>
          </a:solidFill>
          <a:ln xmlns:a="http://schemas.openxmlformats.org/drawingml/2006/main" w="7620">
            <a:solidFill>
              <a:srgbClr val="D5DEE2"/>
            </a:solidFill>
          </a:ln>
        </p:spPr>
        <p:txBody>
          <a:bodyPr xmlns:a="http://schemas.openxmlformats.org/drawingml/2006/main"/>
          <a:lstStyle xmlns:a="http://schemas.openxmlformats.org/drawingml/2006/main"/>
          <a:p xmlns:a="http://schemas.openxmlformats.org/drawingml/2006/main"/>
        </p:txBody>
      </p:sp>
      <p:sp>
        <p:nvSpPr>
          <p:cNvPr id="43" name="">
            <a:extLst xmlns:a="http://schemas.openxmlformats.org/drawingml/2006/main">
              <a:ext uri="{FF2B5EF4-FFF2-40B4-BE49-F238E27FC236}">
                <a16:creationId xmlns:a16="http://schemas.microsoft.com/office/drawing/2014/main" id="{47A4A33C-CB0F-4435-809E-199114E1A9A6}"/>
              </a:ext>
            </a:extLst>
          </p:cNvPr>
          <p:cNvSpPr>
            <a:spLocks xmlns:a="http://schemas.openxmlformats.org/drawingml/2006/main" noGrp="1"/>
          </p:cNvSpPr>
          <p:nvPr/>
        </p:nvSpPr>
        <p:spPr>
          <a:xfrm xmlns:a="http://schemas.openxmlformats.org/drawingml/2006/main">
            <a:off x="752475" y="3248025"/>
            <a:ext cx="3067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00" b="1">
                <a:solidFill>
                  <a:srgbClr val="0B2A3C"/>
                </a:solidFill>
                <a:latin typeface="Arial"/>
                <a:ea typeface="Arial"/>
                <a:cs typeface="Arial"/>
              </a:defRPr>
            </a:pPr>
            <a:r>
              <a:rPr sz="1400" b="1">
                <a:solidFill>
                  <a:srgbClr val="0B2A3C"/>
                </a:solidFill>
                <a:latin typeface="Segoe UI"/>
                <a:ea typeface="Segoe UI"/>
                <a:cs typeface="Segoe UI"/>
              </a:rPr>
              <a:t>Diabetes-range ≥6.5%</a:t>
            </a:r>
          </a:p>
        </p:txBody>
      </p:sp>
      <p:sp>
        <p:nvSpPr>
          <p:cNvPr id="44" name="">
            <a:extLst xmlns:a="http://schemas.openxmlformats.org/drawingml/2006/main">
              <a:ext uri="{FF2B5EF4-FFF2-40B4-BE49-F238E27FC236}">
                <a16:creationId xmlns:a16="http://schemas.microsoft.com/office/drawing/2014/main" id="{C88DC0B0-A669-4216-AD7F-846B530CC661}"/>
              </a:ext>
            </a:extLst>
          </p:cNvPr>
          <p:cNvSpPr>
            <a:spLocks xmlns:a="http://schemas.openxmlformats.org/drawingml/2006/main" noGrp="1"/>
          </p:cNvSpPr>
          <p:nvPr/>
        </p:nvSpPr>
        <p:spPr>
          <a:xfrm xmlns:a="http://schemas.openxmlformats.org/drawingml/2006/main">
            <a:off x="3905250" y="3200400"/>
            <a:ext cx="1143000" cy="619125"/>
          </a:xfrm>
          <a:prstGeom xmlns:a="http://schemas.openxmlformats.org/drawingml/2006/main" prst="rect">
            <a:avLst/>
          </a:prstGeom>
          <a:solidFill xmlns:a="http://schemas.openxmlformats.org/drawingml/2006/main">
            <a:srgbClr val="E6F4F1"/>
          </a:solidFill>
          <a:ln xmlns:a="http://schemas.openxmlformats.org/drawingml/2006/main" w="7620">
            <a:solidFill>
              <a:srgbClr val="D5DEE2"/>
            </a:solidFill>
          </a:ln>
        </p:spPr>
        <p:txBody>
          <a:bodyPr xmlns:a="http://schemas.openxmlformats.org/drawingml/2006/main"/>
          <a:lstStyle xmlns:a="http://schemas.openxmlformats.org/drawingml/2006/main"/>
          <a:p xmlns:a="http://schemas.openxmlformats.org/drawingml/2006/main"/>
        </p:txBody>
      </p:sp>
      <p:sp>
        <p:nvSpPr>
          <p:cNvPr id="45" name="">
            <a:extLst xmlns:a="http://schemas.openxmlformats.org/drawingml/2006/main">
              <a:ext uri="{FF2B5EF4-FFF2-40B4-BE49-F238E27FC236}">
                <a16:creationId xmlns:a16="http://schemas.microsoft.com/office/drawing/2014/main" id="{0CF5CAAE-23A7-4D31-B906-C3CDFEEF2F72}"/>
              </a:ext>
            </a:extLst>
          </p:cNvPr>
          <p:cNvSpPr>
            <a:spLocks xmlns:a="http://schemas.openxmlformats.org/drawingml/2006/main" noGrp="1"/>
          </p:cNvSpPr>
          <p:nvPr/>
        </p:nvSpPr>
        <p:spPr>
          <a:xfrm xmlns:a="http://schemas.openxmlformats.org/drawingml/2006/main">
            <a:off x="3990975" y="3248025"/>
            <a:ext cx="971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onsolas"/>
                <a:ea typeface="Consolas"/>
                <a:cs typeface="Consolas"/>
              </a:rPr>
              <a:t>14</a:t>
            </a:r>
          </a:p>
        </p:txBody>
      </p:sp>
      <p:sp>
        <p:nvSpPr>
          <p:cNvPr id="46" name="">
            <a:extLst xmlns:a="http://schemas.openxmlformats.org/drawingml/2006/main">
              <a:ext uri="{FF2B5EF4-FFF2-40B4-BE49-F238E27FC236}">
                <a16:creationId xmlns:a16="http://schemas.microsoft.com/office/drawing/2014/main" id="{ECA3C969-3745-4FC0-A7E5-E816875A3163}"/>
              </a:ext>
            </a:extLst>
          </p:cNvPr>
          <p:cNvSpPr>
            <a:spLocks xmlns:a="http://schemas.openxmlformats.org/drawingml/2006/main" noGrp="1"/>
          </p:cNvSpPr>
          <p:nvPr/>
        </p:nvSpPr>
        <p:spPr>
          <a:xfrm xmlns:a="http://schemas.openxmlformats.org/drawingml/2006/main">
            <a:off x="5048250" y="3200400"/>
            <a:ext cx="1381125" cy="619125"/>
          </a:xfrm>
          <a:prstGeom xmlns:a="http://schemas.openxmlformats.org/drawingml/2006/main" prst="rect">
            <a:avLst/>
          </a:prstGeom>
          <a:solidFill xmlns:a="http://schemas.openxmlformats.org/drawingml/2006/main">
            <a:srgbClr val="E6F4F1"/>
          </a:solidFill>
          <a:ln xmlns:a="http://schemas.openxmlformats.org/drawingml/2006/main" w="7620">
            <a:solidFill>
              <a:srgbClr val="D5DEE2"/>
            </a:solidFill>
          </a:ln>
        </p:spPr>
        <p:txBody>
          <a:bodyPr xmlns:a="http://schemas.openxmlformats.org/drawingml/2006/main"/>
          <a:lstStyle xmlns:a="http://schemas.openxmlformats.org/drawingml/2006/main"/>
          <a:p xmlns:a="http://schemas.openxmlformats.org/drawingml/2006/main"/>
        </p:txBody>
      </p:sp>
      <p:sp>
        <p:nvSpPr>
          <p:cNvPr id="47" name="">
            <a:extLst xmlns:a="http://schemas.openxmlformats.org/drawingml/2006/main">
              <a:ext uri="{FF2B5EF4-FFF2-40B4-BE49-F238E27FC236}">
                <a16:creationId xmlns:a16="http://schemas.microsoft.com/office/drawing/2014/main" id="{AF3A6E7A-C2DF-4004-BBE7-379870D4E254}"/>
              </a:ext>
            </a:extLst>
          </p:cNvPr>
          <p:cNvSpPr>
            <a:spLocks xmlns:a="http://schemas.openxmlformats.org/drawingml/2006/main" noGrp="1"/>
          </p:cNvSpPr>
          <p:nvPr/>
        </p:nvSpPr>
        <p:spPr>
          <a:xfrm xmlns:a="http://schemas.openxmlformats.org/drawingml/2006/main">
            <a:off x="5133975" y="3248025"/>
            <a:ext cx="1209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buNone/>
            </a:pPr>
            <a:r>
              <a:rPr sz="1400">
                <a:latin typeface="Calibri"/>
                <a:ea typeface="Calibri"/>
                <a:cs typeface="Calibri"/>
              </a:rPr>
              <a:t>2,300 (14)</a:t>
            </a:r>
          </a:p>
        </p:txBody>
      </p:sp>
      <p:sp>
        <p:nvSpPr>
          <p:cNvPr id="48" name="">
            <a:extLst xmlns:a="http://schemas.openxmlformats.org/drawingml/2006/main">
              <a:ext uri="{FF2B5EF4-FFF2-40B4-BE49-F238E27FC236}">
                <a16:creationId xmlns:a16="http://schemas.microsoft.com/office/drawing/2014/main" id="{C11F6C56-54AA-46B7-85BB-E539B7E0AE7E}"/>
              </a:ext>
            </a:extLst>
          </p:cNvPr>
          <p:cNvSpPr>
            <a:spLocks xmlns:a="http://schemas.openxmlformats.org/drawingml/2006/main" noGrp="1"/>
          </p:cNvSpPr>
          <p:nvPr/>
        </p:nvSpPr>
        <p:spPr>
          <a:xfrm xmlns:a="http://schemas.openxmlformats.org/drawingml/2006/main">
            <a:off x="6429375" y="3200400"/>
            <a:ext cx="1381125" cy="619125"/>
          </a:xfrm>
          <a:prstGeom xmlns:a="http://schemas.openxmlformats.org/drawingml/2006/main" prst="rect">
            <a:avLst/>
          </a:prstGeom>
          <a:solidFill xmlns:a="http://schemas.openxmlformats.org/drawingml/2006/main">
            <a:srgbClr val="E6F4F1"/>
          </a:solidFill>
          <a:ln xmlns:a="http://schemas.openxmlformats.org/drawingml/2006/main" w="7620">
            <a:solidFill>
              <a:srgbClr val="D5DEE2"/>
            </a:solidFill>
          </a:ln>
        </p:spPr>
        <p:txBody>
          <a:bodyPr xmlns:a="http://schemas.openxmlformats.org/drawingml/2006/main"/>
          <a:lstStyle xmlns:a="http://schemas.openxmlformats.org/drawingml/2006/main"/>
          <a:p xmlns:a="http://schemas.openxmlformats.org/drawingml/2006/main"/>
        </p:txBody>
      </p:sp>
      <p:sp>
        <p:nvSpPr>
          <p:cNvPr id="49" name="">
            <a:extLst xmlns:a="http://schemas.openxmlformats.org/drawingml/2006/main">
              <a:ext uri="{FF2B5EF4-FFF2-40B4-BE49-F238E27FC236}">
                <a16:creationId xmlns:a16="http://schemas.microsoft.com/office/drawing/2014/main" id="{68098FD4-100C-4948-92AC-E02801E68CEF}"/>
              </a:ext>
            </a:extLst>
          </p:cNvPr>
          <p:cNvSpPr>
            <a:spLocks xmlns:a="http://schemas.openxmlformats.org/drawingml/2006/main" noGrp="1"/>
          </p:cNvSpPr>
          <p:nvPr/>
        </p:nvSpPr>
        <p:spPr>
          <a:xfrm xmlns:a="http://schemas.openxmlformats.org/drawingml/2006/main">
            <a:off x="6515100" y="3248025"/>
            <a:ext cx="1209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onsolas"/>
                <a:ea typeface="Consolas"/>
                <a:cs typeface="Consolas"/>
              </a:rPr>
              <a:t>15.9%</a:t>
            </a:r>
          </a:p>
        </p:txBody>
      </p:sp>
      <p:sp>
        <p:nvSpPr>
          <p:cNvPr id="50" name="">
            <a:extLst xmlns:a="http://schemas.openxmlformats.org/drawingml/2006/main">
              <a:ext uri="{FF2B5EF4-FFF2-40B4-BE49-F238E27FC236}">
                <a16:creationId xmlns:a16="http://schemas.microsoft.com/office/drawing/2014/main" id="{21F5DDE8-9DFD-4387-B9C1-F827F902287C}"/>
              </a:ext>
            </a:extLst>
          </p:cNvPr>
          <p:cNvSpPr>
            <a:spLocks xmlns:a="http://schemas.openxmlformats.org/drawingml/2006/main" noGrp="1"/>
          </p:cNvSpPr>
          <p:nvPr/>
        </p:nvSpPr>
        <p:spPr>
          <a:xfrm xmlns:a="http://schemas.openxmlformats.org/drawingml/2006/main">
            <a:off x="7810500" y="3200400"/>
            <a:ext cx="1285875" cy="619125"/>
          </a:xfrm>
          <a:prstGeom xmlns:a="http://schemas.openxmlformats.org/drawingml/2006/main" prst="rect">
            <a:avLst/>
          </a:prstGeom>
          <a:solidFill xmlns:a="http://schemas.openxmlformats.org/drawingml/2006/main">
            <a:srgbClr val="E6F4F1"/>
          </a:solidFill>
          <a:ln xmlns:a="http://schemas.openxmlformats.org/drawingml/2006/main" w="7620">
            <a:solidFill>
              <a:srgbClr val="D5DEE2"/>
            </a:solidFill>
          </a:ln>
        </p:spPr>
        <p:txBody>
          <a:bodyPr xmlns:a="http://schemas.openxmlformats.org/drawingml/2006/main"/>
          <a:lstStyle xmlns:a="http://schemas.openxmlformats.org/drawingml/2006/main"/>
          <a:p xmlns:a="http://schemas.openxmlformats.org/drawingml/2006/main"/>
        </p:txBody>
      </p:sp>
      <p:sp>
        <p:nvSpPr>
          <p:cNvPr id="51" name="">
            <a:extLst xmlns:a="http://schemas.openxmlformats.org/drawingml/2006/main">
              <a:ext uri="{FF2B5EF4-FFF2-40B4-BE49-F238E27FC236}">
                <a16:creationId xmlns:a16="http://schemas.microsoft.com/office/drawing/2014/main" id="{AB5A268B-A222-4846-9728-5395F351D1AF}"/>
              </a:ext>
            </a:extLst>
          </p:cNvPr>
          <p:cNvSpPr>
            <a:spLocks xmlns:a="http://schemas.openxmlformats.org/drawingml/2006/main" noGrp="1"/>
          </p:cNvSpPr>
          <p:nvPr/>
        </p:nvSpPr>
        <p:spPr>
          <a:xfrm xmlns:a="http://schemas.openxmlformats.org/drawingml/2006/main">
            <a:off x="7896225" y="3248025"/>
            <a:ext cx="1114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onsolas"/>
                <a:ea typeface="Consolas"/>
                <a:cs typeface="Consolas"/>
              </a:rPr>
              <a:t>0.430</a:t>
            </a:r>
          </a:p>
        </p:txBody>
      </p:sp>
      <p:sp>
        <p:nvSpPr>
          <p:cNvPr id="52" name="">
            <a:extLst xmlns:a="http://schemas.openxmlformats.org/drawingml/2006/main">
              <a:ext uri="{FF2B5EF4-FFF2-40B4-BE49-F238E27FC236}">
                <a16:creationId xmlns:a16="http://schemas.microsoft.com/office/drawing/2014/main" id="{704CB79A-EDC5-49DC-98EC-FC4E95DEDC54}"/>
              </a:ext>
            </a:extLst>
          </p:cNvPr>
          <p:cNvSpPr>
            <a:spLocks xmlns:a="http://schemas.openxmlformats.org/drawingml/2006/main" noGrp="1"/>
          </p:cNvSpPr>
          <p:nvPr/>
        </p:nvSpPr>
        <p:spPr>
          <a:xfrm xmlns:a="http://schemas.openxmlformats.org/drawingml/2006/main">
            <a:off x="9096375" y="3200400"/>
            <a:ext cx="1190625" cy="619125"/>
          </a:xfrm>
          <a:prstGeom xmlns:a="http://schemas.openxmlformats.org/drawingml/2006/main" prst="rect">
            <a:avLst/>
          </a:prstGeom>
          <a:solidFill xmlns:a="http://schemas.openxmlformats.org/drawingml/2006/main">
            <a:srgbClr val="E6F4F1"/>
          </a:solidFill>
          <a:ln xmlns:a="http://schemas.openxmlformats.org/drawingml/2006/main" w="7620">
            <a:solidFill>
              <a:srgbClr val="D5DEE2"/>
            </a:solidFill>
          </a:ln>
        </p:spPr>
        <p:txBody>
          <a:bodyPr xmlns:a="http://schemas.openxmlformats.org/drawingml/2006/main"/>
          <a:lstStyle xmlns:a="http://schemas.openxmlformats.org/drawingml/2006/main"/>
          <a:p xmlns:a="http://schemas.openxmlformats.org/drawingml/2006/main"/>
        </p:txBody>
      </p:sp>
      <p:sp>
        <p:nvSpPr>
          <p:cNvPr id="53" name="">
            <a:extLst xmlns:a="http://schemas.openxmlformats.org/drawingml/2006/main">
              <a:ext uri="{FF2B5EF4-FFF2-40B4-BE49-F238E27FC236}">
                <a16:creationId xmlns:a16="http://schemas.microsoft.com/office/drawing/2014/main" id="{77507B75-45EB-4D72-AE26-F28D9D184D47}"/>
              </a:ext>
            </a:extLst>
          </p:cNvPr>
          <p:cNvSpPr>
            <a:spLocks xmlns:a="http://schemas.openxmlformats.org/drawingml/2006/main" noGrp="1"/>
          </p:cNvSpPr>
          <p:nvPr/>
        </p:nvSpPr>
        <p:spPr>
          <a:xfrm xmlns:a="http://schemas.openxmlformats.org/drawingml/2006/main">
            <a:off x="9182100" y="3248025"/>
            <a:ext cx="10191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200" b="0">
                <a:solidFill>
                  <a:srgbClr val="0B2A3C"/>
                </a:solidFill>
                <a:latin typeface="Arial"/>
                <a:ea typeface="Arial"/>
                <a:cs typeface="Arial"/>
              </a:defRPr>
            </a:pPr>
            <a:r>
              <a:rPr sz="1400" b="0">
                <a:solidFill>
                  <a:srgbClr val="0B2A3C"/>
                </a:solidFill>
                <a:latin typeface="Consolas"/>
                <a:ea typeface="Consolas"/>
                <a:cs typeface="Consolas"/>
              </a:rPr>
              <a:t>0.803</a:t>
            </a:r>
          </a:p>
        </p:txBody>
      </p:sp>
      <p:sp>
        <p:nvSpPr>
          <p:cNvPr id="54" name="">
            <a:extLst xmlns:a="http://schemas.openxmlformats.org/drawingml/2006/main">
              <a:ext uri="{FF2B5EF4-FFF2-40B4-BE49-F238E27FC236}">
                <a16:creationId xmlns:a16="http://schemas.microsoft.com/office/drawing/2014/main" id="{296DCB05-5F4C-43C3-845B-83C232AAF7F5}"/>
              </a:ext>
            </a:extLst>
          </p:cNvPr>
          <p:cNvSpPr>
            <a:spLocks xmlns:a="http://schemas.openxmlformats.org/drawingml/2006/main" noGrp="1"/>
          </p:cNvSpPr>
          <p:nvPr/>
        </p:nvSpPr>
        <p:spPr>
          <a:xfrm xmlns:a="http://schemas.openxmlformats.org/drawingml/2006/main">
            <a:off x="666750" y="4114800"/>
            <a:ext cx="10572750" cy="819150"/>
          </a:xfrm>
          <a:prstGeom xmlns:a="http://schemas.openxmlformats.org/drawingml/2006/main" prst="roundRect">
            <a:avLst>
              <a:gd name="adj" fmla="val 9302"/>
            </a:avLst>
          </a:prstGeom>
          <a:solidFill xmlns:a="http://schemas.openxmlformats.org/drawingml/2006/main">
            <a:srgbClr val="E6F4F1"/>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55" name="">
            <a:extLst xmlns:a="http://schemas.openxmlformats.org/drawingml/2006/main">
              <a:ext uri="{FF2B5EF4-FFF2-40B4-BE49-F238E27FC236}">
                <a16:creationId xmlns:a16="http://schemas.microsoft.com/office/drawing/2014/main" id="{4371E3F7-2406-42CF-8696-95A7FF5B369D}"/>
              </a:ext>
            </a:extLst>
          </p:cNvPr>
          <p:cNvSpPr>
            <a:spLocks xmlns:a="http://schemas.openxmlformats.org/drawingml/2006/main" noGrp="1"/>
          </p:cNvSpPr>
          <p:nvPr/>
        </p:nvSpPr>
        <p:spPr>
          <a:xfrm xmlns:a="http://schemas.openxmlformats.org/drawingml/2006/main">
            <a:off x="876300" y="42576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350" b="1">
                <a:solidFill>
                  <a:srgbClr val="0B2A3C"/>
                </a:solidFill>
                <a:latin typeface="Arial"/>
                <a:ea typeface="Arial"/>
                <a:cs typeface="Arial"/>
              </a:defRPr>
            </a:pPr>
            <a:r>
              <a:rPr sz="1400" b="1">
                <a:solidFill>
                  <a:srgbClr val="0B2A3C"/>
                </a:solidFill>
                <a:latin typeface="Segoe UI"/>
                <a:ea typeface="Segoe UI"/>
                <a:cs typeface="Segoe UI"/>
              </a:rPr>
              <a:t>Interpret with caution</a:t>
            </a:r>
          </a:p>
        </p:txBody>
      </p:sp>
      <p:sp>
        <p:nvSpPr>
          <p:cNvPr id="56" name="">
            <a:extLst xmlns:a="http://schemas.openxmlformats.org/drawingml/2006/main">
              <a:ext uri="{FF2B5EF4-FFF2-40B4-BE49-F238E27FC236}">
                <a16:creationId xmlns:a16="http://schemas.microsoft.com/office/drawing/2014/main" id="{4FA1210A-AC32-4619-A15B-B44BAF66ED79}"/>
              </a:ext>
            </a:extLst>
          </p:cNvPr>
          <p:cNvSpPr>
            <a:spLocks xmlns:a="http://schemas.openxmlformats.org/drawingml/2006/main" noGrp="1"/>
          </p:cNvSpPr>
          <p:nvPr/>
        </p:nvSpPr>
        <p:spPr>
          <a:xfrm xmlns:a="http://schemas.openxmlformats.org/drawingml/2006/main">
            <a:off x="876300" y="4543425"/>
            <a:ext cx="100965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00" b="0">
                <a:solidFill>
                  <a:srgbClr val="0B2A3C"/>
                </a:solidFill>
                <a:latin typeface="Arial"/>
                <a:ea typeface="Arial"/>
                <a:cs typeface="Arial"/>
              </a:defRPr>
            </a:pPr>
            <a:r>
              <a:rPr sz="1400" b="0">
                <a:solidFill>
                  <a:srgbClr val="0B2A3C"/>
                </a:solidFill>
                <a:latin typeface="Calibri"/>
                <a:ea typeface="Calibri"/>
                <a:cs typeface="Calibri"/>
              </a:rPr>
              <a:t>n+ = participants with at least one event. AP baselines are 0.7%, 2.8%, and 15.9%; healthy-range events come from just two people.</a:t>
            </a:r>
          </a:p>
        </p:txBody>
      </p:sp>
      <p:sp>
        <p:nvSpPr>
          <p:cNvPr id="57" name="">
            <a:extLst xmlns:a="http://schemas.openxmlformats.org/drawingml/2006/main">
              <a:ext uri="{FF2B5EF4-FFF2-40B4-BE49-F238E27FC236}">
                <a16:creationId xmlns:a16="http://schemas.microsoft.com/office/drawing/2014/main" id="{99BD9F74-4EE3-4CB2-A5D0-AE09AB333D7D}"/>
              </a:ext>
            </a:extLst>
          </p:cNvPr>
          <p:cNvSpPr>
            <a:spLocks xmlns:a="http://schemas.openxmlformats.org/drawingml/2006/main" noGrp="1"/>
          </p:cNvSpPr>
          <p:nvPr/>
        </p:nvSpPr>
        <p:spPr>
          <a:xfrm xmlns:a="http://schemas.openxmlformats.org/drawingml/2006/main">
            <a:off x="666750" y="5193792"/>
            <a:ext cx="105727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350" b="1">
                <a:solidFill>
                  <a:srgbClr val="0F8B8D"/>
                </a:solidFill>
                <a:latin typeface="Arial"/>
                <a:ea typeface="Arial"/>
                <a:cs typeface="Arial"/>
              </a:defRPr>
            </a:pPr>
            <a:r>
              <a:rPr sz="1400" b="1">
                <a:solidFill>
                  <a:srgbClr val="0F8B8D"/>
                </a:solidFill>
                <a:latin typeface="Segoe UI"/>
                <a:ea typeface="Segoe UI"/>
                <a:cs typeface="Segoe UI"/>
              </a:rPr>
              <a:t>Cluster-bootstrap 95% CIs (PR/ROC): healthy 0.000–0.264/0.343–0.944; prediabetes 0.037–0.274/0.739–0.891; diabetes 0.266–0.586/0.738–0.851.</a:t>
            </a:r>
          </a:p>
        </p:txBody>
      </p:sp>
    </p:spTree>
    <p:extLst>
      <p:ext uri="{BB962C8B-B14F-4D97-AF65-F5344CB8AC3E}">
        <p14:creationId xmlns:p14="http://schemas.microsoft.com/office/powerpoint/2010/main" val="817689316"/>
      </p:ext>
    </p:extLst>
  </p:cSld>
</p:sld>
</file>

<file path=ppt/slides/slide8.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F001D90-88B9-410C-92CC-AE81213E989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86CD8D3D-8F38-47D0-806D-D542F0726BB3}"/>
              </a:ext>
            </a:extLst>
          </p:cNvPr>
          <p:cNvSpPr>
            <a:spLocks xmlns:a="http://schemas.openxmlformats.org/drawingml/2006/main" noGrp="1"/>
          </p:cNvSpPr>
          <p:nvPr/>
        </p:nvSpPr>
        <p:spPr>
          <a:xfrm xmlns:a="http://schemas.openxmlformats.org/drawingml/2006/main">
            <a:off x="647700" y="2857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75" b="1">
                <a:solidFill>
                  <a:srgbClr val="0F8B8D"/>
                </a:solidFill>
                <a:latin typeface="Arial"/>
                <a:ea typeface="Arial"/>
                <a:cs typeface="Arial"/>
              </a:defRPr>
            </a:pPr>
            <a:r>
              <a:rPr sz="1100" b="1">
                <a:solidFill>
                  <a:srgbClr val="0F8B8D"/>
                </a:solidFill>
                <a:latin typeface="Segoe UI"/>
                <a:ea typeface="Segoe UI"/>
                <a:cs typeface="Segoe UI"/>
              </a:rPr>
              <a:t>GLYCOTWIN  /  RESEARCH PROTOTYPE</a:t>
            </a:r>
          </a:p>
        </p:txBody>
      </p:sp>
      <p:sp>
        <p:nvSpPr>
          <p:cNvPr id="3" name="">
            <a:extLst xmlns:a="http://schemas.openxmlformats.org/drawingml/2006/main">
              <a:ext uri="{FF2B5EF4-FFF2-40B4-BE49-F238E27FC236}">
                <a16:creationId xmlns:a16="http://schemas.microsoft.com/office/drawing/2014/main" id="{680A9C0E-1C7E-462D-B401-91D611F7C4D1}"/>
              </a:ext>
            </a:extLst>
          </p:cNvPr>
          <p:cNvSpPr>
            <a:spLocks xmlns:a="http://schemas.openxmlformats.org/drawingml/2006/main" noGrp="1"/>
          </p:cNvSpPr>
          <p:nvPr/>
        </p:nvSpPr>
        <p:spPr>
          <a:xfrm xmlns:a="http://schemas.openxmlformats.org/drawingml/2006/main">
            <a:off x="647700" y="5524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2550" b="1">
                <a:solidFill>
                  <a:srgbClr val="0B2A3C"/>
                </a:solidFill>
                <a:latin typeface="Arial"/>
                <a:ea typeface="Arial"/>
                <a:cs typeface="Arial"/>
              </a:defRPr>
            </a:pPr>
            <a:r>
              <a:rPr sz="2550" b="1">
                <a:solidFill>
                  <a:srgbClr val="0B2A3C"/>
                </a:solidFill>
                <a:latin typeface="Segoe UI"/>
                <a:ea typeface="Segoe UI"/>
                <a:cs typeface="Segoe UI"/>
              </a:rPr>
              <a:t>Calibration and participant-level uncertainty</a:t>
            </a:r>
          </a:p>
        </p:txBody>
      </p:sp>
      <p:sp>
        <p:nvSpPr>
          <p:cNvPr id="4" name="">
            <a:extLst xmlns:a="http://schemas.openxmlformats.org/drawingml/2006/main">
              <a:ext uri="{FF2B5EF4-FFF2-40B4-BE49-F238E27FC236}">
                <a16:creationId xmlns:a16="http://schemas.microsoft.com/office/drawing/2014/main" id="{81B4EB8F-C292-464B-B03D-C76A8D02FA46}"/>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line">
            <a:avLst/>
          </a:prstGeom>
          <a:solidFill xmlns:a="http://schemas.openxmlformats.org/drawingml/2006/main">
            <a:srgbClr val="D5DEE2"/>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105D0AFC-40C1-4D91-9119-0AB22B1D01E5}"/>
              </a:ext>
            </a:extLst>
          </p:cNvPr>
          <p:cNvSpPr>
            <a:spLocks xmlns:a="http://schemas.openxmlformats.org/drawingml/2006/main" noGrp="1"/>
          </p:cNvSpPr>
          <p:nvPr/>
        </p:nvSpPr>
        <p:spPr>
          <a:xfrm xmlns:a="http://schemas.openxmlformats.org/drawingml/2006/main">
            <a:off x="647700" y="64960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00" b="0">
                <a:solidFill>
                  <a:srgbClr val="5B6B76"/>
                </a:solidFill>
                <a:latin typeface="Arial"/>
                <a:ea typeface="Arial"/>
                <a:cs typeface="Arial"/>
              </a:defRPr>
            </a:pPr>
            <a:r>
              <a:rPr sz="1100" b="0">
                <a:solidFill>
                  <a:srgbClr val="5B6B76"/>
                </a:solidFill>
                <a:latin typeface="Calibri"/>
                <a:ea typeface="Calibri"/>
                <a:cs typeface="Calibri"/>
              </a:rPr>
              <a:t>CGMacros retrospective PoC  •  not for clinical use</a:t>
            </a:r>
          </a:p>
        </p:txBody>
      </p:sp>
      <p:sp>
        <p:nvSpPr>
          <p:cNvPr id="6" name="">
            <a:extLst xmlns:a="http://schemas.openxmlformats.org/drawingml/2006/main">
              <a:ext uri="{FF2B5EF4-FFF2-40B4-BE49-F238E27FC236}">
                <a16:creationId xmlns:a16="http://schemas.microsoft.com/office/drawing/2014/main" id="{4B3391F5-1AD6-4760-9165-DABA5EBD4042}"/>
              </a:ext>
            </a:extLst>
          </p:cNvPr>
          <p:cNvSpPr>
            <a:spLocks xmlns:a="http://schemas.openxmlformats.org/drawingml/2006/main" noGrp="1"/>
          </p:cNvSpPr>
          <p:nvPr/>
        </p:nvSpPr>
        <p:spPr>
          <a:xfrm xmlns:a="http://schemas.openxmlformats.org/drawingml/2006/main">
            <a:off x="666750" y="1428750"/>
            <a:ext cx="5981700" cy="4095750"/>
          </a:xfrm>
          <a:prstGeom xmlns:a="http://schemas.openxmlformats.org/drawingml/2006/main" prst="roundRect">
            <a:avLst>
              <a:gd name="adj" fmla="val 1860"/>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59B9DD65-6999-4FAA-949D-2F12C680A335}"/>
              </a:ext>
            </a:extLst>
          </p:cNvPr>
          <p:cNvSpPr>
            <a:spLocks xmlns:a="http://schemas.openxmlformats.org/drawingml/2006/main" noGrp="1"/>
          </p:cNvSpPr>
          <p:nvPr/>
        </p:nvSpPr>
        <p:spPr>
          <a:xfrm xmlns:a="http://schemas.openxmlformats.org/drawingml/2006/main">
            <a:off x="1428750" y="2095500"/>
            <a:ext cx="4476750" cy="0"/>
          </a:xfrm>
          <a:prstGeom xmlns:a="http://schemas.openxmlformats.org/drawingml/2006/main" prst="line">
            <a:avLst/>
          </a:prstGeom>
          <a:noFill xmlns:a="http://schemas.openxmlformats.org/drawingml/2006/main"/>
          <a:ln xmlns:a="http://schemas.openxmlformats.org/drawingml/2006/main" w="19050">
            <a:solidFill>
              <a:srgbClr val="0B2A3C"/>
            </a:solidFill>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DB1FA525-AB84-4B30-A753-96E356A30BE0}"/>
              </a:ext>
            </a:extLst>
          </p:cNvPr>
          <p:cNvSpPr>
            <a:spLocks xmlns:a="http://schemas.openxmlformats.org/drawingml/2006/main" noGrp="1"/>
          </p:cNvSpPr>
          <p:nvPr/>
        </p:nvSpPr>
        <p:spPr>
          <a:xfrm xmlns:a="http://schemas.openxmlformats.org/drawingml/2006/main">
            <a:off x="1428750" y="4857750"/>
            <a:ext cx="0" cy="0"/>
          </a:xfrm>
          <a:prstGeom xmlns:a="http://schemas.openxmlformats.org/drawingml/2006/main" prst="line">
            <a:avLst/>
          </a:prstGeom>
          <a:noFill xmlns:a="http://schemas.openxmlformats.org/drawingml/2006/main"/>
          <a:ln xmlns:a="http://schemas.openxmlformats.org/drawingml/2006/main" w="19050">
            <a:solidFill>
              <a:srgbClr val="0B2A3C"/>
            </a:solidFill>
          </a:ln>
        </p:spPr>
        <p:txBody>
          <a:bodyPr xmlns:a="http://schemas.openxmlformats.org/drawingml/2006/main"/>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2562216D-DF4D-4E2A-9D48-CDE9238DB189}"/>
              </a:ext>
            </a:extLst>
          </p:cNvPr>
          <p:cNvSpPr>
            <a:spLocks xmlns:a="http://schemas.openxmlformats.org/drawingml/2006/main" noGrp="1"/>
          </p:cNvSpPr>
          <p:nvPr/>
        </p:nvSpPr>
        <p:spPr>
          <a:xfrm xmlns:a="http://schemas.openxmlformats.org/drawingml/2006/main">
            <a:off x="1428750" y="2095500"/>
            <a:ext cx="0" cy="2762250"/>
          </a:xfrm>
          <a:prstGeom xmlns:a="http://schemas.openxmlformats.org/drawingml/2006/main" prst="line">
            <a:avLst/>
          </a:prstGeom>
          <a:noFill xmlns:a="http://schemas.openxmlformats.org/drawingml/2006/main"/>
          <a:ln xmlns:a="http://schemas.openxmlformats.org/drawingml/2006/main" w="19050">
            <a:solidFill>
              <a:srgbClr val="0B2A3C"/>
            </a:solidFill>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6BB8CCA3-3117-40A8-ACA0-ED6F647E77E1}"/>
              </a:ext>
            </a:extLst>
          </p:cNvPr>
          <p:cNvSpPr>
            <a:spLocks xmlns:a="http://schemas.openxmlformats.org/drawingml/2006/main" noGrp="1"/>
          </p:cNvSpPr>
          <p:nvPr/>
        </p:nvSpPr>
        <p:spPr>
          <a:xfrm xmlns:a="http://schemas.openxmlformats.org/drawingml/2006/main">
            <a:off x="1428750" y="2095500"/>
            <a:ext cx="0" cy="0"/>
          </a:xfrm>
          <a:prstGeom xmlns:a="http://schemas.openxmlformats.org/drawingml/2006/main" prst="line">
            <a:avLst/>
          </a:prstGeom>
          <a:noFill xmlns:a="http://schemas.openxmlformats.org/drawingml/2006/main"/>
          <a:ln xmlns:a="http://schemas.openxmlformats.org/drawingml/2006/main" w="19050">
            <a:solidFill>
              <a:srgbClr val="0B2A3C"/>
            </a:solidFill>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672FE118-376B-492E-8B70-1BFA1B2E9867}"/>
              </a:ext>
            </a:extLst>
          </p:cNvPr>
          <p:cNvSpPr>
            <a:spLocks xmlns:a="http://schemas.openxmlformats.org/drawingml/2006/main" noGrp="1"/>
          </p:cNvSpPr>
          <p:nvPr/>
        </p:nvSpPr>
        <p:spPr>
          <a:xfrm xmlns:a="http://schemas.openxmlformats.org/drawingml/2006/main">
            <a:off x="1428750" y="4857750"/>
            <a:ext cx="2238375" cy="0"/>
          </a:xfrm>
          <a:prstGeom xmlns:a="http://schemas.openxmlformats.org/drawingml/2006/main" prst="line">
            <a:avLst/>
          </a:prstGeom>
          <a:noFill xmlns:a="http://schemas.openxmlformats.org/drawingml/2006/main"/>
          <a:ln xmlns:a="http://schemas.openxmlformats.org/drawingml/2006/main" w="14288">
            <a:solidFill>
              <a:srgbClr val="5B6B76"/>
            </a:solidFill>
          </a:ln>
        </p:spPr>
        <p:txBody>
          <a:bodyPr xmlns:a="http://schemas.openxmlformats.org/drawingml/2006/main"/>
          <a:lstStyle xmlns:a="http://schemas.openxmlformats.org/drawingml/2006/main"/>
          <a:p xmlns:a="http://schemas.openxmlformats.org/drawingml/2006/main"/>
        </p:txBody>
      </p:sp>
      <p:sp>
        <p:nvSpPr>
          <p:cNvPr id="12" name="">
            <a:extLst xmlns:a="http://schemas.openxmlformats.org/drawingml/2006/main">
              <a:ext uri="{FF2B5EF4-FFF2-40B4-BE49-F238E27FC236}">
                <a16:creationId xmlns:a16="http://schemas.microsoft.com/office/drawing/2014/main" id="{051DDC0A-ADE7-4644-8688-7B7B3608ECEA}"/>
              </a:ext>
            </a:extLst>
          </p:cNvPr>
          <p:cNvSpPr>
            <a:spLocks xmlns:a="http://schemas.openxmlformats.org/drawingml/2006/main" noGrp="1"/>
          </p:cNvSpPr>
          <p:nvPr/>
        </p:nvSpPr>
        <p:spPr>
          <a:xfrm xmlns:a="http://schemas.openxmlformats.org/drawingml/2006/main">
            <a:off x="3667125" y="2095500"/>
            <a:ext cx="0" cy="2762250"/>
          </a:xfrm>
          <a:prstGeom xmlns:a="http://schemas.openxmlformats.org/drawingml/2006/main" prst="line">
            <a:avLst/>
          </a:prstGeom>
          <a:noFill xmlns:a="http://schemas.openxmlformats.org/drawingml/2006/main"/>
          <a:ln xmlns:a="http://schemas.openxmlformats.org/drawingml/2006/main" w="14288">
            <a:solidFill>
              <a:srgbClr val="5B6B76"/>
            </a:solidFill>
          </a:ln>
        </p:spPr>
        <p:txBody>
          <a:bodyPr xmlns:a="http://schemas.openxmlformats.org/drawingml/2006/main"/>
          <a:lstStyle xmlns:a="http://schemas.openxmlformats.org/drawingml/2006/main"/>
          <a:p xmlns:a="http://schemas.openxmlformats.org/drawingml/2006/main"/>
        </p:txBody>
      </p:sp>
      <p:sp>
        <p:nvSpPr>
          <p:cNvPr id="13" name="">
            <a:extLst xmlns:a="http://schemas.openxmlformats.org/drawingml/2006/main">
              <a:ext uri="{FF2B5EF4-FFF2-40B4-BE49-F238E27FC236}">
                <a16:creationId xmlns:a16="http://schemas.microsoft.com/office/drawing/2014/main" id="{7D58412C-A7DB-4752-9309-9F0A12943540}"/>
              </a:ext>
            </a:extLst>
          </p:cNvPr>
          <p:cNvSpPr>
            <a:spLocks xmlns:a="http://schemas.openxmlformats.org/drawingml/2006/main" noGrp="1"/>
          </p:cNvSpPr>
          <p:nvPr/>
        </p:nvSpPr>
        <p:spPr>
          <a:xfrm xmlns:a="http://schemas.openxmlformats.org/drawingml/2006/main">
            <a:off x="3667125" y="2095500"/>
            <a:ext cx="2238375" cy="0"/>
          </a:xfrm>
          <a:prstGeom xmlns:a="http://schemas.openxmlformats.org/drawingml/2006/main" prst="line">
            <a:avLst/>
          </a:prstGeom>
          <a:noFill xmlns:a="http://schemas.openxmlformats.org/drawingml/2006/main"/>
          <a:ln xmlns:a="http://schemas.openxmlformats.org/drawingml/2006/main" w="14288">
            <a:solidFill>
              <a:srgbClr val="5B6B76"/>
            </a:solidFill>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D7DC0CED-808F-4AE7-B0EE-BE2A57A36A13}"/>
              </a:ext>
            </a:extLst>
          </p:cNvPr>
          <p:cNvSpPr>
            <a:spLocks xmlns:a="http://schemas.openxmlformats.org/drawingml/2006/main" noGrp="1"/>
          </p:cNvSpPr>
          <p:nvPr/>
        </p:nvSpPr>
        <p:spPr>
          <a:xfrm xmlns:a="http://schemas.openxmlformats.org/drawingml/2006/main">
            <a:off x="2190750" y="5019675"/>
            <a:ext cx="347472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050" b="0">
                <a:solidFill>
                  <a:srgbClr val="5B6B76"/>
                </a:solidFill>
                <a:latin typeface="Arial"/>
                <a:ea typeface="Arial"/>
                <a:cs typeface="Arial"/>
              </a:defRPr>
            </a:pPr>
            <a:r>
              <a:rPr sz="1100" b="0">
                <a:solidFill>
                  <a:srgbClr val="5B6B76"/>
                </a:solidFill>
                <a:latin typeface="Calibri"/>
                <a:ea typeface="Calibri"/>
                <a:cs typeface="Calibri"/>
              </a:rPr>
              <a:t>Mean predicted probability</a:t>
            </a:r>
          </a:p>
        </p:txBody>
      </p:sp>
      <p:sp>
        <p:nvSpPr>
          <p:cNvPr id="23" name="">
            <a:extLst xmlns:a="http://schemas.openxmlformats.org/drawingml/2006/main">
              <a:ext uri="{FF2B5EF4-FFF2-40B4-BE49-F238E27FC236}">
                <a16:creationId xmlns:a16="http://schemas.microsoft.com/office/drawing/2014/main" id="{2DFCC87B-CE59-4365-9265-DCFABA40FD22}"/>
              </a:ext>
            </a:extLst>
          </p:cNvPr>
          <p:cNvSpPr>
            <a:spLocks xmlns:a="http://schemas.openxmlformats.org/drawingml/2006/main" noGrp="1"/>
          </p:cNvSpPr>
          <p:nvPr/>
        </p:nvSpPr>
        <p:spPr>
          <a:xfrm xmlns:a="http://schemas.openxmlformats.org/drawingml/2006/main">
            <a:off x="777240" y="1920240"/>
            <a:ext cx="274320" cy="2834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vert270" wrap="none" tIns="0" bIns="0" anchor="ctr">
            <a:noAutofit/>
          </a:bodyPr>
          <a:lstStyle xmlns:a="http://schemas.openxmlformats.org/drawingml/2006/main"/>
          <a:p xmlns:a="http://schemas.openxmlformats.org/drawingml/2006/main">
            <a:pPr algn="l">
              <a:buNone/>
              <a:defRPr sz="1050" b="0">
                <a:solidFill>
                  <a:srgbClr val="5B6B76"/>
                </a:solidFill>
                <a:latin typeface="Arial"/>
                <a:ea typeface="Arial"/>
                <a:cs typeface="Arial"/>
              </a:defRPr>
            </a:pPr>
            <a:r>
              <a:rPr sz="1100" b="0">
                <a:solidFill>
                  <a:srgbClr val="5B6B76"/>
                </a:solidFill>
                <a:latin typeface="Calibri"/>
                <a:ea typeface="Calibri"/>
                <a:cs typeface="Calibri"/>
              </a:rPr>
              <a:t>Observed event rate by risk decile</a:t>
            </a:r>
          </a:p>
        </p:txBody>
      </p:sp>
      <p:sp>
        <p:nvSpPr>
          <p:cNvPr id="24" name="">
            <a:extLst xmlns:a="http://schemas.openxmlformats.org/drawingml/2006/main">
              <a:ext uri="{FF2B5EF4-FFF2-40B4-BE49-F238E27FC236}">
                <a16:creationId xmlns:a16="http://schemas.microsoft.com/office/drawing/2014/main" id="{2A235754-F3BE-4EE6-9E47-DDBB4E4BF3AC}"/>
              </a:ext>
            </a:extLst>
          </p:cNvPr>
          <p:cNvSpPr>
            <a:spLocks xmlns:a="http://schemas.openxmlformats.org/drawingml/2006/main" noGrp="1"/>
          </p:cNvSpPr>
          <p:nvPr/>
        </p:nvSpPr>
        <p:spPr>
          <a:xfrm xmlns:a="http://schemas.openxmlformats.org/drawingml/2006/main">
            <a:off x="7000875" y="1428750"/>
            <a:ext cx="4524375" cy="1847850"/>
          </a:xfrm>
          <a:prstGeom xmlns:a="http://schemas.openxmlformats.org/drawingml/2006/main" prst="roundRect">
            <a:avLst>
              <a:gd name="adj" fmla="val 4124"/>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25" name="">
            <a:extLst xmlns:a="http://schemas.openxmlformats.org/drawingml/2006/main">
              <a:ext uri="{FF2B5EF4-FFF2-40B4-BE49-F238E27FC236}">
                <a16:creationId xmlns:a16="http://schemas.microsoft.com/office/drawing/2014/main" id="{C83A5CC7-B2B3-4507-A9EE-13BAAB6EBD19}"/>
              </a:ext>
            </a:extLst>
          </p:cNvPr>
          <p:cNvSpPr>
            <a:spLocks xmlns:a="http://schemas.openxmlformats.org/drawingml/2006/main" noGrp="1"/>
          </p:cNvSpPr>
          <p:nvPr/>
        </p:nvSpPr>
        <p:spPr>
          <a:xfrm xmlns:a="http://schemas.openxmlformats.org/drawingml/2006/main">
            <a:off x="7000875" y="1428750"/>
            <a:ext cx="66675" cy="1847850"/>
          </a:xfrm>
          <a:prstGeom xmlns:a="http://schemas.openxmlformats.org/drawingml/2006/main" prst="rect">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26" name="">
            <a:extLst xmlns:a="http://schemas.openxmlformats.org/drawingml/2006/main">
              <a:ext uri="{FF2B5EF4-FFF2-40B4-BE49-F238E27FC236}">
                <a16:creationId xmlns:a16="http://schemas.microsoft.com/office/drawing/2014/main" id="{D737E3E3-B0AD-4BEA-8861-9252F7460F93}"/>
              </a:ext>
            </a:extLst>
          </p:cNvPr>
          <p:cNvSpPr>
            <a:spLocks xmlns:a="http://schemas.openxmlformats.org/drawingml/2006/main" noGrp="1"/>
          </p:cNvSpPr>
          <p:nvPr/>
        </p:nvSpPr>
        <p:spPr>
          <a:xfrm xmlns:a="http://schemas.openxmlformats.org/drawingml/2006/main">
            <a:off x="7210425" y="1571625"/>
            <a:ext cx="41243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425" b="1">
                <a:solidFill>
                  <a:srgbClr val="0B2A3C"/>
                </a:solidFill>
                <a:latin typeface="Arial"/>
                <a:ea typeface="Arial"/>
                <a:cs typeface="Arial"/>
              </a:defRPr>
            </a:pPr>
            <a:r>
              <a:rPr sz="1425" b="1">
                <a:solidFill>
                  <a:srgbClr val="0B2A3C"/>
                </a:solidFill>
                <a:latin typeface="Segoe UI"/>
                <a:ea typeface="Segoe UI"/>
                <a:cs typeface="Segoe UI"/>
              </a:rPr>
              <a:t>Calibration is descriptive</a:t>
            </a:r>
          </a:p>
        </p:txBody>
      </p:sp>
      <p:sp>
        <p:nvSpPr>
          <p:cNvPr id="27" name="">
            <a:extLst xmlns:a="http://schemas.openxmlformats.org/drawingml/2006/main">
              <a:ext uri="{FF2B5EF4-FFF2-40B4-BE49-F238E27FC236}">
                <a16:creationId xmlns:a16="http://schemas.microsoft.com/office/drawing/2014/main" id="{12CA2D61-833B-4623-91BD-4772D6FCC440}"/>
              </a:ext>
            </a:extLst>
          </p:cNvPr>
          <p:cNvSpPr>
            <a:spLocks xmlns:a="http://schemas.openxmlformats.org/drawingml/2006/main" noGrp="1"/>
          </p:cNvSpPr>
          <p:nvPr/>
        </p:nvSpPr>
        <p:spPr>
          <a:xfrm xmlns:a="http://schemas.openxmlformats.org/drawingml/2006/main">
            <a:off x="7210425" y="1914525"/>
            <a:ext cx="41243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t">
            <a:noAutofit/>
          </a:bodyPr>
          <a:lstStyle xmlns:a="http://schemas.openxmlformats.org/drawingml/2006/main"/>
          <a:p xmlns:a="http://schemas.openxmlformats.org/drawingml/2006/main">
            <a:pPr algn="l">
              <a:buNone/>
              <a:defRPr sz="1275" b="0">
                <a:solidFill>
                  <a:srgbClr val="0B2A3C"/>
                </a:solidFill>
                <a:latin typeface="Arial"/>
                <a:ea typeface="Arial"/>
                <a:cs typeface="Arial"/>
              </a:defRPr>
            </a:pPr>
            <a:r>
              <a:rPr sz="1400" b="0">
                <a:solidFill>
                  <a:srgbClr val="0B2A3C"/>
                </a:solidFill>
                <a:latin typeface="Calibri"/>
                <a:ea typeface="Calibri"/>
                <a:cs typeface="Calibri"/>
              </a:rPr>
              <a:t>Ten quantile bins use seed-42 held-out predictions. This single-assignment curve is descriptive; low event counts and the small US cohort make calibration uncertain.</a:t>
            </a:r>
          </a:p>
        </p:txBody>
      </p:sp>
      <p:sp>
        <p:nvSpPr>
          <p:cNvPr id="28" name="">
            <a:extLst xmlns:a="http://schemas.openxmlformats.org/drawingml/2006/main">
              <a:ext uri="{FF2B5EF4-FFF2-40B4-BE49-F238E27FC236}">
                <a16:creationId xmlns:a16="http://schemas.microsoft.com/office/drawing/2014/main" id="{3C59E6CC-0D91-4405-AF97-4524CD3FB339}"/>
              </a:ext>
            </a:extLst>
          </p:cNvPr>
          <p:cNvSpPr>
            <a:spLocks xmlns:a="http://schemas.openxmlformats.org/drawingml/2006/main" noGrp="1"/>
          </p:cNvSpPr>
          <p:nvPr/>
        </p:nvSpPr>
        <p:spPr>
          <a:xfrm xmlns:a="http://schemas.openxmlformats.org/drawingml/2006/main">
            <a:off x="7000875" y="3524250"/>
            <a:ext cx="4524375" cy="2000250"/>
          </a:xfrm>
          <a:prstGeom xmlns:a="http://schemas.openxmlformats.org/drawingml/2006/main" prst="roundRect">
            <a:avLst>
              <a:gd name="adj" fmla="val 3810"/>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29" name="">
            <a:extLst xmlns:a="http://schemas.openxmlformats.org/drawingml/2006/main">
              <a:ext uri="{FF2B5EF4-FFF2-40B4-BE49-F238E27FC236}">
                <a16:creationId xmlns:a16="http://schemas.microsoft.com/office/drawing/2014/main" id="{4E06B459-1487-4CE7-9CB5-C9EBA5A371F2}"/>
              </a:ext>
            </a:extLst>
          </p:cNvPr>
          <p:cNvSpPr>
            <a:spLocks xmlns:a="http://schemas.openxmlformats.org/drawingml/2006/main" noGrp="1"/>
          </p:cNvSpPr>
          <p:nvPr/>
        </p:nvSpPr>
        <p:spPr>
          <a:xfrm xmlns:a="http://schemas.openxmlformats.org/drawingml/2006/main">
            <a:off x="7000875" y="3524250"/>
            <a:ext cx="66675" cy="2000250"/>
          </a:xfrm>
          <a:prstGeom xmlns:a="http://schemas.openxmlformats.org/drawingml/2006/main" prst="rect">
            <a:avLst/>
          </a:prstGeom>
          <a:solidFill xmlns:a="http://schemas.openxmlformats.org/drawingml/2006/main">
            <a:srgbClr val="F2A33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30" name="">
            <a:extLst xmlns:a="http://schemas.openxmlformats.org/drawingml/2006/main">
              <a:ext uri="{FF2B5EF4-FFF2-40B4-BE49-F238E27FC236}">
                <a16:creationId xmlns:a16="http://schemas.microsoft.com/office/drawing/2014/main" id="{082E1A3F-8191-46B0-9B1C-0EB25DDF15F5}"/>
              </a:ext>
            </a:extLst>
          </p:cNvPr>
          <p:cNvSpPr>
            <a:spLocks xmlns:a="http://schemas.openxmlformats.org/drawingml/2006/main" noGrp="1"/>
          </p:cNvSpPr>
          <p:nvPr/>
        </p:nvSpPr>
        <p:spPr>
          <a:xfrm xmlns:a="http://schemas.openxmlformats.org/drawingml/2006/main">
            <a:off x="7210425" y="3667125"/>
            <a:ext cx="41243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425" b="1">
                <a:solidFill>
                  <a:srgbClr val="0B2A3C"/>
                </a:solidFill>
                <a:latin typeface="Arial"/>
                <a:ea typeface="Arial"/>
                <a:cs typeface="Arial"/>
              </a:defRPr>
            </a:pPr>
            <a:r>
              <a:rPr sz="1425" b="1">
                <a:solidFill>
                  <a:srgbClr val="0B2A3C"/>
                </a:solidFill>
                <a:latin typeface="Segoe UI"/>
                <a:ea typeface="Segoe UI"/>
                <a:cs typeface="Segoe UI"/>
              </a:rPr>
              <a:t>Uncertainty unit = participant</a:t>
            </a:r>
          </a:p>
        </p:txBody>
      </p:sp>
      <p:sp>
        <p:nvSpPr>
          <p:cNvPr id="31" name="">
            <a:extLst xmlns:a="http://schemas.openxmlformats.org/drawingml/2006/main">
              <a:ext uri="{FF2B5EF4-FFF2-40B4-BE49-F238E27FC236}">
                <a16:creationId xmlns:a16="http://schemas.microsoft.com/office/drawing/2014/main" id="{0DB1BDC9-E472-4748-9DC5-A482A9733398}"/>
              </a:ext>
            </a:extLst>
          </p:cNvPr>
          <p:cNvSpPr>
            <a:spLocks xmlns:a="http://schemas.openxmlformats.org/drawingml/2006/main" noGrp="1"/>
          </p:cNvSpPr>
          <p:nvPr/>
        </p:nvSpPr>
        <p:spPr>
          <a:xfrm xmlns:a="http://schemas.openxmlformats.org/drawingml/2006/main">
            <a:off x="7210425" y="4010025"/>
            <a:ext cx="412432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t">
            <a:noAutofit/>
          </a:bodyPr>
          <a:lstStyle xmlns:a="http://schemas.openxmlformats.org/drawingml/2006/main"/>
          <a:p xmlns:a="http://schemas.openxmlformats.org/drawingml/2006/main">
            <a:pPr algn="l">
              <a:buNone/>
              <a:defRPr sz="1275" b="0">
                <a:solidFill>
                  <a:srgbClr val="0B2A3C"/>
                </a:solidFill>
                <a:latin typeface="Arial"/>
                <a:ea typeface="Arial"/>
                <a:cs typeface="Arial"/>
              </a:defRPr>
            </a:pPr>
            <a:r>
              <a:rPr sz="1400" b="0">
                <a:solidFill>
                  <a:srgbClr val="0B2A3C"/>
                </a:solidFill>
                <a:latin typeface="Calibri"/>
                <a:ea typeface="Calibri"/>
                <a:cs typeface="Calibri"/>
              </a:rPr>
              <a:t>Participant-cluster bootstrap 95% CI (seed 42): pooled PR-AUC 0.216–0.529; ROC-AUC 0.825–0.931. Intervals condition on fixed OOF scores and omit model-refit uncertainty.</a:t>
            </a:r>
          </a:p>
        </p:txBody>
      </p:sp>
      <p:sp>
        <p:nvSpPr>
          <p:cNvPr id="32" name="">
            <a:extLst xmlns:a="http://schemas.openxmlformats.org/drawingml/2006/main">
              <a:ext uri="{FF2B5EF4-FFF2-40B4-BE49-F238E27FC236}">
                <a16:creationId xmlns:a16="http://schemas.microsoft.com/office/drawing/2014/main" id="{E0E17B95-5550-4537-B68A-B805970403F8}"/>
              </a:ext>
            </a:extLst>
          </p:cNvPr>
          <p:cNvSpPr>
            <a:spLocks xmlns:a="http://schemas.openxmlformats.org/drawingml/2006/main" noGrp="1"/>
          </p:cNvSpPr>
          <p:nvPr/>
        </p:nvSpPr>
        <p:spPr>
          <a:xfrm xmlns:a="http://schemas.openxmlformats.org/drawingml/2006/main">
            <a:off x="7000875" y="571500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00" b="1">
                <a:solidFill>
                  <a:srgbClr val="5B6B76"/>
                </a:solidFill>
                <a:latin typeface="Arial"/>
                <a:ea typeface="Arial"/>
                <a:cs typeface="Arial"/>
              </a:defRPr>
            </a:pPr>
            <a:r>
              <a:rPr sz="1200" b="1">
                <a:solidFill>
                  <a:srgbClr val="5B6B76"/>
                </a:solidFill>
                <a:latin typeface="Segoe UI"/>
                <a:ea typeface="Segoe UI"/>
                <a:cs typeface="Segoe UI"/>
              </a:rPr>
              <a:t>No post-hoc calibration; no external cohort.</a:t>
            </a:r>
          </a:p>
        </p:txBody>
      </p:sp>
      <p:sp>
        <p:nvSpPr>
          <p:cNvPr id="34" name="Oval 33">
            <a:extLst xmlns:a="http://schemas.openxmlformats.org/drawingml/2006/main">
              <a:ext uri="{FF2B5EF4-FFF2-40B4-BE49-F238E27FC236}">
                <a16:creationId xmlns:a16="http://schemas.microsoft.com/office/drawing/2014/main" id="{8B8110EB-2922-4479-B21B-3DCABDAC9B2B}"/>
              </a:ext>
            </a:extLst>
          </p:cNvPr>
          <p:cNvSpPr>
            <a:spLocks xmlns:a="http://schemas.openxmlformats.org/drawingml/2006/main" noGrp="1"/>
          </p:cNvSpPr>
          <p:nvPr/>
        </p:nvSpPr>
        <p:spPr>
          <a:xfrm xmlns:a="http://schemas.openxmlformats.org/drawingml/2006/main">
            <a:off x="1383880" y="4811422"/>
            <a:ext cx="91440" cy="91440"/>
          </a:xfrm>
          <a:prstGeom xmlns:a="http://schemas.openxmlformats.org/drawingml/2006/main" prst="ellipse">
            <a:avLst/>
          </a:prstGeom>
          <a:solidFill xmlns:a="http://schemas.openxmlformats.org/drawingml/2006/main">
            <a:srgbClr val="0F8B8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Oval 34">
            <a:extLst xmlns:a="http://schemas.openxmlformats.org/drawingml/2006/main">
              <a:ext uri="{FF2B5EF4-FFF2-40B4-BE49-F238E27FC236}">
                <a16:creationId xmlns:a16="http://schemas.microsoft.com/office/drawing/2014/main" id="{A8C53FE4-FCA0-4A82-9FAF-E3C2B9D9639D}"/>
              </a:ext>
            </a:extLst>
          </p:cNvPr>
          <p:cNvSpPr>
            <a:spLocks xmlns:a="http://schemas.openxmlformats.org/drawingml/2006/main" noGrp="1"/>
          </p:cNvSpPr>
          <p:nvPr/>
        </p:nvSpPr>
        <p:spPr>
          <a:xfrm xmlns:a="http://schemas.openxmlformats.org/drawingml/2006/main">
            <a:off x="1385205" y="4810814"/>
            <a:ext cx="91440" cy="91440"/>
          </a:xfrm>
          <a:prstGeom xmlns:a="http://schemas.openxmlformats.org/drawingml/2006/main" prst="ellipse">
            <a:avLst/>
          </a:prstGeom>
          <a:solidFill xmlns:a="http://schemas.openxmlformats.org/drawingml/2006/main">
            <a:srgbClr val="0F8B8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Oval 35">
            <a:extLst xmlns:a="http://schemas.openxmlformats.org/drawingml/2006/main">
              <a:ext uri="{FF2B5EF4-FFF2-40B4-BE49-F238E27FC236}">
                <a16:creationId xmlns:a16="http://schemas.microsoft.com/office/drawing/2014/main" id="{E6E4DEFC-4DFD-4B76-B0DE-BCBBCD0A846B}"/>
              </a:ext>
            </a:extLst>
          </p:cNvPr>
          <p:cNvSpPr>
            <a:spLocks xmlns:a="http://schemas.openxmlformats.org/drawingml/2006/main" noGrp="1"/>
          </p:cNvSpPr>
          <p:nvPr/>
        </p:nvSpPr>
        <p:spPr>
          <a:xfrm xmlns:a="http://schemas.openxmlformats.org/drawingml/2006/main">
            <a:off x="1387329" y="4804735"/>
            <a:ext cx="91440" cy="91440"/>
          </a:xfrm>
          <a:prstGeom xmlns:a="http://schemas.openxmlformats.org/drawingml/2006/main" prst="ellipse">
            <a:avLst/>
          </a:prstGeom>
          <a:solidFill xmlns:a="http://schemas.openxmlformats.org/drawingml/2006/main">
            <a:srgbClr val="0F8B8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Oval 36">
            <a:extLst xmlns:a="http://schemas.openxmlformats.org/drawingml/2006/main">
              <a:ext uri="{FF2B5EF4-FFF2-40B4-BE49-F238E27FC236}">
                <a16:creationId xmlns:a16="http://schemas.microsoft.com/office/drawing/2014/main" id="{0AD4860E-C780-4ED3-B4CD-A4F1C53FA309}"/>
              </a:ext>
            </a:extLst>
          </p:cNvPr>
          <p:cNvSpPr>
            <a:spLocks xmlns:a="http://schemas.openxmlformats.org/drawingml/2006/main" noGrp="1"/>
          </p:cNvSpPr>
          <p:nvPr/>
        </p:nvSpPr>
        <p:spPr>
          <a:xfrm xmlns:a="http://schemas.openxmlformats.org/drawingml/2006/main">
            <a:off x="1391448" y="4789543"/>
            <a:ext cx="91440" cy="91440"/>
          </a:xfrm>
          <a:prstGeom xmlns:a="http://schemas.openxmlformats.org/drawingml/2006/main" prst="ellipse">
            <a:avLst/>
          </a:prstGeom>
          <a:solidFill xmlns:a="http://schemas.openxmlformats.org/drawingml/2006/main">
            <a:srgbClr val="0F8B8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Oval 37">
            <a:extLst xmlns:a="http://schemas.openxmlformats.org/drawingml/2006/main">
              <a:ext uri="{FF2B5EF4-FFF2-40B4-BE49-F238E27FC236}">
                <a16:creationId xmlns:a16="http://schemas.microsoft.com/office/drawing/2014/main" id="{AE84B3A8-111F-4F6A-9B2C-7D92ED08A4D8}"/>
              </a:ext>
            </a:extLst>
          </p:cNvPr>
          <p:cNvSpPr>
            <a:spLocks xmlns:a="http://schemas.openxmlformats.org/drawingml/2006/main" noGrp="1"/>
          </p:cNvSpPr>
          <p:nvPr/>
        </p:nvSpPr>
        <p:spPr>
          <a:xfrm xmlns:a="http://schemas.openxmlformats.org/drawingml/2006/main">
            <a:off x="1400710" y="4750038"/>
            <a:ext cx="91440" cy="91440"/>
          </a:xfrm>
          <a:prstGeom xmlns:a="http://schemas.openxmlformats.org/drawingml/2006/main" prst="ellipse">
            <a:avLst/>
          </a:prstGeom>
          <a:solidFill xmlns:a="http://schemas.openxmlformats.org/drawingml/2006/main">
            <a:srgbClr val="0F8B8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Oval 38">
            <a:extLst xmlns:a="http://schemas.openxmlformats.org/drawingml/2006/main">
              <a:ext uri="{FF2B5EF4-FFF2-40B4-BE49-F238E27FC236}">
                <a16:creationId xmlns:a16="http://schemas.microsoft.com/office/drawing/2014/main" id="{87A02FFE-FFD9-498D-9863-0EE9C087D2B0}"/>
              </a:ext>
            </a:extLst>
          </p:cNvPr>
          <p:cNvSpPr>
            <a:spLocks xmlns:a="http://schemas.openxmlformats.org/drawingml/2006/main" noGrp="1"/>
          </p:cNvSpPr>
          <p:nvPr/>
        </p:nvSpPr>
        <p:spPr>
          <a:xfrm xmlns:a="http://schemas.openxmlformats.org/drawingml/2006/main">
            <a:off x="1422814" y="4748201"/>
            <a:ext cx="91440" cy="91440"/>
          </a:xfrm>
          <a:prstGeom xmlns:a="http://schemas.openxmlformats.org/drawingml/2006/main" prst="ellipse">
            <a:avLst/>
          </a:prstGeom>
          <a:solidFill xmlns:a="http://schemas.openxmlformats.org/drawingml/2006/main">
            <a:srgbClr val="0F8B8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Oval 39">
            <a:extLst xmlns:a="http://schemas.openxmlformats.org/drawingml/2006/main">
              <a:ext uri="{FF2B5EF4-FFF2-40B4-BE49-F238E27FC236}">
                <a16:creationId xmlns:a16="http://schemas.microsoft.com/office/drawing/2014/main" id="{BAE8D65F-8790-41B8-907C-98D3B5A67B63}"/>
              </a:ext>
            </a:extLst>
          </p:cNvPr>
          <p:cNvSpPr>
            <a:spLocks xmlns:a="http://schemas.openxmlformats.org/drawingml/2006/main" noGrp="1"/>
          </p:cNvSpPr>
          <p:nvPr/>
        </p:nvSpPr>
        <p:spPr>
          <a:xfrm xmlns:a="http://schemas.openxmlformats.org/drawingml/2006/main">
            <a:off x="1472464" y="4729375"/>
            <a:ext cx="91440" cy="91440"/>
          </a:xfrm>
          <a:prstGeom xmlns:a="http://schemas.openxmlformats.org/drawingml/2006/main" prst="ellipse">
            <a:avLst/>
          </a:prstGeom>
          <a:solidFill xmlns:a="http://schemas.openxmlformats.org/drawingml/2006/main">
            <a:srgbClr val="0F8B8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Oval 40">
            <a:extLst xmlns:a="http://schemas.openxmlformats.org/drawingml/2006/main">
              <a:ext uri="{FF2B5EF4-FFF2-40B4-BE49-F238E27FC236}">
                <a16:creationId xmlns:a16="http://schemas.microsoft.com/office/drawing/2014/main" id="{8B16BA0B-F056-46B4-92F9-CE7C29FD04C4}"/>
              </a:ext>
            </a:extLst>
          </p:cNvPr>
          <p:cNvSpPr>
            <a:spLocks xmlns:a="http://schemas.openxmlformats.org/drawingml/2006/main" noGrp="1"/>
          </p:cNvSpPr>
          <p:nvPr/>
        </p:nvSpPr>
        <p:spPr>
          <a:xfrm xmlns:a="http://schemas.openxmlformats.org/drawingml/2006/main">
            <a:off x="1574210" y="4669175"/>
            <a:ext cx="91440" cy="91440"/>
          </a:xfrm>
          <a:prstGeom xmlns:a="http://schemas.openxmlformats.org/drawingml/2006/main" prst="ellipse">
            <a:avLst/>
          </a:prstGeom>
          <a:solidFill xmlns:a="http://schemas.openxmlformats.org/drawingml/2006/main">
            <a:srgbClr val="0F8B8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Oval 41">
            <a:extLst xmlns:a="http://schemas.openxmlformats.org/drawingml/2006/main">
              <a:ext uri="{FF2B5EF4-FFF2-40B4-BE49-F238E27FC236}">
                <a16:creationId xmlns:a16="http://schemas.microsoft.com/office/drawing/2014/main" id="{F6505E79-8341-499D-914D-73D368D16362}"/>
              </a:ext>
            </a:extLst>
          </p:cNvPr>
          <p:cNvSpPr>
            <a:spLocks xmlns:a="http://schemas.openxmlformats.org/drawingml/2006/main" noGrp="1"/>
          </p:cNvSpPr>
          <p:nvPr/>
        </p:nvSpPr>
        <p:spPr>
          <a:xfrm xmlns:a="http://schemas.openxmlformats.org/drawingml/2006/main">
            <a:off x="1814364" y="4457708"/>
            <a:ext cx="91440" cy="91440"/>
          </a:xfrm>
          <a:prstGeom xmlns:a="http://schemas.openxmlformats.org/drawingml/2006/main" prst="ellipse">
            <a:avLst/>
          </a:prstGeom>
          <a:solidFill xmlns:a="http://schemas.openxmlformats.org/drawingml/2006/main">
            <a:srgbClr val="0F8B8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Oval 42">
            <a:extLst xmlns:a="http://schemas.openxmlformats.org/drawingml/2006/main">
              <a:ext uri="{FF2B5EF4-FFF2-40B4-BE49-F238E27FC236}">
                <a16:creationId xmlns:a16="http://schemas.microsoft.com/office/drawing/2014/main" id="{14F7F509-BC41-4D17-B12D-D9CBF0255509}"/>
              </a:ext>
            </a:extLst>
          </p:cNvPr>
          <p:cNvSpPr>
            <a:spLocks xmlns:a="http://schemas.openxmlformats.org/drawingml/2006/main" noGrp="1"/>
          </p:cNvSpPr>
          <p:nvPr/>
        </p:nvSpPr>
        <p:spPr>
          <a:xfrm xmlns:a="http://schemas.openxmlformats.org/drawingml/2006/main">
            <a:off x="2889702" y="3820172"/>
            <a:ext cx="91440" cy="91440"/>
          </a:xfrm>
          <a:prstGeom xmlns:a="http://schemas.openxmlformats.org/drawingml/2006/main" prst="ellipse">
            <a:avLst/>
          </a:prstGeom>
          <a:solidFill xmlns:a="http://schemas.openxmlformats.org/drawingml/2006/main">
            <a:srgbClr val="0F8B8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1921370616"/>
      </p:ext>
    </p:extLst>
  </p:cSld>
</p:sld>
</file>

<file path=ppt/slides/slide9.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444D203-0808-4353-8BB9-85654704CFD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4E0B1307-E406-4462-8E66-ADF71FE36153}"/>
              </a:ext>
            </a:extLst>
          </p:cNvPr>
          <p:cNvSpPr>
            <a:spLocks xmlns:a="http://schemas.openxmlformats.org/drawingml/2006/main" noGrp="1"/>
          </p:cNvSpPr>
          <p:nvPr/>
        </p:nvSpPr>
        <p:spPr>
          <a:xfrm xmlns:a="http://schemas.openxmlformats.org/drawingml/2006/main">
            <a:off x="647700" y="2857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75" b="1">
                <a:solidFill>
                  <a:srgbClr val="0F8B8D"/>
                </a:solidFill>
                <a:latin typeface="Arial"/>
                <a:ea typeface="Arial"/>
                <a:cs typeface="Arial"/>
              </a:defRPr>
            </a:pPr>
            <a:r>
              <a:rPr sz="1100" b="1">
                <a:solidFill>
                  <a:srgbClr val="0F8B8D"/>
                </a:solidFill>
                <a:latin typeface="Segoe UI"/>
                <a:ea typeface="Segoe UI"/>
                <a:cs typeface="Segoe UI"/>
              </a:rPr>
              <a:t>GLYCOTWIN  /  RESEARCH PROTOTYPE</a:t>
            </a:r>
          </a:p>
        </p:txBody>
      </p:sp>
      <p:sp>
        <p:nvSpPr>
          <p:cNvPr id="3" name="">
            <a:extLst xmlns:a="http://schemas.openxmlformats.org/drawingml/2006/main">
              <a:ext uri="{FF2B5EF4-FFF2-40B4-BE49-F238E27FC236}">
                <a16:creationId xmlns:a16="http://schemas.microsoft.com/office/drawing/2014/main" id="{275FFA1E-974E-4135-B49F-4DFCBC4047A4}"/>
              </a:ext>
            </a:extLst>
          </p:cNvPr>
          <p:cNvSpPr>
            <a:spLocks xmlns:a="http://schemas.openxmlformats.org/drawingml/2006/main" noGrp="1"/>
          </p:cNvSpPr>
          <p:nvPr/>
        </p:nvSpPr>
        <p:spPr>
          <a:xfrm xmlns:a="http://schemas.openxmlformats.org/drawingml/2006/main">
            <a:off x="647700" y="5524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2550" b="1">
                <a:solidFill>
                  <a:srgbClr val="0B2A3C"/>
                </a:solidFill>
                <a:latin typeface="Arial"/>
                <a:ea typeface="Arial"/>
                <a:cs typeface="Arial"/>
              </a:defRPr>
            </a:pPr>
            <a:r>
              <a:rPr sz="2550" b="1">
                <a:solidFill>
                  <a:srgbClr val="0B2A3C"/>
                </a:solidFill>
                <a:latin typeface="Segoe UI"/>
                <a:ea typeface="Segoe UI"/>
                <a:cs typeface="Segoe UI"/>
              </a:rPr>
              <a:t>Concept screen 1  /  Doctor worklist</a:t>
            </a:r>
          </a:p>
        </p:txBody>
      </p:sp>
      <p:sp>
        <p:nvSpPr>
          <p:cNvPr id="4" name="">
            <a:extLst xmlns:a="http://schemas.openxmlformats.org/drawingml/2006/main">
              <a:ext uri="{FF2B5EF4-FFF2-40B4-BE49-F238E27FC236}">
                <a16:creationId xmlns:a16="http://schemas.microsoft.com/office/drawing/2014/main" id="{FBAC05CB-A146-455A-B054-35B30C4223E6}"/>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line">
            <a:avLst/>
          </a:prstGeom>
          <a:solidFill xmlns:a="http://schemas.openxmlformats.org/drawingml/2006/main">
            <a:srgbClr val="D5DEE2"/>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7E09D416-1D82-4A9B-9EFE-81B70E1457F6}"/>
              </a:ext>
            </a:extLst>
          </p:cNvPr>
          <p:cNvSpPr>
            <a:spLocks xmlns:a="http://schemas.openxmlformats.org/drawingml/2006/main" noGrp="1"/>
          </p:cNvSpPr>
          <p:nvPr/>
        </p:nvSpPr>
        <p:spPr>
          <a:xfrm xmlns:a="http://schemas.openxmlformats.org/drawingml/2006/main">
            <a:off x="647700" y="64960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00" b="0">
                <a:solidFill>
                  <a:srgbClr val="5B6B76"/>
                </a:solidFill>
                <a:latin typeface="Arial"/>
                <a:ea typeface="Arial"/>
                <a:cs typeface="Arial"/>
              </a:defRPr>
            </a:pPr>
            <a:r>
              <a:rPr sz="1100" b="0">
                <a:solidFill>
                  <a:srgbClr val="5B6B76"/>
                </a:solidFill>
                <a:latin typeface="Calibri"/>
                <a:ea typeface="Calibri"/>
                <a:cs typeface="Calibri"/>
              </a:rPr>
              <a:t>CGMacros retrospective PoC  •  not for clinical use</a:t>
            </a:r>
          </a:p>
        </p:txBody>
      </p:sp>
      <p:sp>
        <p:nvSpPr>
          <p:cNvPr id="6" name="">
            <a:extLst xmlns:a="http://schemas.openxmlformats.org/drawingml/2006/main">
              <a:ext uri="{FF2B5EF4-FFF2-40B4-BE49-F238E27FC236}">
                <a16:creationId xmlns:a16="http://schemas.microsoft.com/office/drawing/2014/main" id="{AFADE88B-51F7-4945-B1C8-A0B73CE4398F}"/>
              </a:ext>
            </a:extLst>
          </p:cNvPr>
          <p:cNvSpPr>
            <a:spLocks xmlns:a="http://schemas.openxmlformats.org/drawingml/2006/main" noGrp="1"/>
          </p:cNvSpPr>
          <p:nvPr/>
        </p:nvSpPr>
        <p:spPr>
          <a:xfrm xmlns:a="http://schemas.openxmlformats.org/drawingml/2006/main">
            <a:off x="619125" y="1285875"/>
            <a:ext cx="10953750" cy="4714875"/>
          </a:xfrm>
          <a:prstGeom xmlns:a="http://schemas.openxmlformats.org/drawingml/2006/main" prst="roundRect">
            <a:avLst>
              <a:gd name="adj" fmla="val 1616"/>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B287F43E-3CDD-4B57-BA2B-C6544B7CE556}"/>
              </a:ext>
            </a:extLst>
          </p:cNvPr>
          <p:cNvSpPr>
            <a:spLocks xmlns:a="http://schemas.openxmlformats.org/drawingml/2006/main" noGrp="1"/>
          </p:cNvSpPr>
          <p:nvPr/>
        </p:nvSpPr>
        <p:spPr>
          <a:xfrm xmlns:a="http://schemas.openxmlformats.org/drawingml/2006/main">
            <a:off x="619125" y="1285875"/>
            <a:ext cx="10953750" cy="514350"/>
          </a:xfrm>
          <a:prstGeom xmlns:a="http://schemas.openxmlformats.org/drawingml/2006/main" prst="rect">
            <a:avLst/>
          </a:prstGeom>
          <a:solidFill xmlns:a="http://schemas.openxmlformats.org/drawingml/2006/main">
            <a:srgbClr val="0B2A3C"/>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AE82D0C1-87C1-416D-85AD-BD2D1F5DBA88}"/>
              </a:ext>
            </a:extLst>
          </p:cNvPr>
          <p:cNvSpPr>
            <a:spLocks xmlns:a="http://schemas.openxmlformats.org/drawingml/2006/main" noGrp="1"/>
          </p:cNvSpPr>
          <p:nvPr/>
        </p:nvSpPr>
        <p:spPr>
          <a:xfrm xmlns:a="http://schemas.openxmlformats.org/drawingml/2006/main">
            <a:off x="838200" y="1381125"/>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425" b="1">
                <a:solidFill>
                  <a:srgbClr val="F7FAFA"/>
                </a:solidFill>
                <a:latin typeface="Arial"/>
                <a:ea typeface="Arial"/>
                <a:cs typeface="Arial"/>
              </a:defRPr>
            </a:pPr>
            <a:r>
              <a:rPr sz="1425" b="1">
                <a:solidFill>
                  <a:srgbClr val="F7FAFA"/>
                </a:solidFill>
                <a:latin typeface="Segoe UI"/>
                <a:ea typeface="Segoe UI"/>
                <a:cs typeface="Segoe UI"/>
              </a:rPr>
              <a:t>GLYCOTWIN   /   FOLLOW-UP WORKLIST</a:t>
            </a:r>
          </a:p>
        </p:txBody>
      </p:sp>
      <p:sp>
        <p:nvSpPr>
          <p:cNvPr id="9" name="">
            <a:extLst xmlns:a="http://schemas.openxmlformats.org/drawingml/2006/main">
              <a:ext uri="{FF2B5EF4-FFF2-40B4-BE49-F238E27FC236}">
                <a16:creationId xmlns:a16="http://schemas.microsoft.com/office/drawing/2014/main" id="{E46B0FE7-7D8E-431C-B27C-BE5A046E4738}"/>
              </a:ext>
            </a:extLst>
          </p:cNvPr>
          <p:cNvSpPr>
            <a:spLocks xmlns:a="http://schemas.openxmlformats.org/drawingml/2006/main" noGrp="1"/>
          </p:cNvSpPr>
          <p:nvPr/>
        </p:nvSpPr>
        <p:spPr>
          <a:xfrm xmlns:a="http://schemas.openxmlformats.org/drawingml/2006/main">
            <a:off x="9667875" y="1400175"/>
            <a:ext cx="1619250" cy="285750"/>
          </a:xfrm>
          <a:prstGeom xmlns:a="http://schemas.openxmlformats.org/drawingml/2006/main" prst="roundRect">
            <a:avLst>
              <a:gd name="adj" fmla="val 26667"/>
            </a:avLst>
          </a:prstGeom>
          <a:solidFill xmlns:a="http://schemas.openxmlformats.org/drawingml/2006/main">
            <a:srgbClr val="E6F4F1"/>
          </a:solidFill>
          <a:ln xmlns:a="http://schemas.openxmlformats.org/drawingml/2006/main" w="9525">
            <a:solidFill>
              <a:srgbClr val="E6F4F1"/>
            </a:solidFill>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447D73BC-A348-43BB-881C-6E7224E5F657}"/>
              </a:ext>
            </a:extLst>
          </p:cNvPr>
          <p:cNvSpPr>
            <a:spLocks xmlns:a="http://schemas.openxmlformats.org/drawingml/2006/main" noGrp="1"/>
          </p:cNvSpPr>
          <p:nvPr/>
        </p:nvSpPr>
        <p:spPr>
          <a:xfrm xmlns:a="http://schemas.openxmlformats.org/drawingml/2006/main">
            <a:off x="9744075" y="1419225"/>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975" b="1">
                <a:solidFill>
                  <a:srgbClr val="0B2A3C"/>
                </a:solidFill>
                <a:latin typeface="Arial"/>
                <a:ea typeface="Arial"/>
                <a:cs typeface="Arial"/>
              </a:defRPr>
            </a:pPr>
            <a:r>
              <a:rPr sz="1400" b="1">
                <a:solidFill>
                  <a:srgbClr val="0B2A3C"/>
                </a:solidFill>
                <a:latin typeface="Segoe UI"/>
                <a:ea typeface="Segoe UI"/>
                <a:cs typeface="Segoe UI"/>
              </a:rPr>
              <a:t>NOT CLINICAL</a:t>
            </a:r>
          </a:p>
        </p:txBody>
      </p:sp>
      <p:sp>
        <p:nvSpPr>
          <p:cNvPr id="11" name="">
            <a:extLst xmlns:a="http://schemas.openxmlformats.org/drawingml/2006/main">
              <a:ext uri="{FF2B5EF4-FFF2-40B4-BE49-F238E27FC236}">
                <a16:creationId xmlns:a16="http://schemas.microsoft.com/office/drawing/2014/main" id="{D58662D7-9F98-44E5-8E34-BF8B3AE6065D}"/>
              </a:ext>
            </a:extLst>
          </p:cNvPr>
          <p:cNvSpPr>
            <a:spLocks xmlns:a="http://schemas.openxmlformats.org/drawingml/2006/main" noGrp="1"/>
          </p:cNvSpPr>
          <p:nvPr/>
        </p:nvSpPr>
        <p:spPr>
          <a:xfrm xmlns:a="http://schemas.openxmlformats.org/drawingml/2006/main">
            <a:off x="838200" y="1943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125" b="0">
                <a:solidFill>
                  <a:srgbClr val="5B6B76"/>
                </a:solidFill>
                <a:latin typeface="Arial"/>
                <a:ea typeface="Arial"/>
                <a:cs typeface="Arial"/>
              </a:defRPr>
            </a:pPr>
            <a:r>
              <a:rPr sz="1400" b="0">
                <a:solidFill>
                  <a:srgbClr val="5B6B76"/>
                </a:solidFill>
                <a:latin typeface="Calibri"/>
                <a:ea typeface="Calibri"/>
                <a:cs typeface="Calibri"/>
              </a:rPr>
              <a:t>Research replay · sample patient identifiers · scores below are illustrative</a:t>
            </a:r>
          </a:p>
        </p:txBody>
      </p:sp>
      <p:sp>
        <p:nvSpPr>
          <p:cNvPr id="12" name="">
            <a:extLst xmlns:a="http://schemas.openxmlformats.org/drawingml/2006/main">
              <a:ext uri="{FF2B5EF4-FFF2-40B4-BE49-F238E27FC236}">
                <a16:creationId xmlns:a16="http://schemas.microsoft.com/office/drawing/2014/main" id="{3FE3DD99-E97E-4683-AE60-41BAF88D3F22}"/>
              </a:ext>
            </a:extLst>
          </p:cNvPr>
          <p:cNvSpPr>
            <a:spLocks xmlns:a="http://schemas.openxmlformats.org/drawingml/2006/main" noGrp="1"/>
          </p:cNvSpPr>
          <p:nvPr/>
        </p:nvSpPr>
        <p:spPr>
          <a:xfrm xmlns:a="http://schemas.openxmlformats.org/drawingml/2006/main">
            <a:off x="857250" y="23336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75" b="1">
                <a:solidFill>
                  <a:srgbClr val="5B6B76"/>
                </a:solidFill>
                <a:latin typeface="Arial"/>
                <a:ea typeface="Arial"/>
                <a:cs typeface="Arial"/>
              </a:defRPr>
            </a:pPr>
            <a:r>
              <a:rPr sz="1400" b="1">
                <a:solidFill>
                  <a:srgbClr val="5B6B76"/>
                </a:solidFill>
                <a:latin typeface="Segoe UI"/>
                <a:ea typeface="Segoe UI"/>
                <a:cs typeface="Segoe UI"/>
              </a:rPr>
              <a:t>PATIENT</a:t>
            </a:r>
          </a:p>
        </p:txBody>
      </p:sp>
      <p:sp>
        <p:nvSpPr>
          <p:cNvPr id="13" name="">
            <a:extLst xmlns:a="http://schemas.openxmlformats.org/drawingml/2006/main">
              <a:ext uri="{FF2B5EF4-FFF2-40B4-BE49-F238E27FC236}">
                <a16:creationId xmlns:a16="http://schemas.microsoft.com/office/drawing/2014/main" id="{7F49F290-EEE6-4A15-A352-A95B9F2827C2}"/>
              </a:ext>
            </a:extLst>
          </p:cNvPr>
          <p:cNvSpPr>
            <a:spLocks xmlns:a="http://schemas.openxmlformats.org/drawingml/2006/main" noGrp="1"/>
          </p:cNvSpPr>
          <p:nvPr/>
        </p:nvSpPr>
        <p:spPr>
          <a:xfrm xmlns:a="http://schemas.openxmlformats.org/drawingml/2006/main">
            <a:off x="2857500" y="2333625"/>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75" b="1">
                <a:solidFill>
                  <a:srgbClr val="5B6B76"/>
                </a:solidFill>
                <a:latin typeface="Arial"/>
                <a:ea typeface="Arial"/>
                <a:cs typeface="Arial"/>
              </a:defRPr>
            </a:pPr>
            <a:r>
              <a:rPr sz="1400" b="1">
                <a:solidFill>
                  <a:srgbClr val="5B6B76"/>
                </a:solidFill>
                <a:latin typeface="Segoe UI"/>
                <a:ea typeface="Segoe UI"/>
                <a:cs typeface="Segoe UI"/>
              </a:rPr>
              <a:t>GROUP</a:t>
            </a:r>
          </a:p>
        </p:txBody>
      </p:sp>
      <p:sp>
        <p:nvSpPr>
          <p:cNvPr id="14" name="">
            <a:extLst xmlns:a="http://schemas.openxmlformats.org/drawingml/2006/main">
              <a:ext uri="{FF2B5EF4-FFF2-40B4-BE49-F238E27FC236}">
                <a16:creationId xmlns:a16="http://schemas.microsoft.com/office/drawing/2014/main" id="{28D4DA5A-30BD-4F71-928B-584CABDB26DE}"/>
              </a:ext>
            </a:extLst>
          </p:cNvPr>
          <p:cNvSpPr>
            <a:spLocks xmlns:a="http://schemas.openxmlformats.org/drawingml/2006/main" noGrp="1"/>
          </p:cNvSpPr>
          <p:nvPr/>
        </p:nvSpPr>
        <p:spPr>
          <a:xfrm xmlns:a="http://schemas.openxmlformats.org/drawingml/2006/main">
            <a:off x="4905375" y="2333625"/>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75" b="1">
                <a:solidFill>
                  <a:srgbClr val="5B6B76"/>
                </a:solidFill>
                <a:latin typeface="Arial"/>
                <a:ea typeface="Arial"/>
                <a:cs typeface="Arial"/>
              </a:defRPr>
            </a:pPr>
            <a:r>
              <a:rPr sz="1400" b="1">
                <a:solidFill>
                  <a:srgbClr val="5B6B76"/>
                </a:solidFill>
                <a:latin typeface="Segoe UI"/>
                <a:ea typeface="Segoe UI"/>
                <a:cs typeface="Segoe UI"/>
              </a:rPr>
              <a:t>LATEST CGM</a:t>
            </a:r>
          </a:p>
        </p:txBody>
      </p:sp>
      <p:sp>
        <p:nvSpPr>
          <p:cNvPr id="15" name="">
            <a:extLst xmlns:a="http://schemas.openxmlformats.org/drawingml/2006/main">
              <a:ext uri="{FF2B5EF4-FFF2-40B4-BE49-F238E27FC236}">
                <a16:creationId xmlns:a16="http://schemas.microsoft.com/office/drawing/2014/main" id="{CB8E3B56-2994-4B16-AC5C-A8851340B802}"/>
              </a:ext>
            </a:extLst>
          </p:cNvPr>
          <p:cNvSpPr>
            <a:spLocks xmlns:a="http://schemas.openxmlformats.org/drawingml/2006/main" noGrp="1"/>
          </p:cNvSpPr>
          <p:nvPr/>
        </p:nvSpPr>
        <p:spPr>
          <a:xfrm xmlns:a="http://schemas.openxmlformats.org/drawingml/2006/main">
            <a:off x="6905625" y="2333625"/>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75" b="1">
                <a:solidFill>
                  <a:srgbClr val="5B6B76"/>
                </a:solidFill>
                <a:latin typeface="Arial"/>
                <a:ea typeface="Arial"/>
                <a:cs typeface="Arial"/>
              </a:defRPr>
            </a:pPr>
            <a:r>
              <a:rPr sz="1400" b="1">
                <a:solidFill>
                  <a:srgbClr val="5B6B76"/>
                </a:solidFill>
                <a:latin typeface="Segoe UI"/>
                <a:ea typeface="Segoe UI"/>
                <a:cs typeface="Segoe UI"/>
              </a:rPr>
              <a:t>2H SCORE*</a:t>
            </a:r>
          </a:p>
        </p:txBody>
      </p:sp>
      <p:sp>
        <p:nvSpPr>
          <p:cNvPr id="16" name="">
            <a:extLst xmlns:a="http://schemas.openxmlformats.org/drawingml/2006/main">
              <a:ext uri="{FF2B5EF4-FFF2-40B4-BE49-F238E27FC236}">
                <a16:creationId xmlns:a16="http://schemas.microsoft.com/office/drawing/2014/main" id="{32C3C2AC-4FF3-4334-8C25-8305F6450214}"/>
              </a:ext>
            </a:extLst>
          </p:cNvPr>
          <p:cNvSpPr>
            <a:spLocks xmlns:a="http://schemas.openxmlformats.org/drawingml/2006/main" noGrp="1"/>
          </p:cNvSpPr>
          <p:nvPr/>
        </p:nvSpPr>
        <p:spPr>
          <a:xfrm xmlns:a="http://schemas.openxmlformats.org/drawingml/2006/main">
            <a:off x="8905875" y="2333625"/>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75" b="1">
                <a:solidFill>
                  <a:srgbClr val="5B6B76"/>
                </a:solidFill>
                <a:latin typeface="Arial"/>
                <a:ea typeface="Arial"/>
                <a:cs typeface="Arial"/>
              </a:defRPr>
            </a:pPr>
            <a:r>
              <a:rPr sz="1400" b="1">
                <a:solidFill>
                  <a:srgbClr val="5B6B76"/>
                </a:solidFill>
                <a:latin typeface="Segoe UI"/>
                <a:ea typeface="Segoe UI"/>
                <a:cs typeface="Segoe UI"/>
              </a:rPr>
              <a:t>REVIEW</a:t>
            </a:r>
          </a:p>
        </p:txBody>
      </p:sp>
      <p:sp>
        <p:nvSpPr>
          <p:cNvPr id="17" name="">
            <a:extLst xmlns:a="http://schemas.openxmlformats.org/drawingml/2006/main">
              <a:ext uri="{FF2B5EF4-FFF2-40B4-BE49-F238E27FC236}">
                <a16:creationId xmlns:a16="http://schemas.microsoft.com/office/drawing/2014/main" id="{D8CAD9B5-95E4-4B9B-A8A2-88B7F27A0F93}"/>
              </a:ext>
            </a:extLst>
          </p:cNvPr>
          <p:cNvSpPr>
            <a:spLocks xmlns:a="http://schemas.openxmlformats.org/drawingml/2006/main" noGrp="1"/>
          </p:cNvSpPr>
          <p:nvPr/>
        </p:nvSpPr>
        <p:spPr>
          <a:xfrm xmlns:a="http://schemas.openxmlformats.org/drawingml/2006/main">
            <a:off x="781050" y="2686050"/>
            <a:ext cx="10620375" cy="552450"/>
          </a:xfrm>
          <a:prstGeom xmlns:a="http://schemas.openxmlformats.org/drawingml/2006/main" prst="rect">
            <a:avLst/>
          </a:prstGeom>
          <a:solidFill xmlns:a="http://schemas.openxmlformats.org/drawingml/2006/main">
            <a:srgbClr val="E6F4F1"/>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5BDBCB32-A69D-4172-94FA-27420BD3CA8D}"/>
              </a:ext>
            </a:extLst>
          </p:cNvPr>
          <p:cNvSpPr>
            <a:spLocks xmlns:a="http://schemas.openxmlformats.org/drawingml/2006/main" noGrp="1"/>
          </p:cNvSpPr>
          <p:nvPr/>
        </p:nvSpPr>
        <p:spPr>
          <a:xfrm xmlns:a="http://schemas.openxmlformats.org/drawingml/2006/main">
            <a:off x="857250" y="2733675"/>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00" b="1">
                <a:solidFill>
                  <a:srgbClr val="0B2A3C"/>
                </a:solidFill>
                <a:latin typeface="Arial"/>
                <a:ea typeface="Arial"/>
                <a:cs typeface="Arial"/>
              </a:defRPr>
            </a:pPr>
            <a:r>
              <a:rPr sz="1400" b="1">
                <a:solidFill>
                  <a:srgbClr val="0B2A3C"/>
                </a:solidFill>
                <a:latin typeface="Segoe UI"/>
                <a:ea typeface="Segoe UI"/>
                <a:cs typeface="Segoe UI"/>
              </a:rPr>
              <a:t>P-023</a:t>
            </a:r>
          </a:p>
        </p:txBody>
      </p:sp>
      <p:sp>
        <p:nvSpPr>
          <p:cNvPr id="19" name="">
            <a:extLst xmlns:a="http://schemas.openxmlformats.org/drawingml/2006/main">
              <a:ext uri="{FF2B5EF4-FFF2-40B4-BE49-F238E27FC236}">
                <a16:creationId xmlns:a16="http://schemas.microsoft.com/office/drawing/2014/main" id="{C122C942-1CCB-48E4-B3B9-602CF80359F3}"/>
              </a:ext>
            </a:extLst>
          </p:cNvPr>
          <p:cNvSpPr>
            <a:spLocks xmlns:a="http://schemas.openxmlformats.org/drawingml/2006/main" noGrp="1"/>
          </p:cNvSpPr>
          <p:nvPr/>
        </p:nvSpPr>
        <p:spPr>
          <a:xfrm xmlns:a="http://schemas.openxmlformats.org/drawingml/2006/main">
            <a:off x="2857500" y="2733675"/>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125" b="0">
                <a:solidFill>
                  <a:srgbClr val="0B2A3C"/>
                </a:solidFill>
                <a:latin typeface="Arial"/>
                <a:ea typeface="Arial"/>
                <a:cs typeface="Arial"/>
              </a:defRPr>
            </a:pPr>
            <a:r>
              <a:rPr sz="1400" b="0">
                <a:solidFill>
                  <a:srgbClr val="0B2A3C"/>
                </a:solidFill>
                <a:latin typeface="Calibri"/>
                <a:ea typeface="Calibri"/>
                <a:cs typeface="Calibri"/>
              </a:rPr>
              <a:t>T2D-range</a:t>
            </a:r>
          </a:p>
        </p:txBody>
      </p:sp>
      <p:sp>
        <p:nvSpPr>
          <p:cNvPr id="20" name="">
            <a:extLst xmlns:a="http://schemas.openxmlformats.org/drawingml/2006/main">
              <a:ext uri="{FF2B5EF4-FFF2-40B4-BE49-F238E27FC236}">
                <a16:creationId xmlns:a16="http://schemas.microsoft.com/office/drawing/2014/main" id="{4AA44FBB-6E41-42F0-B47A-9400C60790B7}"/>
              </a:ext>
            </a:extLst>
          </p:cNvPr>
          <p:cNvSpPr>
            <a:spLocks xmlns:a="http://schemas.openxmlformats.org/drawingml/2006/main" noGrp="1"/>
          </p:cNvSpPr>
          <p:nvPr/>
        </p:nvSpPr>
        <p:spPr>
          <a:xfrm xmlns:a="http://schemas.openxmlformats.org/drawingml/2006/main">
            <a:off x="4905375" y="2733675"/>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125" b="0">
                <a:solidFill>
                  <a:srgbClr val="0B2A3C"/>
                </a:solidFill>
                <a:latin typeface="Arial"/>
                <a:ea typeface="Arial"/>
                <a:cs typeface="Arial"/>
              </a:defRPr>
            </a:pPr>
            <a:r>
              <a:rPr sz="1400" b="0">
                <a:solidFill>
                  <a:srgbClr val="0B2A3C"/>
                </a:solidFill>
                <a:latin typeface="Calibri"/>
                <a:ea typeface="Calibri"/>
                <a:cs typeface="Calibri"/>
              </a:rPr>
              <a:t>168 mg/dL</a:t>
            </a:r>
          </a:p>
        </p:txBody>
      </p:sp>
      <p:sp>
        <p:nvSpPr>
          <p:cNvPr id="21" name="">
            <a:extLst xmlns:a="http://schemas.openxmlformats.org/drawingml/2006/main">
              <a:ext uri="{FF2B5EF4-FFF2-40B4-BE49-F238E27FC236}">
                <a16:creationId xmlns:a16="http://schemas.microsoft.com/office/drawing/2014/main" id="{7344CF63-54C3-4B59-B1C0-F5522CF22727}"/>
              </a:ext>
            </a:extLst>
          </p:cNvPr>
          <p:cNvSpPr>
            <a:spLocks xmlns:a="http://schemas.openxmlformats.org/drawingml/2006/main" noGrp="1"/>
          </p:cNvSpPr>
          <p:nvPr/>
        </p:nvSpPr>
        <p:spPr>
          <a:xfrm xmlns:a="http://schemas.openxmlformats.org/drawingml/2006/main">
            <a:off x="6905625" y="2733675"/>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125" b="1">
                <a:solidFill>
                  <a:srgbClr val="0F8B8D"/>
                </a:solidFill>
                <a:latin typeface="Arial"/>
                <a:ea typeface="Arial"/>
                <a:cs typeface="Arial"/>
              </a:defRPr>
            </a:pPr>
            <a:r>
              <a:rPr sz="1400" b="1">
                <a:solidFill>
                  <a:srgbClr val="0F8B8D"/>
                </a:solidFill>
                <a:latin typeface="Consolas"/>
                <a:ea typeface="Consolas"/>
                <a:cs typeface="Consolas"/>
              </a:rPr>
              <a:t>62%</a:t>
            </a:r>
          </a:p>
        </p:txBody>
      </p:sp>
      <p:sp>
        <p:nvSpPr>
          <p:cNvPr id="22" name="">
            <a:extLst xmlns:a="http://schemas.openxmlformats.org/drawingml/2006/main">
              <a:ext uri="{FF2B5EF4-FFF2-40B4-BE49-F238E27FC236}">
                <a16:creationId xmlns:a16="http://schemas.microsoft.com/office/drawing/2014/main" id="{00289BEB-8EC9-4715-A2FF-C9DBF6B3CEE8}"/>
              </a:ext>
            </a:extLst>
          </p:cNvPr>
          <p:cNvSpPr>
            <a:spLocks xmlns:a="http://schemas.openxmlformats.org/drawingml/2006/main" noGrp="1"/>
          </p:cNvSpPr>
          <p:nvPr/>
        </p:nvSpPr>
        <p:spPr>
          <a:xfrm xmlns:a="http://schemas.openxmlformats.org/drawingml/2006/main">
            <a:off x="8905875" y="2733675"/>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125" b="0">
                <a:solidFill>
                  <a:srgbClr val="0B2A3C"/>
                </a:solidFill>
                <a:latin typeface="Arial"/>
                <a:ea typeface="Arial"/>
                <a:cs typeface="Arial"/>
              </a:defRPr>
            </a:pPr>
            <a:r>
              <a:rPr sz="1400" b="0">
                <a:solidFill>
                  <a:srgbClr val="0B2A3C"/>
                </a:solidFill>
                <a:latin typeface="Calibri"/>
                <a:ea typeface="Calibri"/>
                <a:cs typeface="Calibri"/>
              </a:rPr>
              <a:t>Open</a:t>
            </a:r>
          </a:p>
        </p:txBody>
      </p:sp>
      <p:sp>
        <p:nvSpPr>
          <p:cNvPr id="23" name="">
            <a:extLst xmlns:a="http://schemas.openxmlformats.org/drawingml/2006/main">
              <a:ext uri="{FF2B5EF4-FFF2-40B4-BE49-F238E27FC236}">
                <a16:creationId xmlns:a16="http://schemas.microsoft.com/office/drawing/2014/main" id="{2D64B879-BA5F-49B9-A705-961C0F6058F3}"/>
              </a:ext>
            </a:extLst>
          </p:cNvPr>
          <p:cNvSpPr>
            <a:spLocks xmlns:a="http://schemas.openxmlformats.org/drawingml/2006/main" noGrp="1"/>
          </p:cNvSpPr>
          <p:nvPr/>
        </p:nvSpPr>
        <p:spPr>
          <a:xfrm xmlns:a="http://schemas.openxmlformats.org/drawingml/2006/main">
            <a:off x="781050" y="3352800"/>
            <a:ext cx="10620375" cy="552450"/>
          </a:xfrm>
          <a:prstGeom xmlns:a="http://schemas.openxmlformats.org/drawingml/2006/main" prst="rect">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24" name="">
            <a:extLst xmlns:a="http://schemas.openxmlformats.org/drawingml/2006/main">
              <a:ext uri="{FF2B5EF4-FFF2-40B4-BE49-F238E27FC236}">
                <a16:creationId xmlns:a16="http://schemas.microsoft.com/office/drawing/2014/main" id="{533E0BBD-7DEB-4F25-A048-6DB26232DA58}"/>
              </a:ext>
            </a:extLst>
          </p:cNvPr>
          <p:cNvSpPr>
            <a:spLocks xmlns:a="http://schemas.openxmlformats.org/drawingml/2006/main" noGrp="1"/>
          </p:cNvSpPr>
          <p:nvPr/>
        </p:nvSpPr>
        <p:spPr>
          <a:xfrm xmlns:a="http://schemas.openxmlformats.org/drawingml/2006/main">
            <a:off x="857250" y="3400425"/>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00" b="1">
                <a:solidFill>
                  <a:srgbClr val="0B2A3C"/>
                </a:solidFill>
                <a:latin typeface="Arial"/>
                <a:ea typeface="Arial"/>
                <a:cs typeface="Arial"/>
              </a:defRPr>
            </a:pPr>
            <a:r>
              <a:rPr sz="1400" b="1">
                <a:solidFill>
                  <a:srgbClr val="0B2A3C"/>
                </a:solidFill>
                <a:latin typeface="Segoe UI"/>
                <a:ea typeface="Segoe UI"/>
                <a:cs typeface="Segoe UI"/>
              </a:rPr>
              <a:t>P-011</a:t>
            </a:r>
          </a:p>
        </p:txBody>
      </p:sp>
      <p:sp>
        <p:nvSpPr>
          <p:cNvPr id="25" name="">
            <a:extLst xmlns:a="http://schemas.openxmlformats.org/drawingml/2006/main">
              <a:ext uri="{FF2B5EF4-FFF2-40B4-BE49-F238E27FC236}">
                <a16:creationId xmlns:a16="http://schemas.microsoft.com/office/drawing/2014/main" id="{36C9B992-734F-4D1A-9692-115C89E5F641}"/>
              </a:ext>
            </a:extLst>
          </p:cNvPr>
          <p:cNvSpPr>
            <a:spLocks xmlns:a="http://schemas.openxmlformats.org/drawingml/2006/main" noGrp="1"/>
          </p:cNvSpPr>
          <p:nvPr/>
        </p:nvSpPr>
        <p:spPr>
          <a:xfrm xmlns:a="http://schemas.openxmlformats.org/drawingml/2006/main">
            <a:off x="2857500" y="3400425"/>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125" b="0">
                <a:solidFill>
                  <a:srgbClr val="0B2A3C"/>
                </a:solidFill>
                <a:latin typeface="Arial"/>
                <a:ea typeface="Arial"/>
                <a:cs typeface="Arial"/>
              </a:defRPr>
            </a:pPr>
            <a:r>
              <a:rPr sz="1400" b="0">
                <a:solidFill>
                  <a:srgbClr val="0B2A3C"/>
                </a:solidFill>
                <a:latin typeface="Calibri"/>
                <a:ea typeface="Calibri"/>
                <a:cs typeface="Calibri"/>
              </a:rPr>
              <a:t>Prediabetes</a:t>
            </a:r>
          </a:p>
        </p:txBody>
      </p:sp>
      <p:sp>
        <p:nvSpPr>
          <p:cNvPr id="26" name="">
            <a:extLst xmlns:a="http://schemas.openxmlformats.org/drawingml/2006/main">
              <a:ext uri="{FF2B5EF4-FFF2-40B4-BE49-F238E27FC236}">
                <a16:creationId xmlns:a16="http://schemas.microsoft.com/office/drawing/2014/main" id="{9DC3368C-4443-4057-94F8-05E67AEDF5E2}"/>
              </a:ext>
            </a:extLst>
          </p:cNvPr>
          <p:cNvSpPr>
            <a:spLocks xmlns:a="http://schemas.openxmlformats.org/drawingml/2006/main" noGrp="1"/>
          </p:cNvSpPr>
          <p:nvPr/>
        </p:nvSpPr>
        <p:spPr>
          <a:xfrm xmlns:a="http://schemas.openxmlformats.org/drawingml/2006/main">
            <a:off x="4905375" y="3400425"/>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125" b="0">
                <a:solidFill>
                  <a:srgbClr val="0B2A3C"/>
                </a:solidFill>
                <a:latin typeface="Arial"/>
                <a:ea typeface="Arial"/>
                <a:cs typeface="Arial"/>
              </a:defRPr>
            </a:pPr>
            <a:r>
              <a:rPr sz="1400" b="0">
                <a:solidFill>
                  <a:srgbClr val="0B2A3C"/>
                </a:solidFill>
                <a:latin typeface="Calibri"/>
                <a:ea typeface="Calibri"/>
                <a:cs typeface="Calibri"/>
              </a:rPr>
              <a:t>142 mg/dL</a:t>
            </a:r>
          </a:p>
        </p:txBody>
      </p:sp>
      <p:sp>
        <p:nvSpPr>
          <p:cNvPr id="27" name="">
            <a:extLst xmlns:a="http://schemas.openxmlformats.org/drawingml/2006/main">
              <a:ext uri="{FF2B5EF4-FFF2-40B4-BE49-F238E27FC236}">
                <a16:creationId xmlns:a16="http://schemas.microsoft.com/office/drawing/2014/main" id="{5DDABC20-5050-4F71-8B2E-6B49BF6CC836}"/>
              </a:ext>
            </a:extLst>
          </p:cNvPr>
          <p:cNvSpPr>
            <a:spLocks xmlns:a="http://schemas.openxmlformats.org/drawingml/2006/main" noGrp="1"/>
          </p:cNvSpPr>
          <p:nvPr/>
        </p:nvSpPr>
        <p:spPr>
          <a:xfrm xmlns:a="http://schemas.openxmlformats.org/drawingml/2006/main">
            <a:off x="6905625" y="3400425"/>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125" b="1">
                <a:solidFill>
                  <a:srgbClr val="0F8B8D"/>
                </a:solidFill>
                <a:latin typeface="Arial"/>
                <a:ea typeface="Arial"/>
                <a:cs typeface="Arial"/>
              </a:defRPr>
            </a:pPr>
            <a:r>
              <a:rPr sz="1400" b="1">
                <a:solidFill>
                  <a:srgbClr val="0F8B8D"/>
                </a:solidFill>
                <a:latin typeface="Consolas"/>
                <a:ea typeface="Consolas"/>
                <a:cs typeface="Consolas"/>
              </a:rPr>
              <a:t>41%</a:t>
            </a:r>
          </a:p>
        </p:txBody>
      </p:sp>
      <p:sp>
        <p:nvSpPr>
          <p:cNvPr id="28" name="">
            <a:extLst xmlns:a="http://schemas.openxmlformats.org/drawingml/2006/main">
              <a:ext uri="{FF2B5EF4-FFF2-40B4-BE49-F238E27FC236}">
                <a16:creationId xmlns:a16="http://schemas.microsoft.com/office/drawing/2014/main" id="{E2882613-3C29-4807-A428-92DCB64E82E5}"/>
              </a:ext>
            </a:extLst>
          </p:cNvPr>
          <p:cNvSpPr>
            <a:spLocks xmlns:a="http://schemas.openxmlformats.org/drawingml/2006/main" noGrp="1"/>
          </p:cNvSpPr>
          <p:nvPr/>
        </p:nvSpPr>
        <p:spPr>
          <a:xfrm xmlns:a="http://schemas.openxmlformats.org/drawingml/2006/main">
            <a:off x="8905875" y="3400425"/>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125" b="0">
                <a:solidFill>
                  <a:srgbClr val="0B2A3C"/>
                </a:solidFill>
                <a:latin typeface="Arial"/>
                <a:ea typeface="Arial"/>
                <a:cs typeface="Arial"/>
              </a:defRPr>
            </a:pPr>
            <a:r>
              <a:rPr sz="1400" b="0">
                <a:solidFill>
                  <a:srgbClr val="0B2A3C"/>
                </a:solidFill>
                <a:latin typeface="Calibri"/>
                <a:ea typeface="Calibri"/>
                <a:cs typeface="Calibri"/>
              </a:rPr>
              <a:t>Open</a:t>
            </a:r>
          </a:p>
        </p:txBody>
      </p:sp>
      <p:sp>
        <p:nvSpPr>
          <p:cNvPr id="29" name="">
            <a:extLst xmlns:a="http://schemas.openxmlformats.org/drawingml/2006/main">
              <a:ext uri="{FF2B5EF4-FFF2-40B4-BE49-F238E27FC236}">
                <a16:creationId xmlns:a16="http://schemas.microsoft.com/office/drawing/2014/main" id="{7F0DDDAB-1895-476C-9F98-047142CD95EC}"/>
              </a:ext>
            </a:extLst>
          </p:cNvPr>
          <p:cNvSpPr>
            <a:spLocks xmlns:a="http://schemas.openxmlformats.org/drawingml/2006/main" noGrp="1"/>
          </p:cNvSpPr>
          <p:nvPr/>
        </p:nvSpPr>
        <p:spPr>
          <a:xfrm xmlns:a="http://schemas.openxmlformats.org/drawingml/2006/main">
            <a:off x="781050" y="4019550"/>
            <a:ext cx="10620375" cy="552450"/>
          </a:xfrm>
          <a:prstGeom xmlns:a="http://schemas.openxmlformats.org/drawingml/2006/main" prst="rect">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30" name="">
            <a:extLst xmlns:a="http://schemas.openxmlformats.org/drawingml/2006/main">
              <a:ext uri="{FF2B5EF4-FFF2-40B4-BE49-F238E27FC236}">
                <a16:creationId xmlns:a16="http://schemas.microsoft.com/office/drawing/2014/main" id="{D99BEAB6-D97C-46AC-980D-65D04ADE7124}"/>
              </a:ext>
            </a:extLst>
          </p:cNvPr>
          <p:cNvSpPr>
            <a:spLocks xmlns:a="http://schemas.openxmlformats.org/drawingml/2006/main" noGrp="1"/>
          </p:cNvSpPr>
          <p:nvPr/>
        </p:nvSpPr>
        <p:spPr>
          <a:xfrm xmlns:a="http://schemas.openxmlformats.org/drawingml/2006/main">
            <a:off x="857250" y="4067175"/>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00" b="1">
                <a:solidFill>
                  <a:srgbClr val="0B2A3C"/>
                </a:solidFill>
                <a:latin typeface="Arial"/>
                <a:ea typeface="Arial"/>
                <a:cs typeface="Arial"/>
              </a:defRPr>
            </a:pPr>
            <a:r>
              <a:rPr sz="1400" b="1">
                <a:solidFill>
                  <a:srgbClr val="0B2A3C"/>
                </a:solidFill>
                <a:latin typeface="Segoe UI"/>
                <a:ea typeface="Segoe UI"/>
                <a:cs typeface="Segoe UI"/>
              </a:rPr>
              <a:t>P-006</a:t>
            </a:r>
          </a:p>
        </p:txBody>
      </p:sp>
      <p:sp>
        <p:nvSpPr>
          <p:cNvPr id="31" name="">
            <a:extLst xmlns:a="http://schemas.openxmlformats.org/drawingml/2006/main">
              <a:ext uri="{FF2B5EF4-FFF2-40B4-BE49-F238E27FC236}">
                <a16:creationId xmlns:a16="http://schemas.microsoft.com/office/drawing/2014/main" id="{EE029355-6A8A-4446-827C-A7EA1F751FEB}"/>
              </a:ext>
            </a:extLst>
          </p:cNvPr>
          <p:cNvSpPr>
            <a:spLocks xmlns:a="http://schemas.openxmlformats.org/drawingml/2006/main" noGrp="1"/>
          </p:cNvSpPr>
          <p:nvPr/>
        </p:nvSpPr>
        <p:spPr>
          <a:xfrm xmlns:a="http://schemas.openxmlformats.org/drawingml/2006/main">
            <a:off x="2857500" y="4067175"/>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125" b="0">
                <a:solidFill>
                  <a:srgbClr val="0B2A3C"/>
                </a:solidFill>
                <a:latin typeface="Arial"/>
                <a:ea typeface="Arial"/>
                <a:cs typeface="Arial"/>
              </a:defRPr>
            </a:pPr>
            <a:r>
              <a:rPr sz="1400" b="0">
                <a:solidFill>
                  <a:srgbClr val="0B2A3C"/>
                </a:solidFill>
                <a:latin typeface="Calibri"/>
                <a:ea typeface="Calibri"/>
                <a:cs typeface="Calibri"/>
              </a:rPr>
              <a:t>T2D-range</a:t>
            </a:r>
          </a:p>
        </p:txBody>
      </p:sp>
      <p:sp>
        <p:nvSpPr>
          <p:cNvPr id="32" name="">
            <a:extLst xmlns:a="http://schemas.openxmlformats.org/drawingml/2006/main">
              <a:ext uri="{FF2B5EF4-FFF2-40B4-BE49-F238E27FC236}">
                <a16:creationId xmlns:a16="http://schemas.microsoft.com/office/drawing/2014/main" id="{4C6A123A-2CD6-443C-8420-BED7BE5A2FC0}"/>
              </a:ext>
            </a:extLst>
          </p:cNvPr>
          <p:cNvSpPr>
            <a:spLocks xmlns:a="http://schemas.openxmlformats.org/drawingml/2006/main" noGrp="1"/>
          </p:cNvSpPr>
          <p:nvPr/>
        </p:nvSpPr>
        <p:spPr>
          <a:xfrm xmlns:a="http://schemas.openxmlformats.org/drawingml/2006/main">
            <a:off x="4905375" y="4067175"/>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125" b="0">
                <a:solidFill>
                  <a:srgbClr val="0B2A3C"/>
                </a:solidFill>
                <a:latin typeface="Arial"/>
                <a:ea typeface="Arial"/>
                <a:cs typeface="Arial"/>
              </a:defRPr>
            </a:pPr>
            <a:r>
              <a:rPr sz="1400" b="0">
                <a:solidFill>
                  <a:srgbClr val="0B2A3C"/>
                </a:solidFill>
                <a:latin typeface="Calibri"/>
                <a:ea typeface="Calibri"/>
                <a:cs typeface="Calibri"/>
              </a:rPr>
              <a:t>131 mg/dL</a:t>
            </a:r>
          </a:p>
        </p:txBody>
      </p:sp>
      <p:sp>
        <p:nvSpPr>
          <p:cNvPr id="33" name="">
            <a:extLst xmlns:a="http://schemas.openxmlformats.org/drawingml/2006/main">
              <a:ext uri="{FF2B5EF4-FFF2-40B4-BE49-F238E27FC236}">
                <a16:creationId xmlns:a16="http://schemas.microsoft.com/office/drawing/2014/main" id="{7766167B-AB29-4261-8551-EE44BB123172}"/>
              </a:ext>
            </a:extLst>
          </p:cNvPr>
          <p:cNvSpPr>
            <a:spLocks xmlns:a="http://schemas.openxmlformats.org/drawingml/2006/main" noGrp="1"/>
          </p:cNvSpPr>
          <p:nvPr/>
        </p:nvSpPr>
        <p:spPr>
          <a:xfrm xmlns:a="http://schemas.openxmlformats.org/drawingml/2006/main">
            <a:off x="6905625" y="4067175"/>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125" b="1">
                <a:solidFill>
                  <a:srgbClr val="0F8B8D"/>
                </a:solidFill>
                <a:latin typeface="Arial"/>
                <a:ea typeface="Arial"/>
                <a:cs typeface="Arial"/>
              </a:defRPr>
            </a:pPr>
            <a:r>
              <a:rPr sz="1400" b="1">
                <a:solidFill>
                  <a:srgbClr val="0F8B8D"/>
                </a:solidFill>
                <a:latin typeface="Consolas"/>
                <a:ea typeface="Consolas"/>
                <a:cs typeface="Consolas"/>
              </a:rPr>
              <a:t>29%</a:t>
            </a:r>
          </a:p>
        </p:txBody>
      </p:sp>
      <p:sp>
        <p:nvSpPr>
          <p:cNvPr id="34" name="">
            <a:extLst xmlns:a="http://schemas.openxmlformats.org/drawingml/2006/main">
              <a:ext uri="{FF2B5EF4-FFF2-40B4-BE49-F238E27FC236}">
                <a16:creationId xmlns:a16="http://schemas.microsoft.com/office/drawing/2014/main" id="{1D4E3EF7-82CB-4AD3-99A9-70AEAF9E6C3B}"/>
              </a:ext>
            </a:extLst>
          </p:cNvPr>
          <p:cNvSpPr>
            <a:spLocks xmlns:a="http://schemas.openxmlformats.org/drawingml/2006/main" noGrp="1"/>
          </p:cNvSpPr>
          <p:nvPr/>
        </p:nvSpPr>
        <p:spPr>
          <a:xfrm xmlns:a="http://schemas.openxmlformats.org/drawingml/2006/main">
            <a:off x="8905875" y="4067175"/>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125" b="0">
                <a:solidFill>
                  <a:srgbClr val="0B2A3C"/>
                </a:solidFill>
                <a:latin typeface="Arial"/>
                <a:ea typeface="Arial"/>
                <a:cs typeface="Arial"/>
              </a:defRPr>
            </a:pPr>
            <a:r>
              <a:rPr sz="1400" b="0">
                <a:solidFill>
                  <a:srgbClr val="0B2A3C"/>
                </a:solidFill>
                <a:latin typeface="Calibri"/>
                <a:ea typeface="Calibri"/>
                <a:cs typeface="Calibri"/>
              </a:rPr>
              <a:t>Open</a:t>
            </a:r>
          </a:p>
        </p:txBody>
      </p:sp>
      <p:sp>
        <p:nvSpPr>
          <p:cNvPr id="35" name="">
            <a:extLst xmlns:a="http://schemas.openxmlformats.org/drawingml/2006/main">
              <a:ext uri="{FF2B5EF4-FFF2-40B4-BE49-F238E27FC236}">
                <a16:creationId xmlns:a16="http://schemas.microsoft.com/office/drawing/2014/main" id="{BEA3059A-F12D-4C4A-9F7B-75932CD4B2AD}"/>
              </a:ext>
            </a:extLst>
          </p:cNvPr>
          <p:cNvSpPr>
            <a:spLocks xmlns:a="http://schemas.openxmlformats.org/drawingml/2006/main" noGrp="1"/>
          </p:cNvSpPr>
          <p:nvPr/>
        </p:nvSpPr>
        <p:spPr>
          <a:xfrm xmlns:a="http://schemas.openxmlformats.org/drawingml/2006/main">
            <a:off x="857250" y="4857750"/>
            <a:ext cx="1009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00" b="0">
                <a:solidFill>
                  <a:srgbClr val="0B2A3C"/>
                </a:solidFill>
                <a:latin typeface="Arial"/>
                <a:ea typeface="Arial"/>
                <a:cs typeface="Arial"/>
              </a:defRPr>
            </a:pPr>
            <a:r>
              <a:rPr sz="1400" b="0">
                <a:solidFill>
                  <a:srgbClr val="0B2A3C"/>
                </a:solidFill>
                <a:latin typeface="Calibri"/>
                <a:ea typeface="Calibri"/>
                <a:cs typeface="Calibri"/>
              </a:rPr>
              <a:t>1  Sort by model score for review in this prototype; this is not clinical urgency or triage.</a:t>
            </a:r>
          </a:p>
        </p:txBody>
      </p:sp>
      <p:sp>
        <p:nvSpPr>
          <p:cNvPr id="36" name="">
            <a:extLst xmlns:a="http://schemas.openxmlformats.org/drawingml/2006/main">
              <a:ext uri="{FF2B5EF4-FFF2-40B4-BE49-F238E27FC236}">
                <a16:creationId xmlns:a16="http://schemas.microsoft.com/office/drawing/2014/main" id="{1AFE3B15-5E42-4F9A-8483-AF0DEAFDCB87}"/>
              </a:ext>
            </a:extLst>
          </p:cNvPr>
          <p:cNvSpPr>
            <a:spLocks xmlns:a="http://schemas.openxmlformats.org/drawingml/2006/main" noGrp="1"/>
          </p:cNvSpPr>
          <p:nvPr/>
        </p:nvSpPr>
        <p:spPr>
          <a:xfrm xmlns:a="http://schemas.openxmlformats.org/drawingml/2006/main">
            <a:off x="857250" y="5219700"/>
            <a:ext cx="1009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00" b="0">
                <a:solidFill>
                  <a:srgbClr val="0B2A3C"/>
                </a:solidFill>
                <a:latin typeface="Arial"/>
                <a:ea typeface="Arial"/>
                <a:cs typeface="Arial"/>
              </a:defRPr>
            </a:pPr>
            <a:r>
              <a:rPr sz="1400" b="0">
                <a:solidFill>
                  <a:srgbClr val="0B2A3C"/>
                </a:solidFill>
                <a:latin typeface="Calibri"/>
                <a:ea typeface="Calibri"/>
                <a:cs typeface="Calibri"/>
              </a:rPr>
              <a:t>2  Select a row to inspect the glucose trace, forecast window, and available context.</a:t>
            </a:r>
          </a:p>
        </p:txBody>
      </p:sp>
      <p:sp>
        <p:nvSpPr>
          <p:cNvPr id="37" name="">
            <a:extLst xmlns:a="http://schemas.openxmlformats.org/drawingml/2006/main">
              <a:ext uri="{FF2B5EF4-FFF2-40B4-BE49-F238E27FC236}">
                <a16:creationId xmlns:a16="http://schemas.microsoft.com/office/drawing/2014/main" id="{867BB593-D2BB-4072-B337-4C8D77E501D5}"/>
              </a:ext>
            </a:extLst>
          </p:cNvPr>
          <p:cNvSpPr>
            <a:spLocks xmlns:a="http://schemas.openxmlformats.org/drawingml/2006/main" noGrp="1"/>
          </p:cNvSpPr>
          <p:nvPr/>
        </p:nvSpPr>
        <p:spPr>
          <a:xfrm xmlns:a="http://schemas.openxmlformats.org/drawingml/2006/main">
            <a:off x="857250" y="56197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050" b="1">
                <a:solidFill>
                  <a:srgbClr val="0F8B8D"/>
                </a:solidFill>
                <a:latin typeface="Arial"/>
                <a:ea typeface="Arial"/>
                <a:cs typeface="Arial"/>
              </a:defRPr>
            </a:pPr>
            <a:r>
              <a:rPr sz="1100" b="1">
                <a:solidFill>
                  <a:srgbClr val="0F8B8D"/>
                </a:solidFill>
                <a:latin typeface="Segoe UI"/>
                <a:ea typeface="Segoe UI"/>
                <a:cs typeface="Segoe UI"/>
              </a:rPr>
              <a:t>*Illustrative UI values—not actual patient predictions. No real patient data shown.</a:t>
            </a:r>
          </a:p>
        </p:txBody>
      </p:sp>
    </p:spTree>
    <p:extLst>
      <p:ext uri="{BB962C8B-B14F-4D97-AF65-F5344CB8AC3E}">
        <p14:creationId xmlns:p14="http://schemas.microsoft.com/office/powerpoint/2010/main" val="1828407388"/>
      </p:ext>
    </p:extLst>
  </p:cSld>
</p:sld>
</file>

<file path=ppt/slides/slide10.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D2BE048F-6C4A-4827-86D0-EEF5B731351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82631DC2-6C07-40BA-A4D2-733ED9AB37D3}"/>
              </a:ext>
            </a:extLst>
          </p:cNvPr>
          <p:cNvSpPr>
            <a:spLocks xmlns:a="http://schemas.openxmlformats.org/drawingml/2006/main" noGrp="1"/>
          </p:cNvSpPr>
          <p:nvPr/>
        </p:nvSpPr>
        <p:spPr>
          <a:xfrm xmlns:a="http://schemas.openxmlformats.org/drawingml/2006/main">
            <a:off x="647700" y="2857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75" b="1">
                <a:solidFill>
                  <a:srgbClr val="0F8B8D"/>
                </a:solidFill>
                <a:latin typeface="Arial"/>
                <a:ea typeface="Arial"/>
                <a:cs typeface="Arial"/>
              </a:defRPr>
            </a:pPr>
            <a:r>
              <a:rPr sz="1100" b="1">
                <a:solidFill>
                  <a:srgbClr val="0F8B8D"/>
                </a:solidFill>
                <a:latin typeface="Segoe UI"/>
                <a:ea typeface="Segoe UI"/>
                <a:cs typeface="Segoe UI"/>
              </a:rPr>
              <a:t>GLYCOTWIN  /  RESEARCH PROTOTYPE</a:t>
            </a:r>
          </a:p>
        </p:txBody>
      </p:sp>
      <p:sp>
        <p:nvSpPr>
          <p:cNvPr id="3" name="">
            <a:extLst xmlns:a="http://schemas.openxmlformats.org/drawingml/2006/main">
              <a:ext uri="{FF2B5EF4-FFF2-40B4-BE49-F238E27FC236}">
                <a16:creationId xmlns:a16="http://schemas.microsoft.com/office/drawing/2014/main" id="{BA31F28B-3DDC-4DA9-B633-A3629686B4C5}"/>
              </a:ext>
            </a:extLst>
          </p:cNvPr>
          <p:cNvSpPr>
            <a:spLocks xmlns:a="http://schemas.openxmlformats.org/drawingml/2006/main" noGrp="1"/>
          </p:cNvSpPr>
          <p:nvPr/>
        </p:nvSpPr>
        <p:spPr>
          <a:xfrm xmlns:a="http://schemas.openxmlformats.org/drawingml/2006/main">
            <a:off x="647700" y="5524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2550" b="1">
                <a:solidFill>
                  <a:srgbClr val="0B2A3C"/>
                </a:solidFill>
                <a:latin typeface="Arial"/>
                <a:ea typeface="Arial"/>
                <a:cs typeface="Arial"/>
              </a:defRPr>
            </a:pPr>
            <a:r>
              <a:rPr sz="2550" b="1">
                <a:solidFill>
                  <a:srgbClr val="0B2A3C"/>
                </a:solidFill>
                <a:latin typeface="Segoe UI"/>
                <a:ea typeface="Segoe UI"/>
                <a:cs typeface="Segoe UI"/>
              </a:rPr>
              <a:t>Concept screen 2  /  Single-patient review</a:t>
            </a:r>
          </a:p>
        </p:txBody>
      </p:sp>
      <p:sp>
        <p:nvSpPr>
          <p:cNvPr id="4" name="">
            <a:extLst xmlns:a="http://schemas.openxmlformats.org/drawingml/2006/main">
              <a:ext uri="{FF2B5EF4-FFF2-40B4-BE49-F238E27FC236}">
                <a16:creationId xmlns:a16="http://schemas.microsoft.com/office/drawing/2014/main" id="{71FE858E-B021-44F0-9910-46AA96B88919}"/>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line">
            <a:avLst/>
          </a:prstGeom>
          <a:solidFill xmlns:a="http://schemas.openxmlformats.org/drawingml/2006/main">
            <a:srgbClr val="D5DEE2"/>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0B069FA0-2A98-40CA-8F16-C21599912D05}"/>
              </a:ext>
            </a:extLst>
          </p:cNvPr>
          <p:cNvSpPr>
            <a:spLocks xmlns:a="http://schemas.openxmlformats.org/drawingml/2006/main" noGrp="1"/>
          </p:cNvSpPr>
          <p:nvPr/>
        </p:nvSpPr>
        <p:spPr>
          <a:xfrm xmlns:a="http://schemas.openxmlformats.org/drawingml/2006/main">
            <a:off x="647700" y="64960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00" b="0">
                <a:solidFill>
                  <a:srgbClr val="5B6B76"/>
                </a:solidFill>
                <a:latin typeface="Arial"/>
                <a:ea typeface="Arial"/>
                <a:cs typeface="Arial"/>
              </a:defRPr>
            </a:pPr>
            <a:r>
              <a:rPr sz="1100" b="0">
                <a:solidFill>
                  <a:srgbClr val="5B6B76"/>
                </a:solidFill>
                <a:latin typeface="Calibri"/>
                <a:ea typeface="Calibri"/>
                <a:cs typeface="Calibri"/>
              </a:rPr>
              <a:t>CGMacros retrospective PoC  •  not for clinical use</a:t>
            </a:r>
          </a:p>
        </p:txBody>
      </p:sp>
      <p:sp>
        <p:nvSpPr>
          <p:cNvPr id="6" name="">
            <a:extLst xmlns:a="http://schemas.openxmlformats.org/drawingml/2006/main">
              <a:ext uri="{FF2B5EF4-FFF2-40B4-BE49-F238E27FC236}">
                <a16:creationId xmlns:a16="http://schemas.microsoft.com/office/drawing/2014/main" id="{417A8FAE-A6DC-4428-AB03-6840B9E581E0}"/>
              </a:ext>
            </a:extLst>
          </p:cNvPr>
          <p:cNvSpPr>
            <a:spLocks xmlns:a="http://schemas.openxmlformats.org/drawingml/2006/main" noGrp="1"/>
          </p:cNvSpPr>
          <p:nvPr/>
        </p:nvSpPr>
        <p:spPr>
          <a:xfrm xmlns:a="http://schemas.openxmlformats.org/drawingml/2006/main">
            <a:off x="619125" y="1238250"/>
            <a:ext cx="10953750" cy="4762500"/>
          </a:xfrm>
          <a:prstGeom xmlns:a="http://schemas.openxmlformats.org/drawingml/2006/main" prst="roundRect">
            <a:avLst>
              <a:gd name="adj" fmla="val 1600"/>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DB8892FE-8159-4B55-B077-524E4F689B07}"/>
              </a:ext>
            </a:extLst>
          </p:cNvPr>
          <p:cNvSpPr>
            <a:spLocks xmlns:a="http://schemas.openxmlformats.org/drawingml/2006/main" noGrp="1"/>
          </p:cNvSpPr>
          <p:nvPr/>
        </p:nvSpPr>
        <p:spPr>
          <a:xfrm xmlns:a="http://schemas.openxmlformats.org/drawingml/2006/main">
            <a:off x="619125" y="1238250"/>
            <a:ext cx="10953750" cy="495300"/>
          </a:xfrm>
          <a:prstGeom xmlns:a="http://schemas.openxmlformats.org/drawingml/2006/main" prst="rect">
            <a:avLst/>
          </a:prstGeom>
          <a:solidFill xmlns:a="http://schemas.openxmlformats.org/drawingml/2006/main">
            <a:srgbClr val="0B2A3C"/>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D5D2F928-6E2B-42EA-94E2-634E4B738456}"/>
              </a:ext>
            </a:extLst>
          </p:cNvPr>
          <p:cNvSpPr>
            <a:spLocks xmlns:a="http://schemas.openxmlformats.org/drawingml/2006/main" noGrp="1"/>
          </p:cNvSpPr>
          <p:nvPr/>
        </p:nvSpPr>
        <p:spPr>
          <a:xfrm xmlns:a="http://schemas.openxmlformats.org/drawingml/2006/main">
            <a:off x="857250" y="1323975"/>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350" b="1">
                <a:solidFill>
                  <a:srgbClr val="F7FAFA"/>
                </a:solidFill>
                <a:latin typeface="Arial"/>
                <a:ea typeface="Arial"/>
                <a:cs typeface="Arial"/>
              </a:defRPr>
            </a:pPr>
            <a:r>
              <a:rPr sz="1400" b="1">
                <a:solidFill>
                  <a:srgbClr val="F7FAFA"/>
                </a:solidFill>
                <a:latin typeface="Segoe UI"/>
                <a:ea typeface="Segoe UI"/>
                <a:cs typeface="Segoe UI"/>
              </a:rPr>
              <a:t>PATIENT P-023   /   CONCEPT VIEW</a:t>
            </a:r>
          </a:p>
        </p:txBody>
      </p:sp>
      <p:sp>
        <p:nvSpPr>
          <p:cNvPr id="9" name="">
            <a:extLst xmlns:a="http://schemas.openxmlformats.org/drawingml/2006/main">
              <a:ext uri="{FF2B5EF4-FFF2-40B4-BE49-F238E27FC236}">
                <a16:creationId xmlns:a16="http://schemas.microsoft.com/office/drawing/2014/main" id="{C6AC0EFD-548C-463C-A036-CC63504E08E7}"/>
              </a:ext>
            </a:extLst>
          </p:cNvPr>
          <p:cNvSpPr>
            <a:spLocks xmlns:a="http://schemas.openxmlformats.org/drawingml/2006/main" noGrp="1"/>
          </p:cNvSpPr>
          <p:nvPr/>
        </p:nvSpPr>
        <p:spPr>
          <a:xfrm xmlns:a="http://schemas.openxmlformats.org/drawingml/2006/main">
            <a:off x="9667875" y="1343025"/>
            <a:ext cx="1619250" cy="285750"/>
          </a:xfrm>
          <a:prstGeom xmlns:a="http://schemas.openxmlformats.org/drawingml/2006/main" prst="roundRect">
            <a:avLst>
              <a:gd name="adj" fmla="val 26667"/>
            </a:avLst>
          </a:prstGeom>
          <a:solidFill xmlns:a="http://schemas.openxmlformats.org/drawingml/2006/main">
            <a:srgbClr val="E6F4F1"/>
          </a:solidFill>
          <a:ln xmlns:a="http://schemas.openxmlformats.org/drawingml/2006/main" w="9525">
            <a:solidFill>
              <a:srgbClr val="E6F4F1"/>
            </a:solidFill>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78373D4E-4518-4542-BA90-2B301B740C5D}"/>
              </a:ext>
            </a:extLst>
          </p:cNvPr>
          <p:cNvSpPr>
            <a:spLocks xmlns:a="http://schemas.openxmlformats.org/drawingml/2006/main" noGrp="1"/>
          </p:cNvSpPr>
          <p:nvPr/>
        </p:nvSpPr>
        <p:spPr>
          <a:xfrm xmlns:a="http://schemas.openxmlformats.org/drawingml/2006/main">
            <a:off x="9744075" y="1362075"/>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975" b="1">
                <a:solidFill>
                  <a:srgbClr val="0B2A3C"/>
                </a:solidFill>
                <a:latin typeface="Arial"/>
                <a:ea typeface="Arial"/>
                <a:cs typeface="Arial"/>
              </a:defRPr>
            </a:pPr>
            <a:r>
              <a:rPr sz="1400" b="1">
                <a:solidFill>
                  <a:srgbClr val="0B2A3C"/>
                </a:solidFill>
                <a:latin typeface="Segoe UI"/>
                <a:ea typeface="Segoe UI"/>
                <a:cs typeface="Segoe UI"/>
              </a:rPr>
              <a:t>NOT CLINICAL</a:t>
            </a:r>
          </a:p>
        </p:txBody>
      </p:sp>
      <p:sp>
        <p:nvSpPr>
          <p:cNvPr id="11" name="">
            <a:extLst xmlns:a="http://schemas.openxmlformats.org/drawingml/2006/main">
              <a:ext uri="{FF2B5EF4-FFF2-40B4-BE49-F238E27FC236}">
                <a16:creationId xmlns:a16="http://schemas.microsoft.com/office/drawing/2014/main" id="{9DC077E8-B947-4551-AB70-580D5902FC68}"/>
              </a:ext>
            </a:extLst>
          </p:cNvPr>
          <p:cNvSpPr>
            <a:spLocks xmlns:a="http://schemas.openxmlformats.org/drawingml/2006/main" noGrp="1"/>
          </p:cNvSpPr>
          <p:nvPr/>
        </p:nvSpPr>
        <p:spPr>
          <a:xfrm xmlns:a="http://schemas.openxmlformats.org/drawingml/2006/main">
            <a:off x="857250" y="1895475"/>
            <a:ext cx="666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75" b="1">
                <a:solidFill>
                  <a:srgbClr val="0B2A3C"/>
                </a:solidFill>
                <a:latin typeface="Arial"/>
                <a:ea typeface="Arial"/>
                <a:cs typeface="Arial"/>
              </a:defRPr>
            </a:pPr>
            <a:r>
              <a:rPr sz="1400" b="1">
                <a:solidFill>
                  <a:srgbClr val="0B2A3C"/>
                </a:solidFill>
                <a:latin typeface="Segoe UI"/>
                <a:ea typeface="Segoe UI"/>
                <a:cs typeface="Segoe UI"/>
              </a:rPr>
              <a:t>Recent CGM trace with illustrative t+120 forecast</a:t>
            </a:r>
          </a:p>
        </p:txBody>
      </p:sp>
      <p:sp>
        <p:nvSpPr>
          <p:cNvPr id="12" name="">
            <a:extLst xmlns:a="http://schemas.openxmlformats.org/drawingml/2006/main">
              <a:ext uri="{FF2B5EF4-FFF2-40B4-BE49-F238E27FC236}">
                <a16:creationId xmlns:a16="http://schemas.microsoft.com/office/drawing/2014/main" id="{0DD1BEE2-6221-46AA-8402-0E60A8F246F5}"/>
              </a:ext>
            </a:extLst>
          </p:cNvPr>
          <p:cNvSpPr>
            <a:spLocks xmlns:a="http://schemas.openxmlformats.org/drawingml/2006/main" noGrp="1"/>
          </p:cNvSpPr>
          <p:nvPr/>
        </p:nvSpPr>
        <p:spPr>
          <a:xfrm xmlns:a="http://schemas.openxmlformats.org/drawingml/2006/main">
            <a:off x="857250" y="2247900"/>
            <a:ext cx="6477000" cy="2143125"/>
          </a:xfrm>
          <a:prstGeom xmlns:a="http://schemas.openxmlformats.org/drawingml/2006/main" prst="roundRect">
            <a:avLst>
              <a:gd name="adj" fmla="val 3556"/>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3" name="">
            <a:extLst xmlns:a="http://schemas.openxmlformats.org/drawingml/2006/main">
              <a:ext uri="{FF2B5EF4-FFF2-40B4-BE49-F238E27FC236}">
                <a16:creationId xmlns:a16="http://schemas.microsoft.com/office/drawing/2014/main" id="{70E3F163-D675-44B6-BB31-CEABBDBC2357}"/>
              </a:ext>
            </a:extLst>
          </p:cNvPr>
          <p:cNvSpPr>
            <a:spLocks xmlns:a="http://schemas.openxmlformats.org/drawingml/2006/main" noGrp="1"/>
          </p:cNvSpPr>
          <p:nvPr/>
        </p:nvSpPr>
        <p:spPr>
          <a:xfrm xmlns:a="http://schemas.openxmlformats.org/drawingml/2006/main">
            <a:off x="1047750" y="2619375"/>
            <a:ext cx="6096000" cy="0"/>
          </a:xfrm>
          <a:prstGeom xmlns:a="http://schemas.openxmlformats.org/drawingml/2006/main" prst="line">
            <a:avLst/>
          </a:prstGeom>
          <a:noFill xmlns:a="http://schemas.openxmlformats.org/drawingml/2006/main"/>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845413CA-71AA-4DC5-81CE-2856B8075342}"/>
              </a:ext>
            </a:extLst>
          </p:cNvPr>
          <p:cNvSpPr>
            <a:spLocks xmlns:a="http://schemas.openxmlformats.org/drawingml/2006/main" noGrp="1"/>
          </p:cNvSpPr>
          <p:nvPr/>
        </p:nvSpPr>
        <p:spPr>
          <a:xfrm xmlns:a="http://schemas.openxmlformats.org/drawingml/2006/main">
            <a:off x="1047750" y="3048000"/>
            <a:ext cx="6096000" cy="0"/>
          </a:xfrm>
          <a:prstGeom xmlns:a="http://schemas.openxmlformats.org/drawingml/2006/main" prst="line">
            <a:avLst/>
          </a:prstGeom>
          <a:noFill xmlns:a="http://schemas.openxmlformats.org/drawingml/2006/main"/>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5" name="">
            <a:extLst xmlns:a="http://schemas.openxmlformats.org/drawingml/2006/main">
              <a:ext uri="{FF2B5EF4-FFF2-40B4-BE49-F238E27FC236}">
                <a16:creationId xmlns:a16="http://schemas.microsoft.com/office/drawing/2014/main" id="{6D8C51F8-244A-4947-9F8A-BD4175EB2B93}"/>
              </a:ext>
            </a:extLst>
          </p:cNvPr>
          <p:cNvSpPr>
            <a:spLocks xmlns:a="http://schemas.openxmlformats.org/drawingml/2006/main" noGrp="1"/>
          </p:cNvSpPr>
          <p:nvPr/>
        </p:nvSpPr>
        <p:spPr>
          <a:xfrm xmlns:a="http://schemas.openxmlformats.org/drawingml/2006/main">
            <a:off x="1047750" y="3476625"/>
            <a:ext cx="6096000" cy="0"/>
          </a:xfrm>
          <a:prstGeom xmlns:a="http://schemas.openxmlformats.org/drawingml/2006/main" prst="line">
            <a:avLst/>
          </a:prstGeom>
          <a:noFill xmlns:a="http://schemas.openxmlformats.org/drawingml/2006/main"/>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29587AD8-225E-4B81-BAFE-BBEB629F0BF9}"/>
              </a:ext>
            </a:extLst>
          </p:cNvPr>
          <p:cNvSpPr>
            <a:spLocks xmlns:a="http://schemas.openxmlformats.org/drawingml/2006/main" noGrp="1"/>
          </p:cNvSpPr>
          <p:nvPr/>
        </p:nvSpPr>
        <p:spPr>
          <a:xfrm xmlns:a="http://schemas.openxmlformats.org/drawingml/2006/main">
            <a:off x="1047750" y="3905250"/>
            <a:ext cx="6096000" cy="0"/>
          </a:xfrm>
          <a:prstGeom xmlns:a="http://schemas.openxmlformats.org/drawingml/2006/main" prst="line">
            <a:avLst/>
          </a:prstGeom>
          <a:noFill xmlns:a="http://schemas.openxmlformats.org/drawingml/2006/main"/>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7" name="">
            <a:extLst xmlns:a="http://schemas.openxmlformats.org/drawingml/2006/main">
              <a:ext uri="{FF2B5EF4-FFF2-40B4-BE49-F238E27FC236}">
                <a16:creationId xmlns:a16="http://schemas.microsoft.com/office/drawing/2014/main" id="{B5D4FD6C-733B-464C-A874-DA6BF1A60E77}"/>
              </a:ext>
            </a:extLst>
          </p:cNvPr>
          <p:cNvSpPr>
            <a:spLocks xmlns:a="http://schemas.openxmlformats.org/drawingml/2006/main" noGrp="1"/>
          </p:cNvSpPr>
          <p:nvPr/>
        </p:nvSpPr>
        <p:spPr>
          <a:xfrm xmlns:a="http://schemas.openxmlformats.org/drawingml/2006/main">
            <a:off x="1066800" y="3190875"/>
            <a:ext cx="6000750" cy="0"/>
          </a:xfrm>
          <a:prstGeom xmlns:a="http://schemas.openxmlformats.org/drawingml/2006/main" prst="line">
            <a:avLst/>
          </a:prstGeom>
          <a:noFill xmlns:a="http://schemas.openxmlformats.org/drawingml/2006/main"/>
          <a:ln xmlns:a="http://schemas.openxmlformats.org/drawingml/2006/main" w="19050">
            <a:solidFill>
              <a:srgbClr val="F2A33A"/>
            </a:solidFill>
          </a:ln>
        </p:spPr>
        <p:txBody>
          <a:bodyPr xmlns:a="http://schemas.openxmlformats.org/drawingml/2006/main"/>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8442749B-C76C-4A7D-89CC-DDA5E4A52F46}"/>
              </a:ext>
            </a:extLst>
          </p:cNvPr>
          <p:cNvSpPr>
            <a:spLocks xmlns:a="http://schemas.openxmlformats.org/drawingml/2006/main" noGrp="1"/>
          </p:cNvSpPr>
          <p:nvPr/>
        </p:nvSpPr>
        <p:spPr>
          <a:xfrm xmlns:a="http://schemas.openxmlformats.org/drawingml/2006/main">
            <a:off x="1143000" y="3714750"/>
            <a:ext cx="333375"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99E16E58-4CAF-4062-9B6F-13F11F012989}"/>
              </a:ext>
            </a:extLst>
          </p:cNvPr>
          <p:cNvSpPr>
            <a:spLocks xmlns:a="http://schemas.openxmlformats.org/drawingml/2006/main" noGrp="1"/>
          </p:cNvSpPr>
          <p:nvPr/>
        </p:nvSpPr>
        <p:spPr>
          <a:xfrm xmlns:a="http://schemas.openxmlformats.org/drawingml/2006/main">
            <a:off x="1476375" y="3571875"/>
            <a:ext cx="0" cy="142875"/>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20" name="">
            <a:extLst xmlns:a="http://schemas.openxmlformats.org/drawingml/2006/main">
              <a:ext uri="{FF2B5EF4-FFF2-40B4-BE49-F238E27FC236}">
                <a16:creationId xmlns:a16="http://schemas.microsoft.com/office/drawing/2014/main" id="{65BD8E25-51FE-4429-85F5-D1C4FDE045E7}"/>
              </a:ext>
            </a:extLst>
          </p:cNvPr>
          <p:cNvSpPr>
            <a:spLocks xmlns:a="http://schemas.openxmlformats.org/drawingml/2006/main" noGrp="1"/>
          </p:cNvSpPr>
          <p:nvPr/>
        </p:nvSpPr>
        <p:spPr>
          <a:xfrm xmlns:a="http://schemas.openxmlformats.org/drawingml/2006/main">
            <a:off x="1476375" y="3571875"/>
            <a:ext cx="333375"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21" name="">
            <a:extLst xmlns:a="http://schemas.openxmlformats.org/drawingml/2006/main">
              <a:ext uri="{FF2B5EF4-FFF2-40B4-BE49-F238E27FC236}">
                <a16:creationId xmlns:a16="http://schemas.microsoft.com/office/drawing/2014/main" id="{FD4F5056-CB5A-48A7-BA3C-B917231737A2}"/>
              </a:ext>
            </a:extLst>
          </p:cNvPr>
          <p:cNvSpPr>
            <a:spLocks xmlns:a="http://schemas.openxmlformats.org/drawingml/2006/main" noGrp="1"/>
          </p:cNvSpPr>
          <p:nvPr/>
        </p:nvSpPr>
        <p:spPr>
          <a:xfrm xmlns:a="http://schemas.openxmlformats.org/drawingml/2006/main">
            <a:off x="1809750" y="3571875"/>
            <a:ext cx="333375"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CC59C85A-21AB-48F3-AFB5-C01159F0ABE4}"/>
              </a:ext>
            </a:extLst>
          </p:cNvPr>
          <p:cNvSpPr>
            <a:spLocks xmlns:a="http://schemas.openxmlformats.org/drawingml/2006/main" noGrp="1"/>
          </p:cNvSpPr>
          <p:nvPr/>
        </p:nvSpPr>
        <p:spPr>
          <a:xfrm xmlns:a="http://schemas.openxmlformats.org/drawingml/2006/main">
            <a:off x="2143125" y="3343275"/>
            <a:ext cx="0" cy="22860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23" name="">
            <a:extLst xmlns:a="http://schemas.openxmlformats.org/drawingml/2006/main">
              <a:ext uri="{FF2B5EF4-FFF2-40B4-BE49-F238E27FC236}">
                <a16:creationId xmlns:a16="http://schemas.microsoft.com/office/drawing/2014/main" id="{27DE80E9-71A0-4B20-AE76-1416017B72C2}"/>
              </a:ext>
            </a:extLst>
          </p:cNvPr>
          <p:cNvSpPr>
            <a:spLocks xmlns:a="http://schemas.openxmlformats.org/drawingml/2006/main" noGrp="1"/>
          </p:cNvSpPr>
          <p:nvPr/>
        </p:nvSpPr>
        <p:spPr>
          <a:xfrm xmlns:a="http://schemas.openxmlformats.org/drawingml/2006/main">
            <a:off x="2143125" y="3343275"/>
            <a:ext cx="333375"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24" name="">
            <a:extLst xmlns:a="http://schemas.openxmlformats.org/drawingml/2006/main">
              <a:ext uri="{FF2B5EF4-FFF2-40B4-BE49-F238E27FC236}">
                <a16:creationId xmlns:a16="http://schemas.microsoft.com/office/drawing/2014/main" id="{E6D86D1D-8E03-4994-952D-1DD5D1678CBD}"/>
              </a:ext>
            </a:extLst>
          </p:cNvPr>
          <p:cNvSpPr>
            <a:spLocks xmlns:a="http://schemas.openxmlformats.org/drawingml/2006/main" noGrp="1"/>
          </p:cNvSpPr>
          <p:nvPr/>
        </p:nvSpPr>
        <p:spPr>
          <a:xfrm xmlns:a="http://schemas.openxmlformats.org/drawingml/2006/main">
            <a:off x="2476500" y="3343275"/>
            <a:ext cx="666750" cy="85725"/>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25" name="">
            <a:extLst xmlns:a="http://schemas.openxmlformats.org/drawingml/2006/main">
              <a:ext uri="{FF2B5EF4-FFF2-40B4-BE49-F238E27FC236}">
                <a16:creationId xmlns:a16="http://schemas.microsoft.com/office/drawing/2014/main" id="{7A70E232-1BF6-43B9-85C5-4A257C546AAE}"/>
              </a:ext>
            </a:extLst>
          </p:cNvPr>
          <p:cNvSpPr>
            <a:spLocks xmlns:a="http://schemas.openxmlformats.org/drawingml/2006/main" noGrp="1"/>
          </p:cNvSpPr>
          <p:nvPr/>
        </p:nvSpPr>
        <p:spPr>
          <a:xfrm xmlns:a="http://schemas.openxmlformats.org/drawingml/2006/main">
            <a:off x="3143250" y="3429000"/>
            <a:ext cx="333375"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26" name="">
            <a:extLst xmlns:a="http://schemas.openxmlformats.org/drawingml/2006/main">
              <a:ext uri="{FF2B5EF4-FFF2-40B4-BE49-F238E27FC236}">
                <a16:creationId xmlns:a16="http://schemas.microsoft.com/office/drawing/2014/main" id="{7F915F25-328F-490F-8CBF-E9066A447D75}"/>
              </a:ext>
            </a:extLst>
          </p:cNvPr>
          <p:cNvSpPr>
            <a:spLocks xmlns:a="http://schemas.openxmlformats.org/drawingml/2006/main" noGrp="1"/>
          </p:cNvSpPr>
          <p:nvPr/>
        </p:nvSpPr>
        <p:spPr>
          <a:xfrm xmlns:a="http://schemas.openxmlformats.org/drawingml/2006/main">
            <a:off x="3476625" y="3143250"/>
            <a:ext cx="0" cy="28575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27" name="">
            <a:extLst xmlns:a="http://schemas.openxmlformats.org/drawingml/2006/main">
              <a:ext uri="{FF2B5EF4-FFF2-40B4-BE49-F238E27FC236}">
                <a16:creationId xmlns:a16="http://schemas.microsoft.com/office/drawing/2014/main" id="{E958C765-8B31-4D23-ABAB-C208B12E7848}"/>
              </a:ext>
            </a:extLst>
          </p:cNvPr>
          <p:cNvSpPr>
            <a:spLocks xmlns:a="http://schemas.openxmlformats.org/drawingml/2006/main" noGrp="1"/>
          </p:cNvSpPr>
          <p:nvPr/>
        </p:nvSpPr>
        <p:spPr>
          <a:xfrm xmlns:a="http://schemas.openxmlformats.org/drawingml/2006/main">
            <a:off x="3476625" y="3143250"/>
            <a:ext cx="333375"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AA01F25F-756E-4645-9D25-4B528D813C91}"/>
              </a:ext>
            </a:extLst>
          </p:cNvPr>
          <p:cNvSpPr>
            <a:spLocks xmlns:a="http://schemas.openxmlformats.org/drawingml/2006/main" noGrp="1"/>
          </p:cNvSpPr>
          <p:nvPr/>
        </p:nvSpPr>
        <p:spPr>
          <a:xfrm xmlns:a="http://schemas.openxmlformats.org/drawingml/2006/main">
            <a:off x="3810000" y="3143250"/>
            <a:ext cx="333375"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29" name="">
            <a:extLst xmlns:a="http://schemas.openxmlformats.org/drawingml/2006/main">
              <a:ext uri="{FF2B5EF4-FFF2-40B4-BE49-F238E27FC236}">
                <a16:creationId xmlns:a16="http://schemas.microsoft.com/office/drawing/2014/main" id="{92955A87-6E0B-45B3-ABAF-0C1832E0D4E3}"/>
              </a:ext>
            </a:extLst>
          </p:cNvPr>
          <p:cNvSpPr>
            <a:spLocks xmlns:a="http://schemas.openxmlformats.org/drawingml/2006/main" noGrp="1"/>
          </p:cNvSpPr>
          <p:nvPr/>
        </p:nvSpPr>
        <p:spPr>
          <a:xfrm xmlns:a="http://schemas.openxmlformats.org/drawingml/2006/main">
            <a:off x="4143375" y="3000375"/>
            <a:ext cx="0" cy="142875"/>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30" name="">
            <a:extLst xmlns:a="http://schemas.openxmlformats.org/drawingml/2006/main">
              <a:ext uri="{FF2B5EF4-FFF2-40B4-BE49-F238E27FC236}">
                <a16:creationId xmlns:a16="http://schemas.microsoft.com/office/drawing/2014/main" id="{E64BB842-52CC-44A0-A64D-042771FB732B}"/>
              </a:ext>
            </a:extLst>
          </p:cNvPr>
          <p:cNvSpPr>
            <a:spLocks xmlns:a="http://schemas.openxmlformats.org/drawingml/2006/main" noGrp="1"/>
          </p:cNvSpPr>
          <p:nvPr/>
        </p:nvSpPr>
        <p:spPr>
          <a:xfrm xmlns:a="http://schemas.openxmlformats.org/drawingml/2006/main">
            <a:off x="4143375" y="3000375"/>
            <a:ext cx="333375"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31" name="">
            <a:extLst xmlns:a="http://schemas.openxmlformats.org/drawingml/2006/main">
              <a:ext uri="{FF2B5EF4-FFF2-40B4-BE49-F238E27FC236}">
                <a16:creationId xmlns:a16="http://schemas.microsoft.com/office/drawing/2014/main" id="{59741FA8-E4DF-471D-B0A4-54FE28FDDC7A}"/>
              </a:ext>
            </a:extLst>
          </p:cNvPr>
          <p:cNvSpPr>
            <a:spLocks xmlns:a="http://schemas.openxmlformats.org/drawingml/2006/main" noGrp="1"/>
          </p:cNvSpPr>
          <p:nvPr/>
        </p:nvSpPr>
        <p:spPr>
          <a:xfrm xmlns:a="http://schemas.openxmlformats.org/drawingml/2006/main">
            <a:off x="4476750" y="3000375"/>
            <a:ext cx="333375"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32" name="">
            <a:extLst xmlns:a="http://schemas.openxmlformats.org/drawingml/2006/main">
              <a:ext uri="{FF2B5EF4-FFF2-40B4-BE49-F238E27FC236}">
                <a16:creationId xmlns:a16="http://schemas.microsoft.com/office/drawing/2014/main" id="{D5FDAFA2-AEB1-44F9-A86A-922EF0C584FA}"/>
              </a:ext>
            </a:extLst>
          </p:cNvPr>
          <p:cNvSpPr>
            <a:spLocks xmlns:a="http://schemas.openxmlformats.org/drawingml/2006/main" noGrp="1"/>
          </p:cNvSpPr>
          <p:nvPr/>
        </p:nvSpPr>
        <p:spPr>
          <a:xfrm xmlns:a="http://schemas.openxmlformats.org/drawingml/2006/main">
            <a:off x="4810125" y="2809875"/>
            <a:ext cx="0" cy="19050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33" name="">
            <a:extLst xmlns:a="http://schemas.openxmlformats.org/drawingml/2006/main">
              <a:ext uri="{FF2B5EF4-FFF2-40B4-BE49-F238E27FC236}">
                <a16:creationId xmlns:a16="http://schemas.microsoft.com/office/drawing/2014/main" id="{327E1D75-5599-406D-8EA9-1CAA1F814DFD}"/>
              </a:ext>
            </a:extLst>
          </p:cNvPr>
          <p:cNvSpPr>
            <a:spLocks xmlns:a="http://schemas.openxmlformats.org/drawingml/2006/main" noGrp="1"/>
          </p:cNvSpPr>
          <p:nvPr/>
        </p:nvSpPr>
        <p:spPr>
          <a:xfrm xmlns:a="http://schemas.openxmlformats.org/drawingml/2006/main">
            <a:off x="4810125" y="2809875"/>
            <a:ext cx="333375"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34" name="">
            <a:extLst xmlns:a="http://schemas.openxmlformats.org/drawingml/2006/main">
              <a:ext uri="{FF2B5EF4-FFF2-40B4-BE49-F238E27FC236}">
                <a16:creationId xmlns:a16="http://schemas.microsoft.com/office/drawing/2014/main" id="{755E7942-2390-4899-B0D0-26BA49335C83}"/>
              </a:ext>
            </a:extLst>
          </p:cNvPr>
          <p:cNvSpPr>
            <a:spLocks xmlns:a="http://schemas.openxmlformats.org/drawingml/2006/main" noGrp="1"/>
          </p:cNvSpPr>
          <p:nvPr/>
        </p:nvSpPr>
        <p:spPr>
          <a:xfrm xmlns:a="http://schemas.openxmlformats.org/drawingml/2006/main">
            <a:off x="5143500" y="2809875"/>
            <a:ext cx="333375"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35" name="">
            <a:extLst xmlns:a="http://schemas.openxmlformats.org/drawingml/2006/main">
              <a:ext uri="{FF2B5EF4-FFF2-40B4-BE49-F238E27FC236}">
                <a16:creationId xmlns:a16="http://schemas.microsoft.com/office/drawing/2014/main" id="{F93E5602-B593-48E8-8C6F-14B6B37425B9}"/>
              </a:ext>
            </a:extLst>
          </p:cNvPr>
          <p:cNvSpPr>
            <a:spLocks xmlns:a="http://schemas.openxmlformats.org/drawingml/2006/main" noGrp="1"/>
          </p:cNvSpPr>
          <p:nvPr/>
        </p:nvSpPr>
        <p:spPr>
          <a:xfrm xmlns:a="http://schemas.openxmlformats.org/drawingml/2006/main">
            <a:off x="5476875" y="2667000"/>
            <a:ext cx="0" cy="142875"/>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36" name="">
            <a:extLst xmlns:a="http://schemas.openxmlformats.org/drawingml/2006/main">
              <a:ext uri="{FF2B5EF4-FFF2-40B4-BE49-F238E27FC236}">
                <a16:creationId xmlns:a16="http://schemas.microsoft.com/office/drawing/2014/main" id="{EA652434-F985-4FB5-808D-9854DFEF96E5}"/>
              </a:ext>
            </a:extLst>
          </p:cNvPr>
          <p:cNvSpPr>
            <a:spLocks xmlns:a="http://schemas.openxmlformats.org/drawingml/2006/main" noGrp="1"/>
          </p:cNvSpPr>
          <p:nvPr/>
        </p:nvSpPr>
        <p:spPr>
          <a:xfrm xmlns:a="http://schemas.openxmlformats.org/drawingml/2006/main">
            <a:off x="5476875" y="2667000"/>
            <a:ext cx="333375"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37" name="">
            <a:extLst xmlns:a="http://schemas.openxmlformats.org/drawingml/2006/main">
              <a:ext uri="{FF2B5EF4-FFF2-40B4-BE49-F238E27FC236}">
                <a16:creationId xmlns:a16="http://schemas.microsoft.com/office/drawing/2014/main" id="{953CB7EB-B579-4F41-8953-2FA0B3030A8F}"/>
              </a:ext>
            </a:extLst>
          </p:cNvPr>
          <p:cNvSpPr>
            <a:spLocks xmlns:a="http://schemas.openxmlformats.org/drawingml/2006/main" noGrp="1"/>
          </p:cNvSpPr>
          <p:nvPr/>
        </p:nvSpPr>
        <p:spPr>
          <a:xfrm xmlns:a="http://schemas.openxmlformats.org/drawingml/2006/main">
            <a:off x="5810250" y="2667000"/>
            <a:ext cx="357188"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38" name="">
            <a:extLst xmlns:a="http://schemas.openxmlformats.org/drawingml/2006/main">
              <a:ext uri="{FF2B5EF4-FFF2-40B4-BE49-F238E27FC236}">
                <a16:creationId xmlns:a16="http://schemas.microsoft.com/office/drawing/2014/main" id="{6C7BB89E-B5ED-43F0-9A8D-4781D035BCFC}"/>
              </a:ext>
            </a:extLst>
          </p:cNvPr>
          <p:cNvSpPr>
            <a:spLocks xmlns:a="http://schemas.openxmlformats.org/drawingml/2006/main" noGrp="1"/>
          </p:cNvSpPr>
          <p:nvPr/>
        </p:nvSpPr>
        <p:spPr>
          <a:xfrm xmlns:a="http://schemas.openxmlformats.org/drawingml/2006/main">
            <a:off x="6167438" y="2571750"/>
            <a:ext cx="0" cy="9525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39" name="">
            <a:extLst xmlns:a="http://schemas.openxmlformats.org/drawingml/2006/main">
              <a:ext uri="{FF2B5EF4-FFF2-40B4-BE49-F238E27FC236}">
                <a16:creationId xmlns:a16="http://schemas.microsoft.com/office/drawing/2014/main" id="{D1AC3EF5-4A42-4CD8-8C80-34BA3F4C958E}"/>
              </a:ext>
            </a:extLst>
          </p:cNvPr>
          <p:cNvSpPr>
            <a:spLocks xmlns:a="http://schemas.openxmlformats.org/drawingml/2006/main" noGrp="1"/>
          </p:cNvSpPr>
          <p:nvPr/>
        </p:nvSpPr>
        <p:spPr>
          <a:xfrm xmlns:a="http://schemas.openxmlformats.org/drawingml/2006/main">
            <a:off x="6167438" y="2571750"/>
            <a:ext cx="357188"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40" name="">
            <a:extLst xmlns:a="http://schemas.openxmlformats.org/drawingml/2006/main">
              <a:ext uri="{FF2B5EF4-FFF2-40B4-BE49-F238E27FC236}">
                <a16:creationId xmlns:a16="http://schemas.microsoft.com/office/drawing/2014/main" id="{0B5DE84E-6C7B-4169-9FC4-5ED20E7E7B85}"/>
              </a:ext>
            </a:extLst>
          </p:cNvPr>
          <p:cNvSpPr>
            <a:spLocks xmlns:a="http://schemas.openxmlformats.org/drawingml/2006/main" noGrp="1"/>
          </p:cNvSpPr>
          <p:nvPr/>
        </p:nvSpPr>
        <p:spPr>
          <a:xfrm xmlns:a="http://schemas.openxmlformats.org/drawingml/2006/main">
            <a:off x="6524625" y="2571750"/>
            <a:ext cx="238125"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41" name="">
            <a:extLst xmlns:a="http://schemas.openxmlformats.org/drawingml/2006/main">
              <a:ext uri="{FF2B5EF4-FFF2-40B4-BE49-F238E27FC236}">
                <a16:creationId xmlns:a16="http://schemas.microsoft.com/office/drawing/2014/main" id="{0A291AFF-3805-481F-9EFF-910045637E61}"/>
              </a:ext>
            </a:extLst>
          </p:cNvPr>
          <p:cNvSpPr>
            <a:spLocks xmlns:a="http://schemas.openxmlformats.org/drawingml/2006/main" noGrp="1"/>
          </p:cNvSpPr>
          <p:nvPr/>
        </p:nvSpPr>
        <p:spPr>
          <a:xfrm xmlns:a="http://schemas.openxmlformats.org/drawingml/2006/main">
            <a:off x="6762750" y="2476500"/>
            <a:ext cx="0" cy="9525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42" name="">
            <a:extLst xmlns:a="http://schemas.openxmlformats.org/drawingml/2006/main">
              <a:ext uri="{FF2B5EF4-FFF2-40B4-BE49-F238E27FC236}">
                <a16:creationId xmlns:a16="http://schemas.microsoft.com/office/drawing/2014/main" id="{2EE812AB-0720-4EC5-958B-26AAA184A046}"/>
              </a:ext>
            </a:extLst>
          </p:cNvPr>
          <p:cNvSpPr>
            <a:spLocks xmlns:a="http://schemas.openxmlformats.org/drawingml/2006/main" noGrp="1"/>
          </p:cNvSpPr>
          <p:nvPr/>
        </p:nvSpPr>
        <p:spPr>
          <a:xfrm xmlns:a="http://schemas.openxmlformats.org/drawingml/2006/main">
            <a:off x="6762750" y="2476500"/>
            <a:ext cx="238125" cy="0"/>
          </a:xfrm>
          <a:prstGeom xmlns:a="http://schemas.openxmlformats.org/drawingml/2006/main" prst="line">
            <a:avLst/>
          </a:prstGeom>
          <a:noFill xmlns:a="http://schemas.openxmlformats.org/drawingml/2006/main"/>
          <a:ln xmlns:a="http://schemas.openxmlformats.org/drawingml/2006/main" w="28575">
            <a:solidFill>
              <a:srgbClr val="0F8B8D"/>
            </a:solidFill>
          </a:ln>
        </p:spPr>
        <p:txBody>
          <a:bodyPr xmlns:a="http://schemas.openxmlformats.org/drawingml/2006/main"/>
          <a:lstStyle xmlns:a="http://schemas.openxmlformats.org/drawingml/2006/main"/>
          <a:p xmlns:a="http://schemas.openxmlformats.org/drawingml/2006/main"/>
        </p:txBody>
      </p:sp>
      <p:sp>
        <p:nvSpPr>
          <p:cNvPr id="43" name="">
            <a:extLst xmlns:a="http://schemas.openxmlformats.org/drawingml/2006/main">
              <a:ext uri="{FF2B5EF4-FFF2-40B4-BE49-F238E27FC236}">
                <a16:creationId xmlns:a16="http://schemas.microsoft.com/office/drawing/2014/main" id="{7A4FB77A-7C16-49A8-9700-7EBBFB3DE3D8}"/>
              </a:ext>
            </a:extLst>
          </p:cNvPr>
          <p:cNvSpPr>
            <a:spLocks xmlns:a="http://schemas.openxmlformats.org/drawingml/2006/main" noGrp="1"/>
          </p:cNvSpPr>
          <p:nvPr/>
        </p:nvSpPr>
        <p:spPr>
          <a:xfrm xmlns:a="http://schemas.openxmlformats.org/drawingml/2006/main">
            <a:off x="5810250" y="2667000"/>
            <a:ext cx="595313" cy="0"/>
          </a:xfrm>
          <a:prstGeom xmlns:a="http://schemas.openxmlformats.org/drawingml/2006/main" prst="line">
            <a:avLst/>
          </a:prstGeom>
          <a:noFill xmlns:a="http://schemas.openxmlformats.org/drawingml/2006/main"/>
          <a:ln xmlns:a="http://schemas.openxmlformats.org/drawingml/2006/main" w="28575">
            <a:solidFill>
              <a:srgbClr val="F2A33A"/>
            </a:solidFill>
          </a:ln>
        </p:spPr>
        <p:txBody>
          <a:bodyPr xmlns:a="http://schemas.openxmlformats.org/drawingml/2006/main"/>
          <a:lstStyle xmlns:a="http://schemas.openxmlformats.org/drawingml/2006/main"/>
          <a:p xmlns:a="http://schemas.openxmlformats.org/drawingml/2006/main"/>
        </p:txBody>
      </p:sp>
      <p:sp>
        <p:nvSpPr>
          <p:cNvPr id="44" name="">
            <a:extLst xmlns:a="http://schemas.openxmlformats.org/drawingml/2006/main">
              <a:ext uri="{FF2B5EF4-FFF2-40B4-BE49-F238E27FC236}">
                <a16:creationId xmlns:a16="http://schemas.microsoft.com/office/drawing/2014/main" id="{9A44A12B-FFFA-4516-B65F-372B9E451E61}"/>
              </a:ext>
            </a:extLst>
          </p:cNvPr>
          <p:cNvSpPr>
            <a:spLocks xmlns:a="http://schemas.openxmlformats.org/drawingml/2006/main" noGrp="1"/>
          </p:cNvSpPr>
          <p:nvPr/>
        </p:nvSpPr>
        <p:spPr>
          <a:xfrm xmlns:a="http://schemas.openxmlformats.org/drawingml/2006/main">
            <a:off x="6405563" y="2476500"/>
            <a:ext cx="0" cy="190500"/>
          </a:xfrm>
          <a:prstGeom xmlns:a="http://schemas.openxmlformats.org/drawingml/2006/main" prst="line">
            <a:avLst/>
          </a:prstGeom>
          <a:noFill xmlns:a="http://schemas.openxmlformats.org/drawingml/2006/main"/>
          <a:ln xmlns:a="http://schemas.openxmlformats.org/drawingml/2006/main" w="28575">
            <a:solidFill>
              <a:srgbClr val="F2A33A"/>
            </a:solidFill>
          </a:ln>
        </p:spPr>
        <p:txBody>
          <a:bodyPr xmlns:a="http://schemas.openxmlformats.org/drawingml/2006/main"/>
          <a:lstStyle xmlns:a="http://schemas.openxmlformats.org/drawingml/2006/main"/>
          <a:p xmlns:a="http://schemas.openxmlformats.org/drawingml/2006/main"/>
        </p:txBody>
      </p:sp>
      <p:sp>
        <p:nvSpPr>
          <p:cNvPr id="45" name="">
            <a:extLst xmlns:a="http://schemas.openxmlformats.org/drawingml/2006/main">
              <a:ext uri="{FF2B5EF4-FFF2-40B4-BE49-F238E27FC236}">
                <a16:creationId xmlns:a16="http://schemas.microsoft.com/office/drawing/2014/main" id="{C16669A5-FD17-4740-B50C-266FF5DEFBFF}"/>
              </a:ext>
            </a:extLst>
          </p:cNvPr>
          <p:cNvSpPr>
            <a:spLocks xmlns:a="http://schemas.openxmlformats.org/drawingml/2006/main" noGrp="1"/>
          </p:cNvSpPr>
          <p:nvPr/>
        </p:nvSpPr>
        <p:spPr>
          <a:xfrm xmlns:a="http://schemas.openxmlformats.org/drawingml/2006/main">
            <a:off x="6405563" y="2476500"/>
            <a:ext cx="595313" cy="0"/>
          </a:xfrm>
          <a:prstGeom xmlns:a="http://schemas.openxmlformats.org/drawingml/2006/main" prst="line">
            <a:avLst/>
          </a:prstGeom>
          <a:noFill xmlns:a="http://schemas.openxmlformats.org/drawingml/2006/main"/>
          <a:ln xmlns:a="http://schemas.openxmlformats.org/drawingml/2006/main" w="28575">
            <a:solidFill>
              <a:srgbClr val="F2A33A"/>
            </a:solidFill>
          </a:ln>
        </p:spPr>
        <p:txBody>
          <a:bodyPr xmlns:a="http://schemas.openxmlformats.org/drawingml/2006/main"/>
          <a:lstStyle xmlns:a="http://schemas.openxmlformats.org/drawingml/2006/main"/>
          <a:p xmlns:a="http://schemas.openxmlformats.org/drawingml/2006/main"/>
        </p:txBody>
      </p:sp>
      <p:sp>
        <p:nvSpPr>
          <p:cNvPr id="46" name="">
            <a:extLst xmlns:a="http://schemas.openxmlformats.org/drawingml/2006/main">
              <a:ext uri="{FF2B5EF4-FFF2-40B4-BE49-F238E27FC236}">
                <a16:creationId xmlns:a16="http://schemas.microsoft.com/office/drawing/2014/main" id="{F94AAC7A-E27F-4EC8-871E-B1DD090C46C4}"/>
              </a:ext>
            </a:extLst>
          </p:cNvPr>
          <p:cNvSpPr>
            <a:spLocks xmlns:a="http://schemas.openxmlformats.org/drawingml/2006/main" noGrp="1"/>
          </p:cNvSpPr>
          <p:nvPr/>
        </p:nvSpPr>
        <p:spPr>
          <a:xfrm xmlns:a="http://schemas.openxmlformats.org/drawingml/2006/main">
            <a:off x="1123950" y="2343150"/>
            <a:ext cx="329184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75" b="1">
                <a:solidFill>
                  <a:srgbClr val="0B2A3C"/>
                </a:solidFill>
                <a:latin typeface="Arial"/>
                <a:ea typeface="Arial"/>
                <a:cs typeface="Arial"/>
              </a:defRPr>
            </a:pPr>
            <a:r>
              <a:rPr sz="1100" b="1">
                <a:solidFill>
                  <a:srgbClr val="0B2A3C"/>
                </a:solidFill>
                <a:latin typeface="Segoe UI"/>
                <a:ea typeface="Segoe UI"/>
                <a:cs typeface="Segoe UI"/>
              </a:rPr>
              <a:t>180 mg/dL reference boundary</a:t>
            </a:r>
          </a:p>
        </p:txBody>
      </p:sp>
      <p:sp>
        <p:nvSpPr>
          <p:cNvPr id="47" name="">
            <a:extLst xmlns:a="http://schemas.openxmlformats.org/drawingml/2006/main">
              <a:ext uri="{FF2B5EF4-FFF2-40B4-BE49-F238E27FC236}">
                <a16:creationId xmlns:a16="http://schemas.microsoft.com/office/drawing/2014/main" id="{7E8EF3A4-686E-457A-A500-A77889BC1616}"/>
              </a:ext>
            </a:extLst>
          </p:cNvPr>
          <p:cNvSpPr>
            <a:spLocks xmlns:a="http://schemas.openxmlformats.org/drawingml/2006/main" noGrp="1"/>
          </p:cNvSpPr>
          <p:nvPr/>
        </p:nvSpPr>
        <p:spPr>
          <a:xfrm xmlns:a="http://schemas.openxmlformats.org/drawingml/2006/main">
            <a:off x="1047750" y="40957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00" b="0">
                <a:solidFill>
                  <a:srgbClr val="5B6B76"/>
                </a:solidFill>
                <a:latin typeface="Arial"/>
                <a:ea typeface="Arial"/>
                <a:cs typeface="Arial"/>
              </a:defRPr>
            </a:pPr>
            <a:r>
              <a:rPr sz="1100" b="0">
                <a:solidFill>
                  <a:srgbClr val="5B6B76"/>
                </a:solidFill>
                <a:latin typeface="Calibri"/>
                <a:ea typeface="Calibri"/>
                <a:cs typeface="Calibri"/>
              </a:rPr>
              <a:t>-2h</a:t>
            </a:r>
          </a:p>
        </p:txBody>
      </p:sp>
      <p:sp>
        <p:nvSpPr>
          <p:cNvPr id="48" name="">
            <a:extLst xmlns:a="http://schemas.openxmlformats.org/drawingml/2006/main">
              <a:ext uri="{FF2B5EF4-FFF2-40B4-BE49-F238E27FC236}">
                <a16:creationId xmlns:a16="http://schemas.microsoft.com/office/drawing/2014/main" id="{5EC5D1DF-79C1-422C-86F1-1513E7125AF6}"/>
              </a:ext>
            </a:extLst>
          </p:cNvPr>
          <p:cNvSpPr>
            <a:spLocks xmlns:a="http://schemas.openxmlformats.org/drawingml/2006/main" noGrp="1"/>
          </p:cNvSpPr>
          <p:nvPr/>
        </p:nvSpPr>
        <p:spPr>
          <a:xfrm xmlns:a="http://schemas.openxmlformats.org/drawingml/2006/main">
            <a:off x="6572250" y="40957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00" b="0">
                <a:solidFill>
                  <a:srgbClr val="5B6B76"/>
                </a:solidFill>
                <a:latin typeface="Arial"/>
                <a:ea typeface="Arial"/>
                <a:cs typeface="Arial"/>
              </a:defRPr>
            </a:pPr>
            <a:r>
              <a:rPr sz="1100" b="0">
                <a:solidFill>
                  <a:srgbClr val="5B6B76"/>
                </a:solidFill>
                <a:latin typeface="Calibri"/>
                <a:ea typeface="Calibri"/>
                <a:cs typeface="Calibri"/>
              </a:rPr>
              <a:t>now</a:t>
            </a:r>
          </a:p>
        </p:txBody>
      </p:sp>
      <p:sp>
        <p:nvSpPr>
          <p:cNvPr id="49" name="">
            <a:extLst xmlns:a="http://schemas.openxmlformats.org/drawingml/2006/main">
              <a:ext uri="{FF2B5EF4-FFF2-40B4-BE49-F238E27FC236}">
                <a16:creationId xmlns:a16="http://schemas.microsoft.com/office/drawing/2014/main" id="{838839BA-13BB-424A-A9A4-948173C18AA9}"/>
              </a:ext>
            </a:extLst>
          </p:cNvPr>
          <p:cNvSpPr>
            <a:spLocks xmlns:a="http://schemas.openxmlformats.org/drawingml/2006/main" noGrp="1"/>
          </p:cNvSpPr>
          <p:nvPr/>
        </p:nvSpPr>
        <p:spPr>
          <a:xfrm xmlns:a="http://schemas.openxmlformats.org/drawingml/2006/main">
            <a:off x="7620000" y="1952625"/>
            <a:ext cx="3619500" cy="1143000"/>
          </a:xfrm>
          <a:prstGeom xmlns:a="http://schemas.openxmlformats.org/drawingml/2006/main" prst="roundRect">
            <a:avLst>
              <a:gd name="adj" fmla="val 6667"/>
            </a:avLst>
          </a:prstGeom>
          <a:solidFill xmlns:a="http://schemas.openxmlformats.org/drawingml/2006/main">
            <a:srgbClr val="E6F4F1"/>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50" name="">
            <a:extLst xmlns:a="http://schemas.openxmlformats.org/drawingml/2006/main">
              <a:ext uri="{FF2B5EF4-FFF2-40B4-BE49-F238E27FC236}">
                <a16:creationId xmlns:a16="http://schemas.microsoft.com/office/drawing/2014/main" id="{2AA68F15-6F4F-486B-AB7A-52D123B48D3B}"/>
              </a:ext>
            </a:extLst>
          </p:cNvPr>
          <p:cNvSpPr>
            <a:spLocks xmlns:a="http://schemas.openxmlformats.org/drawingml/2006/main" noGrp="1"/>
          </p:cNvSpPr>
          <p:nvPr/>
        </p:nvSpPr>
        <p:spPr>
          <a:xfrm xmlns:a="http://schemas.openxmlformats.org/drawingml/2006/main">
            <a:off x="7839075" y="2095500"/>
            <a:ext cx="319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200" b="1">
                <a:solidFill>
                  <a:srgbClr val="0B2A3C"/>
                </a:solidFill>
                <a:latin typeface="Arial"/>
                <a:ea typeface="Arial"/>
                <a:cs typeface="Arial"/>
              </a:defRPr>
            </a:pPr>
            <a:r>
              <a:rPr sz="1400" b="1">
                <a:solidFill>
                  <a:srgbClr val="0B2A3C"/>
                </a:solidFill>
                <a:latin typeface="Segoe UI"/>
                <a:ea typeface="Segoe UI"/>
                <a:cs typeface="Segoe UI"/>
              </a:rPr>
              <a:t>Illustrative 2-hour score</a:t>
            </a:r>
          </a:p>
        </p:txBody>
      </p:sp>
      <p:sp>
        <p:nvSpPr>
          <p:cNvPr id="51" name="">
            <a:extLst xmlns:a="http://schemas.openxmlformats.org/drawingml/2006/main">
              <a:ext uri="{FF2B5EF4-FFF2-40B4-BE49-F238E27FC236}">
                <a16:creationId xmlns:a16="http://schemas.microsoft.com/office/drawing/2014/main" id="{C3851A2F-681A-4C08-B953-AD177CD97127}"/>
              </a:ext>
            </a:extLst>
          </p:cNvPr>
          <p:cNvSpPr>
            <a:spLocks xmlns:a="http://schemas.openxmlformats.org/drawingml/2006/main" noGrp="1"/>
          </p:cNvSpPr>
          <p:nvPr/>
        </p:nvSpPr>
        <p:spPr>
          <a:xfrm xmlns:a="http://schemas.openxmlformats.org/drawingml/2006/main">
            <a:off x="7839075" y="2381250"/>
            <a:ext cx="3190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2775" b="1">
                <a:solidFill>
                  <a:srgbClr val="0B2A3C"/>
                </a:solidFill>
                <a:latin typeface="Arial"/>
                <a:ea typeface="Arial"/>
                <a:cs typeface="Arial"/>
              </a:defRPr>
            </a:pPr>
            <a:r>
              <a:rPr sz="2775" b="1">
                <a:solidFill>
                  <a:srgbClr val="0B2A3C"/>
                </a:solidFill>
                <a:latin typeface="Consolas"/>
                <a:ea typeface="Consolas"/>
                <a:cs typeface="Consolas"/>
              </a:rPr>
              <a:t>62%</a:t>
            </a:r>
          </a:p>
        </p:txBody>
      </p:sp>
      <p:sp>
        <p:nvSpPr>
          <p:cNvPr id="52" name="">
            <a:extLst xmlns:a="http://schemas.openxmlformats.org/drawingml/2006/main">
              <a:ext uri="{FF2B5EF4-FFF2-40B4-BE49-F238E27FC236}">
                <a16:creationId xmlns:a16="http://schemas.microsoft.com/office/drawing/2014/main" id="{CBF51346-CFAD-4657-B741-01705E0186CC}"/>
              </a:ext>
            </a:extLst>
          </p:cNvPr>
          <p:cNvSpPr>
            <a:spLocks xmlns:a="http://schemas.openxmlformats.org/drawingml/2006/main" noGrp="1"/>
          </p:cNvSpPr>
          <p:nvPr/>
        </p:nvSpPr>
        <p:spPr>
          <a:xfrm xmlns:a="http://schemas.openxmlformats.org/drawingml/2006/main">
            <a:off x="7620000" y="3333750"/>
            <a:ext cx="3619500" cy="1190625"/>
          </a:xfrm>
          <a:prstGeom xmlns:a="http://schemas.openxmlformats.org/drawingml/2006/main" prst="roundRect">
            <a:avLst>
              <a:gd name="adj" fmla="val 6400"/>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53" name="">
            <a:extLst xmlns:a="http://schemas.openxmlformats.org/drawingml/2006/main">
              <a:ext uri="{FF2B5EF4-FFF2-40B4-BE49-F238E27FC236}">
                <a16:creationId xmlns:a16="http://schemas.microsoft.com/office/drawing/2014/main" id="{5F5D0106-BA7C-4009-B30A-4574BB6DC12B}"/>
              </a:ext>
            </a:extLst>
          </p:cNvPr>
          <p:cNvSpPr>
            <a:spLocks xmlns:a="http://schemas.openxmlformats.org/drawingml/2006/main" noGrp="1"/>
          </p:cNvSpPr>
          <p:nvPr/>
        </p:nvSpPr>
        <p:spPr>
          <a:xfrm xmlns:a="http://schemas.openxmlformats.org/drawingml/2006/main">
            <a:off x="7620000" y="3333750"/>
            <a:ext cx="66675" cy="1190625"/>
          </a:xfrm>
          <a:prstGeom xmlns:a="http://schemas.openxmlformats.org/drawingml/2006/main" prst="rect">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54" name="">
            <a:extLst xmlns:a="http://schemas.openxmlformats.org/drawingml/2006/main">
              <a:ext uri="{FF2B5EF4-FFF2-40B4-BE49-F238E27FC236}">
                <a16:creationId xmlns:a16="http://schemas.microsoft.com/office/drawing/2014/main" id="{272ABE1A-7D3F-44D3-83AF-1DA037E9A80C}"/>
              </a:ext>
            </a:extLst>
          </p:cNvPr>
          <p:cNvSpPr>
            <a:spLocks xmlns:a="http://schemas.openxmlformats.org/drawingml/2006/main" noGrp="1"/>
          </p:cNvSpPr>
          <p:nvPr/>
        </p:nvSpPr>
        <p:spPr>
          <a:xfrm xmlns:a="http://schemas.openxmlformats.org/drawingml/2006/main">
            <a:off x="7829550" y="3476625"/>
            <a:ext cx="321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425" b="1">
                <a:solidFill>
                  <a:srgbClr val="0B2A3C"/>
                </a:solidFill>
                <a:latin typeface="Arial"/>
                <a:ea typeface="Arial"/>
                <a:cs typeface="Arial"/>
              </a:defRPr>
            </a:pPr>
            <a:r>
              <a:rPr sz="1425" b="1">
                <a:solidFill>
                  <a:srgbClr val="0B2A3C"/>
                </a:solidFill>
                <a:latin typeface="Segoe UI"/>
                <a:ea typeface="Segoe UI"/>
                <a:cs typeface="Segoe UI"/>
              </a:rPr>
              <a:t>Context available</a:t>
            </a:r>
          </a:p>
        </p:txBody>
      </p:sp>
      <p:sp>
        <p:nvSpPr>
          <p:cNvPr id="55" name="">
            <a:extLst xmlns:a="http://schemas.openxmlformats.org/drawingml/2006/main">
              <a:ext uri="{FF2B5EF4-FFF2-40B4-BE49-F238E27FC236}">
                <a16:creationId xmlns:a16="http://schemas.microsoft.com/office/drawing/2014/main" id="{CAAB879A-098D-468A-835A-06267C190D21}"/>
              </a:ext>
            </a:extLst>
          </p:cNvPr>
          <p:cNvSpPr>
            <a:spLocks xmlns:a="http://schemas.openxmlformats.org/drawingml/2006/main" noGrp="1"/>
          </p:cNvSpPr>
          <p:nvPr/>
        </p:nvSpPr>
        <p:spPr>
          <a:xfrm xmlns:a="http://schemas.openxmlformats.org/drawingml/2006/main">
            <a:off x="7829550" y="3819525"/>
            <a:ext cx="32194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t">
            <a:noAutofit/>
          </a:bodyPr>
          <a:lstStyle xmlns:a="http://schemas.openxmlformats.org/drawingml/2006/main"/>
          <a:p xmlns:a="http://schemas.openxmlformats.org/drawingml/2006/main">
            <a:pPr algn="l">
              <a:buNone/>
              <a:defRPr sz="1275" b="0">
                <a:solidFill>
                  <a:srgbClr val="0B2A3C"/>
                </a:solidFill>
                <a:latin typeface="Arial"/>
                <a:ea typeface="Arial"/>
                <a:cs typeface="Arial"/>
              </a:defRPr>
            </a:pPr>
            <a:r>
              <a:rPr sz="1400" b="0">
                <a:solidFill>
                  <a:srgbClr val="0B2A3C"/>
                </a:solidFill>
                <a:latin typeface="Calibri"/>
                <a:ea typeface="Calibri"/>
                <a:cs typeface="Calibri"/>
              </a:rPr>
              <a:t>Baseline profile • recent meal • HR/activity summaries</a:t>
            </a:r>
          </a:p>
        </p:txBody>
      </p:sp>
      <p:sp>
        <p:nvSpPr>
          <p:cNvPr id="56" name="">
            <a:extLst xmlns:a="http://schemas.openxmlformats.org/drawingml/2006/main">
              <a:ext uri="{FF2B5EF4-FFF2-40B4-BE49-F238E27FC236}">
                <a16:creationId xmlns:a16="http://schemas.microsoft.com/office/drawing/2014/main" id="{F8BF6AB7-BEE3-44DB-8D78-1C8259B8D2A6}"/>
              </a:ext>
            </a:extLst>
          </p:cNvPr>
          <p:cNvSpPr>
            <a:spLocks xmlns:a="http://schemas.openxmlformats.org/drawingml/2006/main" noGrp="1"/>
          </p:cNvSpPr>
          <p:nvPr/>
        </p:nvSpPr>
        <p:spPr>
          <a:xfrm xmlns:a="http://schemas.openxmlformats.org/drawingml/2006/main">
            <a:off x="857250" y="46672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350" b="1">
                <a:solidFill>
                  <a:srgbClr val="0B2A3C"/>
                </a:solidFill>
                <a:latin typeface="Arial"/>
                <a:ea typeface="Arial"/>
                <a:cs typeface="Arial"/>
              </a:defRPr>
            </a:pPr>
            <a:r>
              <a:rPr sz="1400" b="1">
                <a:solidFill>
                  <a:srgbClr val="0B2A3C"/>
                </a:solidFill>
                <a:latin typeface="Segoe UI"/>
                <a:ea typeface="Segoe UI"/>
                <a:cs typeface="Segoe UI"/>
              </a:rPr>
              <a:t>Review sequence</a:t>
            </a:r>
          </a:p>
        </p:txBody>
      </p:sp>
      <p:sp>
        <p:nvSpPr>
          <p:cNvPr id="57" name="">
            <a:extLst xmlns:a="http://schemas.openxmlformats.org/drawingml/2006/main">
              <a:ext uri="{FF2B5EF4-FFF2-40B4-BE49-F238E27FC236}">
                <a16:creationId xmlns:a16="http://schemas.microsoft.com/office/drawing/2014/main" id="{6F0E4C26-6462-4E9B-944F-F7C454E10384}"/>
              </a:ext>
            </a:extLst>
          </p:cNvPr>
          <p:cNvSpPr>
            <a:spLocks xmlns:a="http://schemas.openxmlformats.org/drawingml/2006/main" noGrp="1"/>
          </p:cNvSpPr>
          <p:nvPr/>
        </p:nvSpPr>
        <p:spPr>
          <a:xfrm xmlns:a="http://schemas.openxmlformats.org/drawingml/2006/main">
            <a:off x="952500" y="5067300"/>
            <a:ext cx="323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125" b="0">
                <a:solidFill>
                  <a:srgbClr val="0B2A3C"/>
                </a:solidFill>
                <a:latin typeface="Arial"/>
                <a:ea typeface="Arial"/>
                <a:cs typeface="Arial"/>
              </a:defRPr>
            </a:pPr>
            <a:r>
              <a:rPr sz="1400" b="0">
                <a:solidFill>
                  <a:srgbClr val="0B2A3C"/>
                </a:solidFill>
                <a:latin typeface="Calibri"/>
                <a:ea typeface="Calibri"/>
                <a:cs typeface="Calibri"/>
              </a:rPr>
              <a:t>1  Check data quality and sensor context</a:t>
            </a:r>
          </a:p>
        </p:txBody>
      </p:sp>
      <p:sp>
        <p:nvSpPr>
          <p:cNvPr id="58" name="">
            <a:extLst xmlns:a="http://schemas.openxmlformats.org/drawingml/2006/main">
              <a:ext uri="{FF2B5EF4-FFF2-40B4-BE49-F238E27FC236}">
                <a16:creationId xmlns:a16="http://schemas.microsoft.com/office/drawing/2014/main" id="{73F54D40-EE66-499E-9F7F-758CCE785920}"/>
              </a:ext>
            </a:extLst>
          </p:cNvPr>
          <p:cNvSpPr>
            <a:spLocks xmlns:a="http://schemas.openxmlformats.org/drawingml/2006/main" noGrp="1"/>
          </p:cNvSpPr>
          <p:nvPr/>
        </p:nvSpPr>
        <p:spPr>
          <a:xfrm xmlns:a="http://schemas.openxmlformats.org/drawingml/2006/main">
            <a:off x="4381500" y="5067300"/>
            <a:ext cx="323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125" b="0">
                <a:solidFill>
                  <a:srgbClr val="0B2A3C"/>
                </a:solidFill>
                <a:latin typeface="Arial"/>
                <a:ea typeface="Arial"/>
                <a:cs typeface="Arial"/>
              </a:defRPr>
            </a:pPr>
            <a:r>
              <a:rPr sz="1400" b="0">
                <a:solidFill>
                  <a:srgbClr val="0B2A3C"/>
                </a:solidFill>
                <a:latin typeface="Calibri"/>
                <a:ea typeface="Calibri"/>
                <a:cs typeface="Calibri"/>
              </a:rPr>
              <a:t>2  Ask about meals, activity, and symptoms</a:t>
            </a:r>
          </a:p>
        </p:txBody>
      </p:sp>
      <p:sp>
        <p:nvSpPr>
          <p:cNvPr id="59" name="">
            <a:extLst xmlns:a="http://schemas.openxmlformats.org/drawingml/2006/main">
              <a:ext uri="{FF2B5EF4-FFF2-40B4-BE49-F238E27FC236}">
                <a16:creationId xmlns:a16="http://schemas.microsoft.com/office/drawing/2014/main" id="{533118F1-55DF-4C3A-ADE5-3C289021B286}"/>
              </a:ext>
            </a:extLst>
          </p:cNvPr>
          <p:cNvSpPr>
            <a:spLocks xmlns:a="http://schemas.openxmlformats.org/drawingml/2006/main" noGrp="1"/>
          </p:cNvSpPr>
          <p:nvPr/>
        </p:nvSpPr>
        <p:spPr>
          <a:xfrm xmlns:a="http://schemas.openxmlformats.org/drawingml/2006/main">
            <a:off x="7810500" y="5067300"/>
            <a:ext cx="323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125" b="0">
                <a:solidFill>
                  <a:srgbClr val="0B2A3C"/>
                </a:solidFill>
                <a:latin typeface="Arial"/>
                <a:ea typeface="Arial"/>
                <a:cs typeface="Arial"/>
              </a:defRPr>
            </a:pPr>
            <a:r>
              <a:rPr sz="1400" b="0">
                <a:solidFill>
                  <a:srgbClr val="0B2A3C"/>
                </a:solidFill>
                <a:latin typeface="Calibri"/>
                <a:ea typeface="Calibri"/>
                <a:cs typeface="Calibri"/>
              </a:rPr>
              <a:t>3  Apply usual clinical assessment and care</a:t>
            </a:r>
          </a:p>
        </p:txBody>
      </p:sp>
      <p:sp>
        <p:nvSpPr>
          <p:cNvPr id="60" name="">
            <a:extLst xmlns:a="http://schemas.openxmlformats.org/drawingml/2006/main">
              <a:ext uri="{FF2B5EF4-FFF2-40B4-BE49-F238E27FC236}">
                <a16:creationId xmlns:a16="http://schemas.microsoft.com/office/drawing/2014/main" id="{AA62FFC9-B806-44ED-8137-27763B1B227A}"/>
              </a:ext>
            </a:extLst>
          </p:cNvPr>
          <p:cNvSpPr>
            <a:spLocks xmlns:a="http://schemas.openxmlformats.org/drawingml/2006/main" noGrp="1"/>
          </p:cNvSpPr>
          <p:nvPr/>
        </p:nvSpPr>
        <p:spPr>
          <a:xfrm xmlns:a="http://schemas.openxmlformats.org/drawingml/2006/main">
            <a:off x="857250" y="5676900"/>
            <a:ext cx="1019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050" b="1">
                <a:solidFill>
                  <a:srgbClr val="0F8B8D"/>
                </a:solidFill>
                <a:latin typeface="Arial"/>
                <a:ea typeface="Arial"/>
                <a:cs typeface="Arial"/>
              </a:defRPr>
            </a:pPr>
            <a:r>
              <a:rPr sz="1100" b="1">
                <a:solidFill>
                  <a:srgbClr val="0F8B8D"/>
                </a:solidFill>
                <a:latin typeface="Segoe UI"/>
                <a:ea typeface="Segoe UI"/>
                <a:cs typeface="Segoe UI"/>
              </a:rPr>
              <a:t>Forecast and patient values are illustrative. This is a conceptual UI, not a clinical display.</a:t>
            </a:r>
          </a:p>
        </p:txBody>
      </p:sp>
    </p:spTree>
    <p:extLst>
      <p:ext uri="{BB962C8B-B14F-4D97-AF65-F5344CB8AC3E}">
        <p14:creationId xmlns:p14="http://schemas.microsoft.com/office/powerpoint/2010/main" val="1550779779"/>
      </p:ext>
    </p:extLst>
  </p:cSld>
</p:sld>
</file>

<file path=ppt/slides/slide11.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19C333B-4329-4A76-B134-F59A2A32D6A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4F477DF3-804C-4FD0-B362-235D948E5A2A}"/>
              </a:ext>
            </a:extLst>
          </p:cNvPr>
          <p:cNvSpPr>
            <a:spLocks xmlns:a="http://schemas.openxmlformats.org/drawingml/2006/main" noGrp="1"/>
          </p:cNvSpPr>
          <p:nvPr/>
        </p:nvSpPr>
        <p:spPr>
          <a:xfrm xmlns:a="http://schemas.openxmlformats.org/drawingml/2006/main">
            <a:off x="647700" y="2857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75" b="1">
                <a:solidFill>
                  <a:srgbClr val="0F8B8D"/>
                </a:solidFill>
                <a:latin typeface="Arial"/>
                <a:ea typeface="Arial"/>
                <a:cs typeface="Arial"/>
              </a:defRPr>
            </a:pPr>
            <a:r>
              <a:rPr sz="1100" b="1">
                <a:solidFill>
                  <a:srgbClr val="0F8B8D"/>
                </a:solidFill>
                <a:latin typeface="Segoe UI"/>
                <a:ea typeface="Segoe UI"/>
                <a:cs typeface="Segoe UI"/>
              </a:rPr>
              <a:t>GLYCOTWIN  /  RESEARCH PROTOTYPE</a:t>
            </a:r>
          </a:p>
        </p:txBody>
      </p:sp>
      <p:sp>
        <p:nvSpPr>
          <p:cNvPr id="3" name="">
            <a:extLst xmlns:a="http://schemas.openxmlformats.org/drawingml/2006/main">
              <a:ext uri="{FF2B5EF4-FFF2-40B4-BE49-F238E27FC236}">
                <a16:creationId xmlns:a16="http://schemas.microsoft.com/office/drawing/2014/main" id="{FC77BAE9-644F-4B82-872B-4C7ADBF70960}"/>
              </a:ext>
            </a:extLst>
          </p:cNvPr>
          <p:cNvSpPr>
            <a:spLocks xmlns:a="http://schemas.openxmlformats.org/drawingml/2006/main" noGrp="1"/>
          </p:cNvSpPr>
          <p:nvPr/>
        </p:nvSpPr>
        <p:spPr>
          <a:xfrm xmlns:a="http://schemas.openxmlformats.org/drawingml/2006/main">
            <a:off x="647700" y="5524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2550" b="1">
                <a:solidFill>
                  <a:srgbClr val="0B2A3C"/>
                </a:solidFill>
                <a:latin typeface="Arial"/>
                <a:ea typeface="Arial"/>
                <a:cs typeface="Arial"/>
              </a:defRPr>
            </a:pPr>
            <a:r>
              <a:rPr sz="2550" b="1">
                <a:solidFill>
                  <a:srgbClr val="0B2A3C"/>
                </a:solidFill>
                <a:latin typeface="Segoe UI"/>
                <a:ea typeface="Segoe UI"/>
                <a:cs typeface="Segoe UI"/>
              </a:rPr>
              <a:t>What must happen before real-world use</a:t>
            </a:r>
          </a:p>
        </p:txBody>
      </p:sp>
      <p:sp>
        <p:nvSpPr>
          <p:cNvPr id="4" name="">
            <a:extLst xmlns:a="http://schemas.openxmlformats.org/drawingml/2006/main">
              <a:ext uri="{FF2B5EF4-FFF2-40B4-BE49-F238E27FC236}">
                <a16:creationId xmlns:a16="http://schemas.microsoft.com/office/drawing/2014/main" id="{257116AA-2F5E-4346-9C59-7E53DC9C1E9F}"/>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line">
            <a:avLst/>
          </a:prstGeom>
          <a:solidFill xmlns:a="http://schemas.openxmlformats.org/drawingml/2006/main">
            <a:srgbClr val="D5DEE2"/>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13EC800A-EA4D-410B-9001-F7410EA588F1}"/>
              </a:ext>
            </a:extLst>
          </p:cNvPr>
          <p:cNvSpPr>
            <a:spLocks xmlns:a="http://schemas.openxmlformats.org/drawingml/2006/main" noGrp="1"/>
          </p:cNvSpPr>
          <p:nvPr/>
        </p:nvSpPr>
        <p:spPr>
          <a:xfrm xmlns:a="http://schemas.openxmlformats.org/drawingml/2006/main">
            <a:off x="647700" y="64960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900" b="0">
                <a:solidFill>
                  <a:srgbClr val="5B6B76"/>
                </a:solidFill>
                <a:latin typeface="Arial"/>
                <a:ea typeface="Arial"/>
                <a:cs typeface="Arial"/>
              </a:defRPr>
            </a:pPr>
            <a:r>
              <a:rPr sz="1100" b="0">
                <a:solidFill>
                  <a:srgbClr val="5B6B76"/>
                </a:solidFill>
                <a:latin typeface="Calibri"/>
                <a:ea typeface="Calibri"/>
                <a:cs typeface="Calibri"/>
              </a:rPr>
              <a:t>CGMacros retrospective PoC  •  not for clinical use</a:t>
            </a:r>
          </a:p>
        </p:txBody>
      </p:sp>
      <p:sp>
        <p:nvSpPr>
          <p:cNvPr id="6" name="">
            <a:extLst xmlns:a="http://schemas.openxmlformats.org/drawingml/2006/main">
              <a:ext uri="{FF2B5EF4-FFF2-40B4-BE49-F238E27FC236}">
                <a16:creationId xmlns:a16="http://schemas.microsoft.com/office/drawing/2014/main" id="{3324C7DE-D285-4BF9-A074-212C52AF90B9}"/>
              </a:ext>
            </a:extLst>
          </p:cNvPr>
          <p:cNvSpPr>
            <a:spLocks xmlns:a="http://schemas.openxmlformats.org/drawingml/2006/main" noGrp="1"/>
          </p:cNvSpPr>
          <p:nvPr/>
        </p:nvSpPr>
        <p:spPr>
          <a:xfrm xmlns:a="http://schemas.openxmlformats.org/drawingml/2006/main">
            <a:off x="666750" y="1476375"/>
            <a:ext cx="5095875" cy="3714750"/>
          </a:xfrm>
          <a:prstGeom xmlns:a="http://schemas.openxmlformats.org/drawingml/2006/main" prst="roundRect">
            <a:avLst>
              <a:gd name="adj" fmla="val 2051"/>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CDDCB9CE-C857-45EC-9823-975EF3BAEE33}"/>
              </a:ext>
            </a:extLst>
          </p:cNvPr>
          <p:cNvSpPr>
            <a:spLocks xmlns:a="http://schemas.openxmlformats.org/drawingml/2006/main" noGrp="1"/>
          </p:cNvSpPr>
          <p:nvPr/>
        </p:nvSpPr>
        <p:spPr>
          <a:xfrm xmlns:a="http://schemas.openxmlformats.org/drawingml/2006/main">
            <a:off x="666750" y="1476375"/>
            <a:ext cx="66675" cy="3714750"/>
          </a:xfrm>
          <a:prstGeom xmlns:a="http://schemas.openxmlformats.org/drawingml/2006/main" prst="rect">
            <a:avLst/>
          </a:prstGeom>
          <a:solidFill xmlns:a="http://schemas.openxmlformats.org/drawingml/2006/main">
            <a:srgbClr val="F2A33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6B5D3FBA-9B01-4067-8C7D-B12C99D13400}"/>
              </a:ext>
            </a:extLst>
          </p:cNvPr>
          <p:cNvSpPr>
            <a:spLocks xmlns:a="http://schemas.openxmlformats.org/drawingml/2006/main" noGrp="1"/>
          </p:cNvSpPr>
          <p:nvPr/>
        </p:nvSpPr>
        <p:spPr>
          <a:xfrm xmlns:a="http://schemas.openxmlformats.org/drawingml/2006/main">
            <a:off x="876300" y="1619250"/>
            <a:ext cx="46958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425" b="1">
                <a:solidFill>
                  <a:srgbClr val="0B2A3C"/>
                </a:solidFill>
                <a:latin typeface="Arial"/>
                <a:ea typeface="Arial"/>
                <a:cs typeface="Arial"/>
              </a:defRPr>
            </a:pPr>
            <a:r>
              <a:rPr sz="1425" b="1">
                <a:solidFill>
                  <a:srgbClr val="0B2A3C"/>
                </a:solidFill>
                <a:latin typeface="Segoe UI"/>
                <a:ea typeface="Segoe UI"/>
                <a:cs typeface="Segoe UI"/>
              </a:rPr>
              <a:t>Current limitations</a:t>
            </a:r>
          </a:p>
        </p:txBody>
      </p:sp>
      <p:sp>
        <p:nvSpPr>
          <p:cNvPr id="9" name="">
            <a:extLst xmlns:a="http://schemas.openxmlformats.org/drawingml/2006/main">
              <a:ext uri="{FF2B5EF4-FFF2-40B4-BE49-F238E27FC236}">
                <a16:creationId xmlns:a16="http://schemas.microsoft.com/office/drawing/2014/main" id="{C9CE3064-FA26-46DD-8E53-2D4B9220B9FE}"/>
              </a:ext>
            </a:extLst>
          </p:cNvPr>
          <p:cNvSpPr>
            <a:spLocks xmlns:a="http://schemas.openxmlformats.org/drawingml/2006/main" noGrp="1"/>
          </p:cNvSpPr>
          <p:nvPr/>
        </p:nvSpPr>
        <p:spPr>
          <a:xfrm xmlns:a="http://schemas.openxmlformats.org/drawingml/2006/main">
            <a:off x="876300" y="1962150"/>
            <a:ext cx="469582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t">
            <a:noAutofit/>
          </a:bodyPr>
          <a:lstStyle xmlns:a="http://schemas.openxmlformats.org/drawingml/2006/main"/>
          <a:p xmlns:a="http://schemas.openxmlformats.org/drawingml/2006/main">
            <a:pPr algn="l">
              <a:buNone/>
              <a:defRPr sz="1275" b="0">
                <a:solidFill>
                  <a:srgbClr val="0B2A3C"/>
                </a:solidFill>
                <a:latin typeface="Arial"/>
                <a:ea typeface="Arial"/>
                <a:cs typeface="Arial"/>
              </a:defRPr>
            </a:pPr>
            <a:r>
              <a:rPr sz="1400" b="0">
                <a:solidFill>
                  <a:srgbClr val="0B2A3C"/>
                </a:solidFill>
                <a:latin typeface="Calibri"/>
                <a:ea typeface="Calibri"/>
                <a:cs typeface="Calibri"/>
              </a:rPr>
              <a:t>• 45-person US retrospective cohort</a:t>
            </a:r>
            <a:br>
              <a:rPr sz="1400" b="0">
                <a:solidFill>
                  <a:srgbClr val="0B2A3C"/>
                </a:solidFill>
                <a:latin typeface="Calibri"/>
                <a:ea typeface="Calibri"/>
                <a:cs typeface="Calibri"/>
              </a:rPr>
            </a:br>
            <a:r>
              <a:rPr sz="1400" b="0">
                <a:solidFill>
                  <a:srgbClr val="0B2A3C"/>
                </a:solidFill>
                <a:latin typeface="Calibri"/>
                <a:ea typeface="Calibri"/>
                <a:cs typeface="Calibri"/>
              </a:rPr>
              <a:t>• No Indian or external validation</a:t>
            </a:r>
            <a:br>
              <a:rPr sz="1400" b="0">
                <a:solidFill>
                  <a:srgbClr val="0B2A3C"/>
                </a:solidFill>
                <a:latin typeface="Calibri"/>
                <a:ea typeface="Calibri"/>
                <a:cs typeface="Calibri"/>
              </a:rPr>
            </a:br>
            <a:r>
              <a:rPr sz="1400" b="0">
                <a:solidFill>
                  <a:srgbClr val="0B2A3C"/>
                </a:solidFill>
                <a:latin typeface="Calibri"/>
                <a:ea typeface="Calibri"/>
                <a:cs typeface="Calibri"/>
              </a:rPr>
              <a:t>• No prospective clinical or utility study</a:t>
            </a:r>
            <a:br>
              <a:rPr sz="1400" b="0">
                <a:solidFill>
                  <a:srgbClr val="0B2A3C"/>
                </a:solidFill>
                <a:latin typeface="Calibri"/>
                <a:ea typeface="Calibri"/>
                <a:cs typeface="Calibri"/>
              </a:rPr>
            </a:br>
            <a:r>
              <a:rPr sz="1400" b="0">
                <a:solidFill>
                  <a:srgbClr val="0B2A3C"/>
                </a:solidFill>
                <a:latin typeface="Calibri"/>
                <a:ea typeface="Calibri"/>
                <a:cs typeface="Calibri"/>
              </a:rPr>
              <a:t>• No treatment-response model</a:t>
            </a:r>
            <a:br>
              <a:rPr sz="1400" b="0">
                <a:solidFill>
                  <a:srgbClr val="0B2A3C"/>
                </a:solidFill>
                <a:latin typeface="Calibri"/>
                <a:ea typeface="Calibri"/>
                <a:cs typeface="Calibri"/>
              </a:rPr>
            </a:br>
            <a:r>
              <a:rPr sz="1400" b="0">
                <a:solidFill>
                  <a:srgbClr val="0B2A3C"/>
                </a:solidFill>
                <a:latin typeface="Calibri"/>
                <a:ea typeface="Calibri"/>
                <a:cs typeface="Calibri"/>
              </a:rPr>
              <a:t>• No sleep/HRV inputs</a:t>
            </a:r>
            <a:br>
              <a:rPr sz="1400" b="0">
                <a:solidFill>
                  <a:srgbClr val="0B2A3C"/>
                </a:solidFill>
                <a:latin typeface="Calibri"/>
                <a:ea typeface="Calibri"/>
                <a:cs typeface="Calibri"/>
              </a:rPr>
            </a:br>
            <a:r>
              <a:rPr sz="1400" b="0">
                <a:solidFill>
                  <a:srgbClr val="0B2A3C"/>
                </a:solidFill>
                <a:latin typeface="Calibri"/>
                <a:ea typeface="Calibri"/>
                <a:cs typeface="Calibri"/>
              </a:rPr>
              <a:t>• Alert episode merge/cooldown rules are exploratory</a:t>
            </a:r>
            <a:br>
              <a:rPr sz="1400" b="0">
                <a:solidFill>
                  <a:srgbClr val="0B2A3C"/>
                </a:solidFill>
                <a:latin typeface="Calibri"/>
                <a:ea typeface="Calibri"/>
                <a:cs typeface="Calibri"/>
              </a:rPr>
            </a:br>
            <a:r>
              <a:rPr sz="1400" b="0">
                <a:solidFill>
                  <a:srgbClr val="0B2A3C"/>
                </a:solidFill>
                <a:latin typeface="Calibri"/>
                <a:ea typeface="Calibri"/>
                <a:cs typeface="Calibri"/>
              </a:rPr>
              <a:t>• Calibration is descriptive only</a:t>
            </a:r>
            <a:br>
              <a:rPr sz="1400" b="0">
                <a:solidFill>
                  <a:srgbClr val="0B2A3C"/>
                </a:solidFill>
                <a:latin typeface="Calibri"/>
                <a:ea typeface="Calibri"/>
                <a:cs typeface="Calibri"/>
              </a:rPr>
            </a:br>
            <a:r>
              <a:rPr sz="1400" b="0">
                <a:solidFill>
                  <a:srgbClr val="0B2A3C"/>
                </a:solidFill>
                <a:latin typeface="Calibri"/>
                <a:ea typeface="Calibri"/>
                <a:cs typeface="Calibri"/>
              </a:rPr>
              <a:t>• Personalization: fixed 72h; 43/45 early-data eligible</a:t>
            </a:r>
          </a:p>
        </p:txBody>
      </p:sp>
      <p:sp>
        <p:nvSpPr>
          <p:cNvPr id="10" name="">
            <a:extLst xmlns:a="http://schemas.openxmlformats.org/drawingml/2006/main">
              <a:ext uri="{FF2B5EF4-FFF2-40B4-BE49-F238E27FC236}">
                <a16:creationId xmlns:a16="http://schemas.microsoft.com/office/drawing/2014/main" id="{F42788B2-4EA6-48C0-8786-CEEF63D0D91D}"/>
              </a:ext>
            </a:extLst>
          </p:cNvPr>
          <p:cNvSpPr>
            <a:spLocks xmlns:a="http://schemas.openxmlformats.org/drawingml/2006/main" noGrp="1"/>
          </p:cNvSpPr>
          <p:nvPr/>
        </p:nvSpPr>
        <p:spPr>
          <a:xfrm xmlns:a="http://schemas.openxmlformats.org/drawingml/2006/main">
            <a:off x="5953125" y="1476375"/>
            <a:ext cx="5572125" cy="3714750"/>
          </a:xfrm>
          <a:prstGeom xmlns:a="http://schemas.openxmlformats.org/drawingml/2006/main" prst="roundRect">
            <a:avLst>
              <a:gd name="adj" fmla="val 2051"/>
            </a:avLst>
          </a:prstGeom>
          <a:solidFill xmlns:a="http://schemas.openxmlformats.org/drawingml/2006/main">
            <a:srgbClr val="F7FAFA"/>
          </a:solidFill>
          <a:ln xmlns:a="http://schemas.openxmlformats.org/drawingml/2006/main" w="9525">
            <a:solidFill>
              <a:srgbClr val="D5DEE2"/>
            </a:solidFill>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D293E061-C5A7-47C3-9ADC-7AB347264E38}"/>
              </a:ext>
            </a:extLst>
          </p:cNvPr>
          <p:cNvSpPr>
            <a:spLocks xmlns:a="http://schemas.openxmlformats.org/drawingml/2006/main" noGrp="1"/>
          </p:cNvSpPr>
          <p:nvPr/>
        </p:nvSpPr>
        <p:spPr>
          <a:xfrm xmlns:a="http://schemas.openxmlformats.org/drawingml/2006/main">
            <a:off x="5953125" y="1476375"/>
            <a:ext cx="66675" cy="3714750"/>
          </a:xfrm>
          <a:prstGeom xmlns:a="http://schemas.openxmlformats.org/drawingml/2006/main" prst="rect">
            <a:avLst/>
          </a:prstGeom>
          <a:solidFill xmlns:a="http://schemas.openxmlformats.org/drawingml/2006/main">
            <a:srgbClr val="0F8B8D"/>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12" name="">
            <a:extLst xmlns:a="http://schemas.openxmlformats.org/drawingml/2006/main">
              <a:ext uri="{FF2B5EF4-FFF2-40B4-BE49-F238E27FC236}">
                <a16:creationId xmlns:a16="http://schemas.microsoft.com/office/drawing/2014/main" id="{D87BA7D5-182B-4707-AD7C-0CA010397E10}"/>
              </a:ext>
            </a:extLst>
          </p:cNvPr>
          <p:cNvSpPr>
            <a:spLocks xmlns:a="http://schemas.openxmlformats.org/drawingml/2006/main" noGrp="1"/>
          </p:cNvSpPr>
          <p:nvPr/>
        </p:nvSpPr>
        <p:spPr>
          <a:xfrm xmlns:a="http://schemas.openxmlformats.org/drawingml/2006/main">
            <a:off x="6162675" y="1619250"/>
            <a:ext cx="5172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l">
              <a:buNone/>
              <a:defRPr sz="1425" b="1">
                <a:solidFill>
                  <a:srgbClr val="0B2A3C"/>
                </a:solidFill>
                <a:latin typeface="Arial"/>
                <a:ea typeface="Arial"/>
                <a:cs typeface="Arial"/>
              </a:defRPr>
            </a:pPr>
            <a:r>
              <a:rPr sz="1425" b="1">
                <a:solidFill>
                  <a:srgbClr val="0B2A3C"/>
                </a:solidFill>
                <a:latin typeface="Segoe UI"/>
                <a:ea typeface="Segoe UI"/>
                <a:cs typeface="Segoe UI"/>
              </a:rPr>
              <a:t>Responsible validation path</a:t>
            </a:r>
          </a:p>
        </p:txBody>
      </p:sp>
      <p:sp>
        <p:nvSpPr>
          <p:cNvPr id="13" name="">
            <a:extLst xmlns:a="http://schemas.openxmlformats.org/drawingml/2006/main">
              <a:ext uri="{FF2B5EF4-FFF2-40B4-BE49-F238E27FC236}">
                <a16:creationId xmlns:a16="http://schemas.microsoft.com/office/drawing/2014/main" id="{D03272C7-4227-4975-B5B3-1EFAD449474F}"/>
              </a:ext>
            </a:extLst>
          </p:cNvPr>
          <p:cNvSpPr>
            <a:spLocks xmlns:a="http://schemas.openxmlformats.org/drawingml/2006/main" noGrp="1"/>
          </p:cNvSpPr>
          <p:nvPr/>
        </p:nvSpPr>
        <p:spPr>
          <a:xfrm xmlns:a="http://schemas.openxmlformats.org/drawingml/2006/main">
            <a:off x="6162675" y="1962150"/>
            <a:ext cx="51720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t">
            <a:noAutofit/>
          </a:bodyPr>
          <a:lstStyle xmlns:a="http://schemas.openxmlformats.org/drawingml/2006/main"/>
          <a:p xmlns:a="http://schemas.openxmlformats.org/drawingml/2006/main">
            <a:pPr algn="l">
              <a:buNone/>
              <a:defRPr sz="1275" b="0">
                <a:solidFill>
                  <a:srgbClr val="0B2A3C"/>
                </a:solidFill>
                <a:latin typeface="Arial"/>
                <a:ea typeface="Arial"/>
                <a:cs typeface="Arial"/>
              </a:defRPr>
            </a:pPr>
            <a:r>
              <a:rPr sz="1400" b="0">
                <a:solidFill>
                  <a:srgbClr val="0B2A3C"/>
                </a:solidFill>
                <a:latin typeface="Calibri"/>
                <a:ea typeface="Calibri"/>
                <a:cs typeface="Calibri"/>
              </a:rPr>
              <a:t>1  Fixed 72h timeline: 43/45 qualify by early data only. Pooled/macro AP: population .374/.240; </a:t>
            </a:r>
            <a:r>
              <a:rPr sz="1400" b="0">
                <a:solidFill>
                  <a:srgbClr val="0B2A3C"/>
                </a:solidFill>
                <a:latin typeface="Calibri"/>
                <a:ea typeface="Calibri"/>
                <a:cs typeface="Calibri"/>
              </a:rPr>
              <a:t>early calibration .538/.240</a:t>
            </a:r>
            <a:r>
              <a:rPr sz="1400" b="0">
                <a:solidFill>
                  <a:srgbClr val="0B2A3C"/>
                </a:solidFill>
                <a:latin typeface="Calibri"/>
                <a:ea typeface="Calibri"/>
                <a:cs typeface="Calibri"/>
              </a:rPr>
              <a:t> (macro unchanged; 20 fit); </a:t>
            </a:r>
            <a:r>
              <a:rPr sz="1400" b="0">
                <a:solidFill>
                  <a:srgbClr val="0B2A3C"/>
                </a:solidFill>
                <a:latin typeface="Calibri"/>
                <a:ea typeface="Calibri"/>
                <a:cs typeface="Calibri"/>
              </a:rPr>
              <a:t>early-data adaptation .523/.251</a:t>
            </a:r>
            <a:r>
              <a:rPr sz="1400" b="0">
                <a:solidFill>
                  <a:srgbClr val="0B2A3C"/>
                </a:solidFill>
                <a:latin typeface="Calibri"/>
                <a:ea typeface="Calibri"/>
                <a:cs typeface="Calibri"/>
              </a:rPr>
              <a:t>; </a:t>
            </a:r>
            <a:r>
              <a:rPr sz="1400" b="0">
                <a:solidFill>
                  <a:srgbClr val="0B2A3C"/>
                </a:solidFill>
                <a:latin typeface="Calibri"/>
                <a:ea typeface="Calibri"/>
                <a:cs typeface="Calibri"/>
              </a:rPr>
              <a:t>person-only .340/.140</a:t>
            </a:r>
            <a:r>
              <a:rPr sz="1400" b="0">
                <a:solidFill>
                  <a:srgbClr val="0B2A3C"/>
                </a:solidFill>
                <a:latin typeface="Calibri"/>
                <a:ea typeface="Calibri"/>
                <a:cs typeface="Calibri"/>
              </a:rPr>
              <a:t>.</a:t>
            </a:r>
            <a:br>
              <a:rPr sz="1400" b="0">
                <a:solidFill>
                  <a:srgbClr val="0B2A3C"/>
                </a:solidFill>
                <a:latin typeface="Calibri"/>
                <a:ea typeface="Calibri"/>
                <a:cs typeface="Calibri"/>
              </a:rPr>
            </a:br>
            <a:r>
              <a:rPr sz="1400" b="0">
                <a:solidFill>
                  <a:srgbClr val="0B2A3C"/>
                </a:solidFill>
                <a:latin typeface="Calibri"/>
                <a:ea typeface="Calibri"/>
                <a:cs typeface="Calibri"/>
              </a:rPr>
              <a:t>2  Regression MAE on all 45: population 20.82, </a:t>
            </a:r>
            <a:r>
              <a:rPr sz="1400" b="0">
                <a:solidFill>
                  <a:srgbClr val="0B2A3C"/>
                </a:solidFill>
                <a:latin typeface="Calibri"/>
                <a:ea typeface="Calibri"/>
                <a:cs typeface="Calibri"/>
              </a:rPr>
              <a:t>early-data adaptation 18.10</a:t>
            </a:r>
            <a:r>
              <a:rPr sz="1400" b="0">
                <a:solidFill>
                  <a:srgbClr val="0B2A3C"/>
                </a:solidFill>
                <a:latin typeface="Calibri"/>
                <a:ea typeface="Calibri"/>
                <a:cs typeface="Calibri"/>
              </a:rPr>
              <a:t>, person-only 20.59 mg/dL.</a:t>
            </a:r>
            <a:br>
              <a:rPr sz="1400" b="0">
                <a:solidFill>
                  <a:srgbClr val="0B2A3C"/>
                </a:solidFill>
                <a:latin typeface="Calibri"/>
                <a:ea typeface="Calibri"/>
                <a:cs typeface="Calibri"/>
              </a:rPr>
            </a:br>
            <a:r>
              <a:rPr sz="1400" b="0">
                <a:solidFill>
                  <a:srgbClr val="0B2A3C"/>
                </a:solidFill>
                <a:latin typeface="Calibri"/>
                <a:ea typeface="Calibri"/>
                <a:cs typeface="Calibri"/>
              </a:rPr>
              <a:t>3  Collect representative Indian cohort and treatment-context data; validate prospectively.</a:t>
            </a:r>
            <a:br>
              <a:rPr sz="1400" b="0">
                <a:solidFill>
                  <a:srgbClr val="0B2A3C"/>
                </a:solidFill>
                <a:latin typeface="Calibri"/>
                <a:ea typeface="Calibri"/>
                <a:cs typeface="Calibri"/>
              </a:rPr>
            </a:br>
            <a:r>
              <a:rPr sz="1400" b="0">
                <a:solidFill>
                  <a:srgbClr val="0B2A3C"/>
                </a:solidFill>
                <a:latin typeface="Calibri"/>
                <a:ea typeface="Calibri"/>
                <a:cs typeface="Calibri"/>
              </a:rPr>
              <a:t>4  Clinicians define event merge, cooldown, warning/action window, and acceptable workload.</a:t>
            </a:r>
            <a:br>
              <a:rPr sz="1400" b="0">
                <a:solidFill>
                  <a:srgbClr val="0B2A3C"/>
                </a:solidFill>
                <a:latin typeface="Calibri"/>
                <a:ea typeface="Calibri"/>
                <a:cs typeface="Calibri"/>
              </a:rPr>
            </a:br>
            <a:r>
              <a:rPr sz="1400" b="0">
                <a:solidFill>
                  <a:srgbClr val="0B2A3C"/>
                </a:solidFill>
                <a:latin typeface="Calibri"/>
                <a:ea typeface="Calibri"/>
                <a:cs typeface="Calibri"/>
              </a:rPr>
              <a:t>5  Review safety, equity, drift, ethics, privacy, security, and regulation.</a:t>
            </a:r>
          </a:p>
        </p:txBody>
      </p:sp>
      <p:sp>
        <p:nvSpPr>
          <p:cNvPr id="14" name="">
            <a:extLst xmlns:a="http://schemas.openxmlformats.org/drawingml/2006/main">
              <a:ext uri="{FF2B5EF4-FFF2-40B4-BE49-F238E27FC236}">
                <a16:creationId xmlns:a16="http://schemas.microsoft.com/office/drawing/2014/main" id="{152C0304-C216-4E9F-B43B-D23CD5E1165B}"/>
              </a:ext>
            </a:extLst>
          </p:cNvPr>
          <p:cNvSpPr>
            <a:spLocks xmlns:a="http://schemas.openxmlformats.org/drawingml/2006/main" noGrp="1"/>
          </p:cNvSpPr>
          <p:nvPr/>
        </p:nvSpPr>
        <p:spPr>
          <a:xfrm xmlns:a="http://schemas.openxmlformats.org/drawingml/2006/main">
            <a:off x="666750" y="5457825"/>
            <a:ext cx="10858500" cy="581025"/>
          </a:xfrm>
          <a:prstGeom xmlns:a="http://schemas.openxmlformats.org/drawingml/2006/main" prst="roundRect">
            <a:avLst>
              <a:gd name="adj" fmla="val 13115"/>
            </a:avLst>
          </a:prstGeom>
          <a:solidFill xmlns:a="http://schemas.openxmlformats.org/drawingml/2006/main">
            <a:srgbClr val="0B2A3C"/>
          </a:solidFill>
          <a:ln xmlns:a="http://schemas.openxmlformats.org/drawingml/2006/main" w="9525">
            <a:solidFill>
              <a:srgbClr val="0B2A3C"/>
            </a:solidFill>
          </a:ln>
        </p:spPr>
        <p:txBody>
          <a:bodyPr xmlns:a="http://schemas.openxmlformats.org/drawingml/2006/main"/>
          <a:lstStyle xmlns:a="http://schemas.openxmlformats.org/drawingml/2006/main"/>
          <a:p xmlns:a="http://schemas.openxmlformats.org/drawingml/2006/main"/>
        </p:txBody>
      </p:sp>
      <p:sp>
        <p:nvSpPr>
          <p:cNvPr id="15" name="">
            <a:extLst xmlns:a="http://schemas.openxmlformats.org/drawingml/2006/main">
              <a:ext uri="{FF2B5EF4-FFF2-40B4-BE49-F238E27FC236}">
                <a16:creationId xmlns:a16="http://schemas.microsoft.com/office/drawing/2014/main" id="{C1CA6384-A16F-488E-8B60-46073A3AE724}"/>
              </a:ext>
            </a:extLst>
          </p:cNvPr>
          <p:cNvSpPr>
            <a:spLocks xmlns:a="http://schemas.openxmlformats.org/drawingml/2006/main" noGrp="1"/>
          </p:cNvSpPr>
          <p:nvPr/>
        </p:nvSpPr>
        <p:spPr>
          <a:xfrm xmlns:a="http://schemas.openxmlformats.org/drawingml/2006/main">
            <a:off x="857250" y="55626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tIns="0" bIns="0" anchor="ctr">
            <a:noAutofit/>
          </a:bodyPr>
          <a:lstStyle xmlns:a="http://schemas.openxmlformats.org/drawingml/2006/main"/>
          <a:p xmlns:a="http://schemas.openxmlformats.org/drawingml/2006/main">
            <a:pPr algn="ctr">
              <a:buNone/>
              <a:defRPr sz="1125" b="1">
                <a:solidFill>
                  <a:srgbClr val="F7FAFA"/>
                </a:solidFill>
                <a:latin typeface="Arial"/>
                <a:ea typeface="Arial"/>
                <a:cs typeface="Arial"/>
              </a:defRPr>
            </a:pPr>
            <a:r>
              <a:rPr sz="1125" b="1">
                <a:solidFill>
                  <a:srgbClr val="F7FAFA"/>
                </a:solidFill>
                <a:latin typeface="Segoe UI"/>
                <a:ea typeface="Segoe UI"/>
                <a:cs typeface="Segoe UI"/>
              </a:rPr>
              <a:t>Privacy review: assess India DPDP obligations; HIPAA applies only when covered entities/business associates and data are in scope.</a:t>
            </a:r>
          </a:p>
        </p:txBody>
      </p:sp>
    </p:spTree>
    <p:extLst>
      <p:ext uri="{BB962C8B-B14F-4D97-AF65-F5344CB8AC3E}">
        <p14:creationId xmlns:p14="http://schemas.microsoft.com/office/powerpoint/2010/main" val="437661012"/>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TextBox 1"/>
          <p:cNvSpPr txBox="1"/>
          <p:nvPr/>
        </p:nvSpPr>
        <p:spPr>
          <a:xfrm>
            <a:off x="502920" y="256032"/>
            <a:ext cx="11155680" cy="320040"/>
          </a:xfrm>
          <a:prstGeom prst="rect">
            <a:avLst/>
          </a:prstGeom>
          <a:noFill/>
        </p:spPr>
        <p:txBody>
          <a:bodyPr wrap="none">
            <a:spAutoFit/>
          </a:bodyPr>
          <a:lstStyle/>
          <a:p>
            <a:pPr>
              <a:defRPr sz="1000" b="1">
                <a:solidFill>
                  <a:srgbClr val="16745B"/>
                </a:solidFill>
              </a:defRPr>
            </a:pPr>
            <a:r>
              <a:t>GLYCOTWIN  /  RESEARCH PROTOTYPE</a:t>
            </a:r>
          </a:p>
        </p:txBody>
      </p:sp>
      <p:sp>
        <p:nvSpPr>
          <p:cNvPr id="3" name="TextBox 2"/>
          <p:cNvSpPr txBox="1"/>
          <p:nvPr/>
        </p:nvSpPr>
        <p:spPr>
          <a:xfrm>
            <a:off x="502920" y="640080"/>
            <a:ext cx="11155680" cy="548640"/>
          </a:xfrm>
          <a:prstGeom prst="rect">
            <a:avLst/>
          </a:prstGeom>
          <a:noFill/>
        </p:spPr>
        <p:txBody>
          <a:bodyPr wrap="none">
            <a:spAutoFit/>
          </a:bodyPr>
          <a:lstStyle/>
          <a:p>
            <a:pPr>
              <a:defRPr sz="2600" b="1">
                <a:solidFill>
                  <a:srgbClr val="0A3B2C"/>
                </a:solidFill>
              </a:defRPr>
            </a:pPr>
            <a:r>
              <a:t>Method and fair comparison</a:t>
            </a:r>
          </a:p>
        </p:txBody>
      </p:sp>
      <p:sp>
        <p:nvSpPr>
          <p:cNvPr id="4" name="TextBox 3"/>
          <p:cNvSpPr txBox="1"/>
          <p:nvPr/>
        </p:nvSpPr>
        <p:spPr>
          <a:xfrm>
            <a:off x="502920" y="1170432"/>
            <a:ext cx="11155680" cy="274320"/>
          </a:xfrm>
          <a:prstGeom prst="rect">
            <a:avLst/>
          </a:prstGeom>
          <a:noFill/>
        </p:spPr>
        <p:txBody>
          <a:bodyPr wrap="none">
            <a:spAutoFit/>
          </a:bodyPr>
          <a:lstStyle/>
          <a:p>
            <a:pPr>
              <a:defRPr sz="1100">
                <a:solidFill>
                  <a:srgbClr val="61776E"/>
                </a:solidFill>
              </a:defRPr>
            </a:pPr>
            <a:r>
              <a:t>The evaluation separates participant generalization, personalization, and exploratory workload decisions.</a:t>
            </a:r>
          </a:p>
        </p:txBody>
      </p:sp>
      <p:sp>
        <p:nvSpPr>
          <p:cNvPr id="5" name="TextBox 4"/>
          <p:cNvSpPr txBox="1"/>
          <p:nvPr/>
        </p:nvSpPr>
        <p:spPr>
          <a:xfrm>
            <a:off x="502920" y="1664208"/>
            <a:ext cx="3584448" cy="4572000"/>
          </a:xfrm>
          <a:prstGeom prst="rect">
            <a:avLst/>
          </a:prstGeom>
          <a:solidFill>
            <a:srgbClr val="FFFFFF"/>
          </a:solidFill>
          <a:ln>
            <a:solidFill>
              <a:srgbClr val="CBD9D0"/>
            </a:solidFill>
          </a:ln>
        </p:spPr>
        <p:txBody>
          <a:bodyPr wrap="none" lIns="164592" rIns="137160" tIns="137160">
            <a:spAutoFit/>
          </a:bodyPr>
          <a:lstStyle/>
          <a:p>
            <a:pPr>
              <a:defRPr sz="1500" b="1">
                <a:solidFill>
                  <a:srgbClr val="0A3B2C"/>
                </a:solidFill>
              </a:defRPr>
            </a:pPr>
            <a:r>
              <a:t>Repeated grouped CV</a:t>
            </a:r>
          </a:p>
          <a:p>
            <a:pPr>
              <a:spcAft>
                <a:spcPts val="800"/>
              </a:spcAft>
              <a:defRPr sz="1100">
                <a:solidFill>
                  <a:srgbClr val="19342B"/>
                </a:solidFill>
              </a:defRPr>
            </a:pPr>
            <a:r>
              <a:t>Five distinct participant assignments; outer participants remain held out.</a:t>
            </a:r>
          </a:p>
          <a:p>
            <a:pPr>
              <a:spcAft>
                <a:spcPts val="800"/>
              </a:spcAft>
              <a:defRPr sz="1100">
                <a:solidFill>
                  <a:srgbClr val="19342B"/>
                </a:solidFill>
              </a:defRPr>
            </a:pPr>
            <a:r>
              <a:t>Inner participant-grouped search; cutoffs selected from training-participant OOF scores.</a:t>
            </a:r>
          </a:p>
          <a:p>
            <a:pPr>
              <a:spcAft>
                <a:spcPts val="800"/>
              </a:spcAft>
              <a:defRPr sz="1100">
                <a:solidFill>
                  <a:srgbClr val="19342B"/>
                </a:solidFill>
              </a:defRPr>
            </a:pPr>
            <a:r>
              <a:t>Report pooled and participant-macro metrics because they answer different questions.</a:t>
            </a:r>
          </a:p>
        </p:txBody>
      </p:sp>
      <p:sp>
        <p:nvSpPr>
          <p:cNvPr id="6" name="TextBox 5"/>
          <p:cNvSpPr txBox="1"/>
          <p:nvPr/>
        </p:nvSpPr>
        <p:spPr>
          <a:xfrm>
            <a:off x="4288536" y="1664208"/>
            <a:ext cx="3584448" cy="4572000"/>
          </a:xfrm>
          <a:prstGeom prst="rect">
            <a:avLst/>
          </a:prstGeom>
          <a:solidFill>
            <a:srgbClr val="FFFFFF"/>
          </a:solidFill>
          <a:ln>
            <a:solidFill>
              <a:srgbClr val="CBD9D0"/>
            </a:solidFill>
          </a:ln>
        </p:spPr>
        <p:txBody>
          <a:bodyPr wrap="none" lIns="164592" rIns="137160" tIns="137160">
            <a:spAutoFit/>
          </a:bodyPr>
          <a:lstStyle/>
          <a:p>
            <a:pPr>
              <a:defRPr sz="1500" b="1">
                <a:solidFill>
                  <a:srgbClr val="0A3B2C"/>
                </a:solidFill>
              </a:defRPr>
            </a:pPr>
            <a:r>
              <a:t>Personalization</a:t>
            </a:r>
          </a:p>
          <a:p>
            <a:pPr>
              <a:spcAft>
                <a:spcPts val="800"/>
              </a:spcAft>
              <a:defRPr sz="1100">
                <a:solidFill>
                  <a:srgbClr val="19342B"/>
                </a:solidFill>
              </a:defRPr>
            </a:pPr>
            <a:r>
              <a:t>Fixed first 72 hours for adaptation/training; 43/45 participants qualify (≥200 early labeled intervals).</a:t>
            </a:r>
          </a:p>
          <a:p>
            <a:pPr>
              <a:spcAft>
                <a:spcPts val="800"/>
              </a:spcAft>
              <a:defRPr sz="1100">
                <a:solidFill>
                  <a:srgbClr val="19342B"/>
                </a:solidFill>
              </a:defRPr>
            </a:pPr>
            <a:r>
              <a:t>Early-data adaptation: pooled/macro PR-AUC 0.523/0.251; population-only 0.374/0.240.</a:t>
            </a:r>
          </a:p>
          <a:p>
            <a:pPr>
              <a:spcAft>
                <a:spcPts val="800"/>
              </a:spcAft>
              <a:defRPr sz="1100">
                <a:solidFill>
                  <a:srgbClr val="19342B"/>
                </a:solidFill>
              </a:defRPr>
            </a:pPr>
            <a:r>
              <a:t>Regression pooled MAE: 20.82 → 18.10 mg/dL (purged boundary, 301 crossing labels removed).</a:t>
            </a:r>
          </a:p>
        </p:txBody>
      </p:sp>
      <p:sp>
        <p:nvSpPr>
          <p:cNvPr id="7" name="TextBox 6"/>
          <p:cNvSpPr txBox="1"/>
          <p:nvPr/>
        </p:nvSpPr>
        <p:spPr>
          <a:xfrm>
            <a:off x="8074152" y="1664208"/>
            <a:ext cx="3584448" cy="4572000"/>
          </a:xfrm>
          <a:prstGeom prst="rect">
            <a:avLst/>
          </a:prstGeom>
          <a:solidFill>
            <a:srgbClr val="FFFFFF"/>
          </a:solidFill>
          <a:ln>
            <a:solidFill>
              <a:srgbClr val="CBD9D0"/>
            </a:solidFill>
          </a:ln>
        </p:spPr>
        <p:txBody>
          <a:bodyPr wrap="none" lIns="164592" rIns="137160" tIns="137160">
            <a:spAutoFit/>
          </a:bodyPr>
          <a:lstStyle/>
          <a:p>
            <a:pPr>
              <a:defRPr sz="1500" b="1">
                <a:solidFill>
                  <a:srgbClr val="0A3B2C"/>
                </a:solidFill>
              </a:defRPr>
            </a:pPr>
            <a:r>
              <a:t>Same-fold + workload</a:t>
            </a:r>
          </a:p>
          <a:p>
            <a:pPr>
              <a:spcAft>
                <a:spcPts val="800"/>
              </a:spcAft>
              <a:defRPr sz="1100">
                <a:solidFill>
                  <a:srgbClr val="19342B"/>
                </a:solidFill>
              </a:defRPr>
            </a:pPr>
            <a:r>
              <a:t>Seed-42 held-out comparison: full-fusion HGB PR-AUC 0.382; reduced five-variable EHR + sensors 0.400; persistence 0.308; trend 0.226.</a:t>
            </a:r>
          </a:p>
          <a:p>
            <a:pPr>
              <a:spcAft>
                <a:spcPts val="800"/>
              </a:spcAft>
              <a:defRPr sz="1100">
                <a:solidFill>
                  <a:srgbClr val="19342B"/>
                </a:solidFill>
              </a:defRPr>
            </a:pPr>
            <a:r>
              <a:t>Top-5% episode cutoffs: 199/391 (30m), 197/389 (60m), 122/384 (120m).</a:t>
            </a:r>
          </a:p>
          <a:p>
            <a:pPr>
              <a:spcAft>
                <a:spcPts val="800"/>
              </a:spcAft>
              <a:defRPr sz="1100">
                <a:solidFill>
                  <a:srgbClr val="19342B"/>
                </a:solidFill>
              </a:defRPr>
            </a:pPr>
            <a:r>
              <a:t>30-minute merge and 60-minute cooldown are exploratory; false alerts 0.25–1.14 per approximate participant-day.</a:t>
            </a:r>
          </a:p>
        </p:txBody>
      </p:sp>
      <p:sp>
        <p:nvSpPr>
          <p:cNvPr id="8" name="TextBox 7"/>
          <p:cNvSpPr txBox="1"/>
          <p:nvPr/>
        </p:nvSpPr>
        <p:spPr>
          <a:xfrm>
            <a:off x="502920" y="6473952"/>
            <a:ext cx="11155680" cy="228600"/>
          </a:xfrm>
          <a:prstGeom prst="rect">
            <a:avLst/>
          </a:prstGeom>
          <a:noFill/>
        </p:spPr>
        <p:txBody>
          <a:bodyPr wrap="none">
            <a:spAutoFit/>
          </a:bodyPr>
          <a:lstStyle/>
          <a:p>
            <a:pPr>
              <a:defRPr sz="900">
                <a:solidFill>
                  <a:srgbClr val="61776E"/>
                </a:solidFill>
              </a:defRPr>
            </a:pPr>
            <a:r>
              <a:t>CGMacros retrospective PoC  •  not for clinical use  •  no diagnosis, treatment, triage, or live monitoring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TextBox 1"/>
          <p:cNvSpPr txBox="1"/>
          <p:nvPr/>
        </p:nvSpPr>
        <p:spPr>
          <a:xfrm>
            <a:off x="502920" y="256032"/>
            <a:ext cx="11155680" cy="320040"/>
          </a:xfrm>
          <a:prstGeom prst="rect">
            <a:avLst/>
          </a:prstGeom>
          <a:noFill/>
        </p:spPr>
        <p:txBody>
          <a:bodyPr wrap="none">
            <a:spAutoFit/>
          </a:bodyPr>
          <a:lstStyle/>
          <a:p>
            <a:pPr>
              <a:defRPr sz="1000" b="1">
                <a:solidFill>
                  <a:srgbClr val="16745B"/>
                </a:solidFill>
              </a:defRPr>
            </a:pPr>
            <a:r>
              <a:t>GLYCOTWIN  /  RESEARCH PROTOTYPE</a:t>
            </a:r>
          </a:p>
        </p:txBody>
      </p:sp>
      <p:sp>
        <p:nvSpPr>
          <p:cNvPr id="3" name="TextBox 2"/>
          <p:cNvSpPr txBox="1"/>
          <p:nvPr/>
        </p:nvSpPr>
        <p:spPr>
          <a:xfrm>
            <a:off x="502920" y="640080"/>
            <a:ext cx="11155680" cy="548640"/>
          </a:xfrm>
          <a:prstGeom prst="rect">
            <a:avLst/>
          </a:prstGeom>
          <a:noFill/>
        </p:spPr>
        <p:txBody>
          <a:bodyPr wrap="none">
            <a:spAutoFit/>
          </a:bodyPr>
          <a:lstStyle/>
          <a:p>
            <a:pPr>
              <a:defRPr sz="2600" b="1">
                <a:solidFill>
                  <a:srgbClr val="0A3B2C"/>
                </a:solidFill>
              </a:defRPr>
            </a:pPr>
            <a:r>
              <a:t>Limitations and path to deployment</a:t>
            </a:r>
          </a:p>
        </p:txBody>
      </p:sp>
      <p:sp>
        <p:nvSpPr>
          <p:cNvPr id="4" name="TextBox 3"/>
          <p:cNvSpPr txBox="1"/>
          <p:nvPr/>
        </p:nvSpPr>
        <p:spPr>
          <a:xfrm>
            <a:off x="502920" y="1170432"/>
            <a:ext cx="11155680" cy="274320"/>
          </a:xfrm>
          <a:prstGeom prst="rect">
            <a:avLst/>
          </a:prstGeom>
          <a:noFill/>
        </p:spPr>
        <p:txBody>
          <a:bodyPr wrap="none">
            <a:spAutoFit/>
          </a:bodyPr>
          <a:lstStyle/>
          <a:p>
            <a:pPr>
              <a:defRPr sz="1100">
                <a:solidFill>
                  <a:srgbClr val="61776E"/>
                </a:solidFill>
              </a:defRPr>
            </a:pPr>
            <a:r>
              <a:t>A research workflow can inform the next study only after local validation, governance, and clinician-defined action.</a:t>
            </a:r>
          </a:p>
        </p:txBody>
      </p:sp>
      <p:sp>
        <p:nvSpPr>
          <p:cNvPr id="5" name="TextBox 4"/>
          <p:cNvSpPr txBox="1"/>
          <p:nvPr/>
        </p:nvSpPr>
        <p:spPr>
          <a:xfrm>
            <a:off x="502920" y="1664208"/>
            <a:ext cx="3584448" cy="4572000"/>
          </a:xfrm>
          <a:prstGeom prst="rect">
            <a:avLst/>
          </a:prstGeom>
          <a:solidFill>
            <a:srgbClr val="FFFFFF"/>
          </a:solidFill>
          <a:ln>
            <a:solidFill>
              <a:srgbClr val="CBD9D0"/>
            </a:solidFill>
          </a:ln>
        </p:spPr>
        <p:txBody>
          <a:bodyPr wrap="none" lIns="164592" rIns="137160" tIns="137160">
            <a:spAutoFit/>
          </a:bodyPr>
          <a:lstStyle/>
          <a:p>
            <a:pPr>
              <a:defRPr sz="1500" b="1">
                <a:solidFill>
                  <a:srgbClr val="0A3B2C"/>
                </a:solidFill>
              </a:defRPr>
            </a:pPr>
            <a:r>
              <a:t>Current limits</a:t>
            </a:r>
          </a:p>
          <a:p>
            <a:pPr>
              <a:spcAft>
                <a:spcPts val="800"/>
              </a:spcAft>
              <a:defRPr sz="1100">
                <a:solidFill>
                  <a:srgbClr val="19342B"/>
                </a:solidFill>
              </a:defRPr>
            </a:pPr>
            <a:r>
              <a:t>45-participant US cohort; no Indian cohort, external validation, prospective study, fairness assessment, or clinical utility evaluation.</a:t>
            </a:r>
          </a:p>
          <a:p>
            <a:pPr>
              <a:spcAft>
                <a:spcPts val="800"/>
              </a:spcAft>
              <a:defRPr sz="1100">
                <a:solidFill>
                  <a:srgbClr val="19342B"/>
                </a:solidFill>
              </a:defRPr>
            </a:pPr>
            <a:r>
              <a:t>Not a physiological simulator; medication timing/dose, treatment response, sleep, and HRV are not modeled.</a:t>
            </a:r>
          </a:p>
          <a:p>
            <a:pPr>
              <a:spcAft>
                <a:spcPts val="800"/>
              </a:spcAft>
              <a:defRPr sz="1100">
                <a:solidFill>
                  <a:srgbClr val="19342B"/>
                </a:solidFill>
              </a:defRPr>
            </a:pPr>
            <a:r>
              <a:t>Episode merge, cooldown, thresholds, and dashboard scores are retrospective research choices.</a:t>
            </a:r>
          </a:p>
        </p:txBody>
      </p:sp>
      <p:sp>
        <p:nvSpPr>
          <p:cNvPr id="6" name="TextBox 5"/>
          <p:cNvSpPr txBox="1"/>
          <p:nvPr/>
        </p:nvSpPr>
        <p:spPr>
          <a:xfrm>
            <a:off x="4288536" y="1664208"/>
            <a:ext cx="3584448" cy="4572000"/>
          </a:xfrm>
          <a:prstGeom prst="rect">
            <a:avLst/>
          </a:prstGeom>
          <a:solidFill>
            <a:srgbClr val="FFFFFF"/>
          </a:solidFill>
          <a:ln>
            <a:solidFill>
              <a:srgbClr val="CBD9D0"/>
            </a:solidFill>
          </a:ln>
        </p:spPr>
        <p:txBody>
          <a:bodyPr wrap="none" lIns="164592" rIns="137160" tIns="137160">
            <a:spAutoFit/>
          </a:bodyPr>
          <a:lstStyle/>
          <a:p>
            <a:pPr>
              <a:defRPr sz="1500" b="1">
                <a:solidFill>
                  <a:srgbClr val="0A3B2C"/>
                </a:solidFill>
              </a:defRPr>
            </a:pPr>
            <a:r>
              <a:t>Privacy and governance</a:t>
            </a:r>
          </a:p>
          <a:p>
            <a:pPr>
              <a:spcAft>
                <a:spcPts val="800"/>
              </a:spcAft>
              <a:defRPr sz="1100">
                <a:solidFill>
                  <a:srgbClr val="19342B"/>
                </a:solidFill>
              </a:defRPr>
            </a:pPr>
            <a:r>
              <a:t>Assess India Digital Personal Data Protection Act (DPDP) obligations for any local data work.</a:t>
            </a:r>
          </a:p>
          <a:p>
            <a:pPr>
              <a:spcAft>
                <a:spcPts val="800"/>
              </a:spcAft>
              <a:defRPr sz="1100">
                <a:solidFill>
                  <a:srgbClr val="19342B"/>
                </a:solidFill>
              </a:defRPr>
            </a:pPr>
            <a:r>
              <a:t>HIPAA applies only when responsible entities and data fall within its scope; obtain qualified review.</a:t>
            </a:r>
          </a:p>
          <a:p>
            <a:pPr>
              <a:spcAft>
                <a:spcPts val="800"/>
              </a:spcAft>
              <a:defRPr sz="1100">
                <a:solidFill>
                  <a:srgbClr val="19342B"/>
                </a:solidFill>
              </a:defRPr>
            </a:pPr>
            <a:r>
              <a:t>Use consented, governed, de-identified data; do not ship raw records or participant-level derived outputs.</a:t>
            </a:r>
          </a:p>
        </p:txBody>
      </p:sp>
      <p:sp>
        <p:nvSpPr>
          <p:cNvPr id="7" name="TextBox 6"/>
          <p:cNvSpPr txBox="1"/>
          <p:nvPr/>
        </p:nvSpPr>
        <p:spPr>
          <a:xfrm>
            <a:off x="8074152" y="1664208"/>
            <a:ext cx="3584448" cy="4572000"/>
          </a:xfrm>
          <a:prstGeom prst="rect">
            <a:avLst/>
          </a:prstGeom>
          <a:solidFill>
            <a:srgbClr val="FFFFFF"/>
          </a:solidFill>
          <a:ln>
            <a:solidFill>
              <a:srgbClr val="CBD9D0"/>
            </a:solidFill>
          </a:ln>
        </p:spPr>
        <p:txBody>
          <a:bodyPr wrap="none" lIns="164592" rIns="137160" tIns="137160">
            <a:spAutoFit/>
          </a:bodyPr>
          <a:lstStyle/>
          <a:p>
            <a:pPr>
              <a:defRPr sz="1500" b="1">
                <a:solidFill>
                  <a:srgbClr val="0A3B2C"/>
                </a:solidFill>
              </a:defRPr>
            </a:pPr>
            <a:r>
              <a:t>Deployment path</a:t>
            </a:r>
          </a:p>
          <a:p>
            <a:pPr>
              <a:spcAft>
                <a:spcPts val="800"/>
              </a:spcAft>
              <a:defRPr sz="1100">
                <a:solidFill>
                  <a:srgbClr val="19342B"/>
                </a:solidFill>
              </a:defRPr>
            </a:pPr>
            <a:r>
              <a:t>Representative Indian data → local calibration/retraining → prospective multi-site validation.</a:t>
            </a:r>
          </a:p>
          <a:p>
            <a:pPr>
              <a:spcAft>
                <a:spcPts val="800"/>
              </a:spcAft>
              <a:defRPr sz="1100">
                <a:solidFill>
                  <a:srgbClr val="19342B"/>
                </a:solidFill>
              </a:defRPr>
            </a:pPr>
            <a:r>
              <a:t>Define clinician action, escalation, monitoring, audit, and workload targets before any alert workflow.</a:t>
            </a:r>
          </a:p>
          <a:p>
            <a:pPr>
              <a:spcAft>
                <a:spcPts val="800"/>
              </a:spcAft>
              <a:defRPr sz="1100">
                <a:solidFill>
                  <a:srgbClr val="19342B"/>
                </a:solidFill>
              </a:defRPr>
            </a:pPr>
            <a:r>
              <a:t>Only then evaluate secure integration with approved devices and records; this prototype must not connect to care workflows.</a:t>
            </a:r>
          </a:p>
        </p:txBody>
      </p:sp>
      <p:sp>
        <p:nvSpPr>
          <p:cNvPr id="8" name="TextBox 7"/>
          <p:cNvSpPr txBox="1"/>
          <p:nvPr/>
        </p:nvSpPr>
        <p:spPr>
          <a:xfrm>
            <a:off x="502920" y="6473952"/>
            <a:ext cx="11155680" cy="228600"/>
          </a:xfrm>
          <a:prstGeom prst="rect">
            <a:avLst/>
          </a:prstGeom>
          <a:noFill/>
        </p:spPr>
        <p:txBody>
          <a:bodyPr wrap="none">
            <a:spAutoFit/>
          </a:bodyPr>
          <a:lstStyle/>
          <a:p>
            <a:pPr>
              <a:defRPr sz="900">
                <a:solidFill>
                  <a:srgbClr val="61776E"/>
                </a:solidFill>
              </a:defRPr>
            </a:pPr>
            <a:r>
              <a:t>CGMacros retrospective PoC  •  not for clinical use  •  no diagnosis, treatment, triage, or live monitoring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TextBox 1"/>
          <p:cNvSpPr txBox="1"/>
          <p:nvPr/>
        </p:nvSpPr>
        <p:spPr>
          <a:xfrm>
            <a:off x="502920" y="256032"/>
            <a:ext cx="11155680" cy="320040"/>
          </a:xfrm>
          <a:prstGeom prst="rect">
            <a:avLst/>
          </a:prstGeom>
          <a:noFill/>
        </p:spPr>
        <p:txBody>
          <a:bodyPr wrap="none">
            <a:spAutoFit/>
          </a:bodyPr>
          <a:lstStyle/>
          <a:p>
            <a:pPr>
              <a:defRPr sz="1000" b="1">
                <a:solidFill>
                  <a:srgbClr val="16745B"/>
                </a:solidFill>
              </a:defRPr>
            </a:pPr>
            <a:r>
              <a:t>GLYCOTWIN  /  RESEARCH PROTOTYPE</a:t>
            </a:r>
          </a:p>
        </p:txBody>
      </p:sp>
      <p:sp>
        <p:nvSpPr>
          <p:cNvPr id="3" name="TextBox 2"/>
          <p:cNvSpPr txBox="1"/>
          <p:nvPr/>
        </p:nvSpPr>
        <p:spPr>
          <a:xfrm>
            <a:off x="502920" y="640080"/>
            <a:ext cx="11155680" cy="548640"/>
          </a:xfrm>
          <a:prstGeom prst="rect">
            <a:avLst/>
          </a:prstGeom>
          <a:noFill/>
        </p:spPr>
        <p:txBody>
          <a:bodyPr wrap="none">
            <a:spAutoFit/>
          </a:bodyPr>
          <a:lstStyle/>
          <a:p>
            <a:pPr>
              <a:defRPr sz="2600" b="1">
                <a:solidFill>
                  <a:srgbClr val="0A3B2C"/>
                </a:solidFill>
              </a:defRPr>
            </a:pPr>
            <a:r>
              <a:t>Conclusion and submission details</a:t>
            </a:r>
          </a:p>
        </p:txBody>
      </p:sp>
      <p:sp>
        <p:nvSpPr>
          <p:cNvPr id="4" name="TextBox 3"/>
          <p:cNvSpPr txBox="1"/>
          <p:nvPr/>
        </p:nvSpPr>
        <p:spPr>
          <a:xfrm>
            <a:off x="502920" y="1170432"/>
            <a:ext cx="11155680" cy="274320"/>
          </a:xfrm>
          <a:prstGeom prst="rect">
            <a:avLst/>
          </a:prstGeom>
          <a:noFill/>
        </p:spPr>
        <p:txBody>
          <a:bodyPr wrap="none">
            <a:spAutoFit/>
          </a:bodyPr>
          <a:lstStyle/>
          <a:p>
            <a:pPr>
              <a:defRPr sz="1100">
                <a:solidFill>
                  <a:srgbClr val="61776E"/>
                </a:solidFill>
              </a:defRPr>
            </a:pPr>
            <a:r>
              <a:t>GlycoTwin demonstrates a reproducible multimodal forecasting workflow; the evidence supports further research, not clinical use.</a:t>
            </a:r>
          </a:p>
        </p:txBody>
      </p:sp>
      <p:sp>
        <p:nvSpPr>
          <p:cNvPr id="5" name="TextBox 4"/>
          <p:cNvSpPr txBox="1"/>
          <p:nvPr/>
        </p:nvSpPr>
        <p:spPr>
          <a:xfrm>
            <a:off x="502920" y="1664208"/>
            <a:ext cx="3584448" cy="4572000"/>
          </a:xfrm>
          <a:prstGeom prst="rect">
            <a:avLst/>
          </a:prstGeom>
          <a:solidFill>
            <a:srgbClr val="FFFFFF"/>
          </a:solidFill>
          <a:ln>
            <a:solidFill>
              <a:srgbClr val="CBD9D0"/>
            </a:solidFill>
          </a:ln>
        </p:spPr>
        <p:txBody>
          <a:bodyPr wrap="none" lIns="164592" rIns="137160" tIns="137160">
            <a:spAutoFit/>
          </a:bodyPr>
          <a:lstStyle/>
          <a:p>
            <a:pPr>
              <a:defRPr sz="1500" b="1">
                <a:solidFill>
                  <a:srgbClr val="0A3B2C"/>
                </a:solidFill>
              </a:defRPr>
            </a:pPr>
            <a:r>
              <a:t>What the prototype shows</a:t>
            </a:r>
          </a:p>
          <a:p>
            <a:pPr>
              <a:spcAft>
                <a:spcPts val="800"/>
              </a:spcAft>
              <a:defRPr sz="1100">
                <a:solidFill>
                  <a:srgbClr val="19342B"/>
                </a:solidFill>
              </a:defRPr>
            </a:pPr>
            <a:r>
              <a:t>Static baseline context plus CGM, heart rate, activity, meals, and time-of-day can be fused at forecast timestamps.</a:t>
            </a:r>
          </a:p>
          <a:p>
            <a:pPr>
              <a:spcAft>
                <a:spcPts val="800"/>
              </a:spcAft>
              <a:defRPr sz="1100">
                <a:solidFill>
                  <a:srgbClr val="19342B"/>
                </a:solidFill>
              </a:defRPr>
            </a:pPr>
            <a:r>
              <a:t>Grouped evaluation, same-fold baselines, chronological personalization, calibration, and episode workload expose trade-offs.</a:t>
            </a:r>
          </a:p>
          <a:p>
            <a:pPr>
              <a:spcAft>
                <a:spcPts val="800"/>
              </a:spcAft>
              <a:defRPr sz="1100">
                <a:solidFill>
                  <a:srgbClr val="19342B"/>
                </a:solidFill>
              </a:defRPr>
            </a:pPr>
            <a:r>
              <a:t>The architecture matches the pipeline: align → fuse 41 dynamic + 12 baseline features (53 total) → HGB → forecast → dashboard/evaluation.</a:t>
            </a:r>
          </a:p>
        </p:txBody>
      </p:sp>
      <p:sp>
        <p:nvSpPr>
          <p:cNvPr id="6" name="TextBox 5"/>
          <p:cNvSpPr txBox="1"/>
          <p:nvPr/>
        </p:nvSpPr>
        <p:spPr>
          <a:xfrm>
            <a:off x="4288536" y="1664208"/>
            <a:ext cx="3584448" cy="4572000"/>
          </a:xfrm>
          <a:prstGeom prst="rect">
            <a:avLst/>
          </a:prstGeom>
          <a:solidFill>
            <a:srgbClr val="FFFFFF"/>
          </a:solidFill>
          <a:ln>
            <a:solidFill>
              <a:srgbClr val="CBD9D0"/>
            </a:solidFill>
          </a:ln>
        </p:spPr>
        <p:txBody>
          <a:bodyPr wrap="none" lIns="164592" rIns="137160" tIns="137160">
            <a:spAutoFit/>
          </a:bodyPr>
          <a:lstStyle/>
          <a:p>
            <a:pPr>
              <a:defRPr sz="1500" b="1">
                <a:solidFill>
                  <a:srgbClr val="0A3B2C"/>
                </a:solidFill>
              </a:defRPr>
            </a:pPr>
            <a:r>
              <a:t>Team</a:t>
            </a:r>
          </a:p>
          <a:p>
            <a:pPr>
              <a:spcAft>
                <a:spcPts val="800"/>
              </a:spcAft>
              <a:defRPr sz="1100">
                <a:solidFill>
                  <a:srgbClr val="19342B"/>
                </a:solidFill>
              </a:defRPr>
            </a:pPr>
            <a:r>
              <a:t>Team name: Sage</a:t>
            </a:r>
          </a:p>
          <a:p>
            <a:pPr>
              <a:spcAft>
                <a:spcPts val="800"/>
              </a:spcAft>
              <a:defRPr sz="1100">
                <a:solidFill>
                  <a:srgbClr val="19342B"/>
                </a:solidFill>
              </a:defRPr>
            </a:pPr>
            <a:r>
              <a:t>Team lead and member: Manda Rohit Vardhan — Project Lead and Developer</a:t>
            </a:r>
          </a:p>
          <a:p>
            <a:pPr>
              <a:spcAft>
                <a:spcPts val="800"/>
              </a:spcAft>
              <a:defRPr sz="1100">
                <a:solidFill>
                  <a:srgbClr val="19342B"/>
                </a:solidFill>
              </a:defRPr>
            </a:pPr>
            <a:r>
              <a:t>College: Amrita Vishwa Vidyapeetham, Hyderabad</a:t>
            </a:r>
          </a:p>
          <a:p>
            <a:pPr>
              <a:spcAft>
                <a:spcPts val="800"/>
              </a:spcAft>
              <a:defRPr sz="1100">
                <a:solidFill>
                  <a:srgbClr val="19342B"/>
                </a:solidFill>
              </a:defRPr>
            </a:pPr>
            <a:r>
              <a:t>Incubator: None</a:t>
            </a:r>
          </a:p>
        </p:txBody>
      </p:sp>
      <p:sp>
        <p:nvSpPr>
          <p:cNvPr id="7" name="TextBox 6"/>
          <p:cNvSpPr txBox="1"/>
          <p:nvPr/>
        </p:nvSpPr>
        <p:spPr>
          <a:xfrm>
            <a:off x="8074152" y="1664208"/>
            <a:ext cx="3584448" cy="4572000"/>
          </a:xfrm>
          <a:prstGeom prst="rect">
            <a:avLst/>
          </a:prstGeom>
          <a:solidFill>
            <a:srgbClr val="FFFFFF"/>
          </a:solidFill>
          <a:ln>
            <a:solidFill>
              <a:srgbClr val="CBD9D0"/>
            </a:solidFill>
          </a:ln>
        </p:spPr>
        <p:txBody>
          <a:bodyPr wrap="none" lIns="164592" rIns="137160" tIns="137160">
            <a:spAutoFit/>
          </a:bodyPr>
          <a:lstStyle/>
          <a:p>
            <a:pPr>
              <a:defRPr sz="1500" b="1">
                <a:solidFill>
                  <a:srgbClr val="0A3B2C"/>
                </a:solidFill>
              </a:defRPr>
            </a:pPr>
            <a:r>
              <a:t>Submission</a:t>
            </a:r>
          </a:p>
          <a:p>
            <a:pPr>
              <a:spcAft>
                <a:spcPts val="800"/>
              </a:spcAft>
              <a:defRPr sz="1100">
                <a:solidFill>
                  <a:srgbClr val="19342B"/>
                </a:solidFill>
              </a:defRPr>
            </a:pPr>
            <a:r>
              <a:t>Demo video: unlisted YouTube link to be added (15–20 minutes)</a:t>
            </a:r>
          </a:p>
          <a:p>
            <a:pPr>
              <a:spcAft>
                <a:spcPts val="800"/>
              </a:spcAft>
              <a:defRPr sz="1100">
                <a:solidFill>
                  <a:srgbClr val="19342B"/>
                </a:solidFill>
              </a:defRPr>
            </a:pPr>
            <a:r>
              <a:t>Repository: github.com/Rohit006-sage/sage-glycotwin-cgmacros</a:t>
            </a:r>
          </a:p>
          <a:p>
            <a:pPr>
              <a:spcAft>
                <a:spcPts val="800"/>
              </a:spcAft>
              <a:defRPr sz="1100">
                <a:solidFill>
                  <a:srgbClr val="19342B"/>
                </a:solidFill>
              </a:defRPr>
            </a:pPr>
            <a:r>
              <a:t>Dataset citation: CGMacros v1.0.0, PhysioNet, DOI 10.13026/3z8q-x658.</a:t>
            </a:r>
          </a:p>
          <a:p>
            <a:pPr>
              <a:spcAft>
                <a:spcPts val="800"/>
              </a:spcAft>
              <a:defRPr sz="1100">
                <a:solidFill>
                  <a:srgbClr val="19342B"/>
                </a:solidFill>
              </a:defRPr>
            </a:pPr>
            <a:r>
              <a:t>Retain the research-only notice and dataset/privacy review before sharing.</a:t>
            </a:r>
          </a:p>
        </p:txBody>
      </p:sp>
      <p:sp>
        <p:nvSpPr>
          <p:cNvPr id="8" name="TextBox 7"/>
          <p:cNvSpPr txBox="1"/>
          <p:nvPr/>
        </p:nvSpPr>
        <p:spPr>
          <a:xfrm>
            <a:off x="502920" y="6473952"/>
            <a:ext cx="11155680" cy="228600"/>
          </a:xfrm>
          <a:prstGeom prst="rect">
            <a:avLst/>
          </a:prstGeom>
          <a:noFill/>
        </p:spPr>
        <p:txBody>
          <a:bodyPr wrap="none">
            <a:spAutoFit/>
          </a:bodyPr>
          <a:lstStyle/>
          <a:p>
            <a:pPr>
              <a:defRPr sz="900">
                <a:solidFill>
                  <a:srgbClr val="61776E"/>
                </a:solidFill>
              </a:defRPr>
            </a:pPr>
            <a:r>
              <a:t>CGMacros retrospective PoC  •  not for clinical use  •  no diagnosis, treatment, triage, or live monitoring</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2026-10-15T06:59:56.1280000Z</dcterms:created>
  <dcterms:modified xsi:type="dcterms:W3CDTF">2026-10-15T06:59:56.1290000Z</dcterms:modified>
</coreProperties>
</file>